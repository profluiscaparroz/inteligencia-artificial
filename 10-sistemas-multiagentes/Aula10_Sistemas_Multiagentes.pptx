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5.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9c61a93c-7923-5ca0-2718-50d3c8cf9941}">
          <p14:sldIdLst>
            <p14:sldId id="256"/>
            <p14:sldId id="257"/>
            <p14:sldId id="258"/>
            <p14:sldId id="259"/>
          </p14:sldIdLst>
        </p14:section>
        <p14:section name="1 · O que são SMA" id="{485de5b6-f05c-4b2a-be6f-27c127c3e124}">
          <p14:sldIdLst>
            <p14:sldId id="260"/>
            <p14:sldId id="261"/>
            <p14:sldId id="262"/>
            <p14:sldId id="263"/>
            <p14:sldId id="264"/>
            <p14:sldId id="265"/>
            <p14:sldId id="266"/>
          </p14:sldIdLst>
        </p14:section>
        <p14:section name="2 · Arquiteturas" id="{f3ffedce-8eec-235f-1558-bae8c5370cce}">
          <p14:sldIdLst>
            <p14:sldId id="267"/>
            <p14:sldId id="268"/>
            <p14:sldId id="269"/>
            <p14:sldId id="270"/>
            <p14:sldId id="271"/>
            <p14:sldId id="272"/>
          </p14:sldIdLst>
        </p14:section>
        <p14:section name="3 · Comunicação" id="{110fabc9-1481-c07e-d83c-e9d9f571015e}">
          <p14:sldIdLst>
            <p14:sldId id="273"/>
            <p14:sldId id="274"/>
            <p14:sldId id="275"/>
            <p14:sldId id="276"/>
            <p14:sldId id="277"/>
          </p14:sldIdLst>
        </p14:section>
        <p14:section name="4 · Mercados" id="{b0e642b1-1890-0e91-4879-dfa62038a336}">
          <p14:sldIdLst>
            <p14:sldId id="278"/>
            <p14:sldId id="279"/>
            <p14:sldId id="280"/>
            <p14:sldId id="281"/>
            <p14:sldId id="282"/>
            <p14:sldId id="283"/>
            <p14:sldId id="284"/>
          </p14:sldIdLst>
        </p14:section>
        <p14:section name="5 · Cooperação e emergência" id="{ea61879f-2f0e-5a13-6e74-88236d03cd72}">
          <p14:sldIdLst>
            <p14:sldId id="285"/>
            <p14:sldId id="286"/>
            <p14:sldId id="287"/>
            <p14:sldId id="288"/>
            <p14:sldId id="289"/>
            <p14:sldId id="290"/>
            <p14:sldId id="291"/>
            <p14:sldId id="292"/>
            <p14:sldId id="293"/>
          </p14:sldIdLst>
        </p14:section>
        <p14:section name="6 · Decisão coletiva" id="{ff787a3a-205d-8995-9678-abdf0ef2d8af}">
          <p14:sldIdLst>
            <p14:sldId id="294"/>
            <p14:sldId id="295"/>
            <p14:sldId id="296"/>
          </p14:sldIdLst>
        </p14:section>
        <p14:section name="7 · SMA com LLMs" id="{55fd7b8a-9b10-cb52-8592-1ff81e61007d}">
          <p14:sldIdLst>
            <p14:sldId id="297"/>
            <p14:sldId id="298"/>
            <p14:sldId id="299"/>
            <p14:sldId id="300"/>
            <p14:sldId id="301"/>
          </p14:sldIdLst>
        </p14:section>
        <p14:section name="8 · Aplicações e ferramentas" id="{558b5cca-33e5-a8c0-4f3d-9b27edcfc79e}">
          <p14:sldIdLst>
            <p14:sldId id="302"/>
            <p14:sldId id="303"/>
            <p14:sldId id="304"/>
          </p14:sldIdLst>
        </p14:section>
        <p14:section name="Encerramento" id="{8460e523-da1b-87d3-9432-f2d6361f57c4}">
          <p14:sldIdLst>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Pensar é de graça (custo = 0): % de entregas</a:t>
            </a:r>
          </a:p>
        </c:rich>
      </c:tx>
      <c:layout/>
      <c:overlay val="0"/>
    </c:title>
    <c:autoTitleDeleted val="0"/>
    <c:plotArea>
      <c:layout/>
      <c:lineChart>
        <c:varyColors val="0"/>
        <c:ser>
          <c:idx val="0"/>
          <c:order val="0"/>
          <c:tx>
            <c:strRef>
              <c:f>Sheet1!$B$1</c:f>
              <c:strCache>
                <c:ptCount val="1"/>
                <c:pt idx="0">
                  <c:v>Ousado (nunca reconsidera)</c:v>
                </c:pt>
              </c:strCache>
            </c:strRef>
          </c:tx>
          <c:spPr>
            <a:solidFill>
              <a:schemeClr val="accent1"/>
            </a:solidFill>
            <a:ln w="38100" cap="flat">
              <a:solidFill>
                <a:schemeClr val="accent1"/>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1"/>
              </a:solidFill>
              <a:ln w="9525" cap="flat">
                <a:solidFill>
                  <a:schemeClr val="accent1"/>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Sheet1!$B$2:$B$6</c:f>
              <c:numCache>
                <c:formatCode>General</c:formatCode>
                <c:ptCount val="5"/>
                <c:pt idx="0">
                  <c:v>80</c:v>
                </c:pt>
                <c:pt idx="1">
                  <c:v>59</c:v>
                </c:pt>
                <c:pt idx="2">
                  <c:v>35</c:v>
                </c:pt>
                <c:pt idx="3">
                  <c:v>16</c:v>
                </c:pt>
                <c:pt idx="4">
                  <c:v>6</c:v>
                </c:pt>
              </c:numCache>
            </c:numRef>
          </c:val>
          <c:smooth val="0"/>
        </c:ser>
        <c:ser>
          <c:idx val="1"/>
          <c:order val="1"/>
          <c:tx>
            <c:strRef>
              <c:f>Sheet1!$C$1</c:f>
              <c:strCache>
                <c:ptCount val="1"/>
                <c:pt idx="0">
                  <c:v>Cauteloso (a cada passo)</c:v>
                </c:pt>
              </c:strCache>
            </c:strRef>
          </c:tx>
          <c:spPr>
            <a:solidFill>
              <a:schemeClr val="accent4"/>
            </a:solidFill>
            <a:ln w="38100" cap="flat">
              <a:solidFill>
                <a:schemeClr val="accent4"/>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4"/>
              </a:solidFill>
              <a:ln w="9525" cap="flat">
                <a:solidFill>
                  <a:schemeClr val="accent4"/>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Sheet1!$C$2:$C$6</c:f>
              <c:numCache>
                <c:formatCode>General</c:formatCode>
                <c:ptCount val="5"/>
                <c:pt idx="0">
                  <c:v>82</c:v>
                </c:pt>
                <c:pt idx="1">
                  <c:v>66</c:v>
                </c:pt>
                <c:pt idx="2">
                  <c:v>44</c:v>
                </c:pt>
                <c:pt idx="3">
                  <c:v>24</c:v>
                </c:pt>
                <c:pt idx="4">
                  <c:v>12</c:v>
                </c:pt>
              </c:numCache>
            </c:numRef>
          </c:val>
          <c:smooth val="0"/>
        </c:ser>
        <c:ser>
          <c:idx val="2"/>
          <c:order val="2"/>
          <c:tx>
            <c:strRef>
              <c:f>Sheet1!$D$1</c:f>
              <c:strCache>
                <c:ptCount val="1"/>
                <c:pt idx="0">
                  <c:v>Por evento</c:v>
                </c:pt>
              </c:strCache>
            </c:strRef>
          </c:tx>
          <c:spPr>
            <a:solidFill>
              <a:schemeClr val="accent2"/>
            </a:solidFill>
            <a:ln w="38100" cap="flat">
              <a:solidFill>
                <a:schemeClr val="accent2"/>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2"/>
              </a:solidFill>
              <a:ln w="9525" cap="flat">
                <a:solidFill>
                  <a:schemeClr val="accent2"/>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Sheet1!$D$2:$D$6</c:f>
              <c:numCache>
                <c:formatCode>General</c:formatCode>
                <c:ptCount val="5"/>
                <c:pt idx="0">
                  <c:v>81</c:v>
                </c:pt>
                <c:pt idx="1">
                  <c:v>62</c:v>
                </c:pt>
                <c:pt idx="2">
                  <c:v>39</c:v>
                </c:pt>
                <c:pt idx="3">
                  <c:v>22</c:v>
                </c:pt>
                <c:pt idx="4">
                  <c:v>10</c:v>
                </c:pt>
              </c:numCache>
            </c:numRef>
          </c:val>
          <c:smooth val="0"/>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0"/>
                    </a:solidFill>
                    <a:latin typeface="+mn-lt"/>
                  </a:defRPr>
                </a:pPr>
                <a:r>
                  <a:rPr sz="1200" b="0" i="0" u="none" strike="noStrike">
                    <a:solidFill>
                      <a:srgbClr val="4A5560"/>
                    </a:solidFill>
                    <a:latin typeface="+mn-lt"/>
                  </a:rPr>
                  <a:t>velocidade de mudança do mundo (γ)</a:t>
                </a:r>
              </a:p>
            </c:rich>
          </c:tx>
          <c:layout/>
          <c:overlay val="0"/>
        </c:title>
        <c:numFmt formatCode="General" sourceLinked="1"/>
        <c:majorTickMark val="out"/>
        <c:minorTickMark val="none"/>
        <c:tickLblPos val="low"/>
        <c:spPr>
          <a:ln w="12700" cap="flat">
            <a:solidFill>
              <a:srgbClr val="C5CDD6"/>
            </a:solidFill>
            <a:prstDash val="solid"/>
            <a:round/>
          </a:ln>
        </c:spPr>
        <c:txPr>
          <a:bodyPr/>
          <a:lstStyle/>
          <a:p>
            <a:pPr>
              <a:defRPr sz="12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3E8EE"/>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4A5560"/>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Pensar custa 1 passo (custo = 1): % de entregas</a:t>
            </a:r>
          </a:p>
        </c:rich>
      </c:tx>
      <c:layout/>
      <c:overlay val="0"/>
    </c:title>
    <c:autoTitleDeleted val="0"/>
    <c:plotArea>
      <c:layout/>
      <c:lineChart>
        <c:varyColors val="0"/>
        <c:ser>
          <c:idx val="0"/>
          <c:order val="0"/>
          <c:tx>
            <c:strRef>
              <c:f>Sheet1!$B$1</c:f>
              <c:strCache>
                <c:ptCount val="1"/>
                <c:pt idx="0">
                  <c:v>Ousado (nunca reconsidera)</c:v>
                </c:pt>
              </c:strCache>
            </c:strRef>
          </c:tx>
          <c:spPr>
            <a:solidFill>
              <a:schemeClr val="accent1"/>
            </a:solidFill>
            <a:ln w="38100" cap="flat">
              <a:solidFill>
                <a:schemeClr val="accent1"/>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1"/>
              </a:solidFill>
              <a:ln w="9525" cap="flat">
                <a:solidFill>
                  <a:schemeClr val="accent1"/>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Sheet1!$B$2:$B$6</c:f>
              <c:numCache>
                <c:formatCode>General</c:formatCode>
                <c:ptCount val="5"/>
                <c:pt idx="0">
                  <c:v>76</c:v>
                </c:pt>
                <c:pt idx="1">
                  <c:v>55</c:v>
                </c:pt>
                <c:pt idx="2">
                  <c:v>30</c:v>
                </c:pt>
                <c:pt idx="3">
                  <c:v>12</c:v>
                </c:pt>
                <c:pt idx="4">
                  <c:v>4</c:v>
                </c:pt>
              </c:numCache>
            </c:numRef>
          </c:val>
          <c:smooth val="0"/>
        </c:ser>
        <c:ser>
          <c:idx val="1"/>
          <c:order val="1"/>
          <c:tx>
            <c:strRef>
              <c:f>Sheet1!$C$1</c:f>
              <c:strCache>
                <c:ptCount val="1"/>
                <c:pt idx="0">
                  <c:v>Cauteloso (a cada passo)</c:v>
                </c:pt>
              </c:strCache>
            </c:strRef>
          </c:tx>
          <c:spPr>
            <a:solidFill>
              <a:schemeClr val="accent4"/>
            </a:solidFill>
            <a:ln w="38100" cap="flat">
              <a:solidFill>
                <a:schemeClr val="accent4"/>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4"/>
              </a:solidFill>
              <a:ln w="9525" cap="flat">
                <a:solidFill>
                  <a:schemeClr val="accent4"/>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Sheet1!$C$2:$C$6</c:f>
              <c:numCache>
                <c:formatCode>General</c:formatCode>
                <c:ptCount val="5"/>
                <c:pt idx="0">
                  <c:v>62</c:v>
                </c:pt>
                <c:pt idx="1">
                  <c:v>41</c:v>
                </c:pt>
                <c:pt idx="2">
                  <c:v>22</c:v>
                </c:pt>
                <c:pt idx="3">
                  <c:v>12</c:v>
                </c:pt>
                <c:pt idx="4">
                  <c:v>4</c:v>
                </c:pt>
              </c:numCache>
            </c:numRef>
          </c:val>
          <c:smooth val="0"/>
        </c:ser>
        <c:ser>
          <c:idx val="2"/>
          <c:order val="2"/>
          <c:tx>
            <c:strRef>
              <c:f>Sheet1!$D$1</c:f>
              <c:strCache>
                <c:ptCount val="1"/>
                <c:pt idx="0">
                  <c:v>Por evento</c:v>
                </c:pt>
              </c:strCache>
            </c:strRef>
          </c:tx>
          <c:spPr>
            <a:solidFill>
              <a:schemeClr val="accent2"/>
            </a:solidFill>
            <a:ln w="38100" cap="flat">
              <a:solidFill>
                <a:schemeClr val="accent2"/>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7"/>
            <c:spPr>
              <a:solidFill>
                <a:schemeClr val="accent2"/>
              </a:solidFill>
              <a:ln w="9525" cap="flat">
                <a:solidFill>
                  <a:schemeClr val="accent2"/>
                </a:solidFill>
                <a:prstDash val="solid"/>
                <a:round/>
              </a:ln>
              <a:effectLst/>
            </c:spPr>
          </c:marker>
          <c:cat>
            <c:multiLvlStrRef>
              <c:f>Sheet1!$A$2:$A$6</c:f>
              <c:multiLvlStrCache>
                <c:ptCount val="5"/>
                <c:lvl>
                  <c:pt idx="0">
                    <c:v>1</c:v>
                  </c:pt>
                  <c:pt idx="1">
                    <c:v>2</c:v>
                  </c:pt>
                  <c:pt idx="2">
                    <c:v>4</c:v>
                  </c:pt>
                  <c:pt idx="3">
                    <c:v>8</c:v>
                  </c:pt>
                  <c:pt idx="4">
                    <c:v>16</c:v>
                  </c:pt>
                </c:lvl>
              </c:multiLvlStrCache>
            </c:multiLvlStrRef>
          </c:cat>
          <c:val>
            <c:numRef>
              <c:f>Sheet1!$D$2:$D$6</c:f>
              <c:numCache>
                <c:formatCode>General</c:formatCode>
                <c:ptCount val="5"/>
                <c:pt idx="0">
                  <c:v>78</c:v>
                </c:pt>
                <c:pt idx="1">
                  <c:v>58</c:v>
                </c:pt>
                <c:pt idx="2">
                  <c:v>36</c:v>
                </c:pt>
                <c:pt idx="3">
                  <c:v>17</c:v>
                </c:pt>
                <c:pt idx="4">
                  <c:v>7</c:v>
                </c:pt>
              </c:numCache>
            </c:numRef>
          </c:val>
          <c:smooth val="0"/>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0"/>
                    </a:solidFill>
                    <a:latin typeface="+mn-lt"/>
                  </a:defRPr>
                </a:pPr>
                <a:r>
                  <a:rPr sz="1200" b="0" i="0" u="none" strike="noStrike">
                    <a:solidFill>
                      <a:srgbClr val="4A5560"/>
                    </a:solidFill>
                    <a:latin typeface="+mn-lt"/>
                  </a:rPr>
                  <a:t>velocidade de mudança do mundo (γ)</a:t>
                </a:r>
              </a:p>
            </c:rich>
          </c:tx>
          <c:layout/>
          <c:overlay val="0"/>
        </c:title>
        <c:numFmt formatCode="General" sourceLinked="1"/>
        <c:majorTickMark val="out"/>
        <c:minorTickMark val="none"/>
        <c:tickLblPos val="low"/>
        <c:spPr>
          <a:ln w="12700" cap="flat">
            <a:solidFill>
              <a:srgbClr val="C5CDD6"/>
            </a:solidFill>
            <a:prstDash val="solid"/>
            <a:round/>
          </a:ln>
        </c:spPr>
        <c:txPr>
          <a:bodyPr/>
          <a:lstStyle/>
          <a:p>
            <a:pPr>
              <a:defRPr sz="12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3E8EE"/>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4A5560"/>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Quilômetros rodados (menos é melhor)</a:t>
            </a:r>
          </a:p>
        </c:rich>
      </c:tx>
      <c:layout/>
      <c:overlay val="0"/>
    </c:title>
    <c:autoTitleDeleted val="0"/>
    <c:plotArea>
      <c:layout/>
      <c:barChart>
        <c:barDir val="col"/>
        <c:grouping val="clustered"/>
        <c:varyColors val="0"/>
        <c:ser>
          <c:idx val="0"/>
          <c:order val="0"/>
          <c:tx>
            <c:strRef>
              <c:f>Sheet1!$B$1</c:f>
              <c:strCache>
                <c:ptCount val="1"/>
                <c:pt idx="0">
                  <c:v>km</c:v>
                </c:pt>
              </c:strCache>
            </c:strRef>
          </c:tx>
          <c:spPr>
            <a:solidFill>
              <a:srgbClr val="6B7785"/>
            </a:solidFill>
            <a:effectLst/>
          </c:spPr>
          <c:invertIfNegative val="0"/>
          <c:dLbls>
            <c:numFmt formatCode="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6B7785"/>
              </a:solidFill>
              <a:effectLst/>
            </c:spPr>
          </c:dPt>
          <c:dPt>
            <c:idx val="1"/>
            <c:invertIfNegative val="0"/>
            <c:bubble3D val="0"/>
            <c:spPr>
              <a:solidFill>
                <a:srgbClr val="E76F51"/>
              </a:solidFill>
              <a:effectLst/>
            </c:spPr>
          </c:dPt>
          <c:dPt>
            <c:idx val="2"/>
            <c:invertIfNegative val="0"/>
            <c:bubble3D val="0"/>
            <c:spPr>
              <a:solidFill>
                <a:srgbClr val="2A9D8F"/>
              </a:solidFill>
              <a:effectLst/>
            </c:spPr>
          </c:dPt>
          <c:dPt>
            <c:idx val="3"/>
            <c:invertIfNegative val="0"/>
            <c:bubble3D val="0"/>
            <c:spPr>
              <a:solidFill>
                <a:srgbClr val="264653"/>
              </a:solidFill>
              <a:effectLst/>
            </c:spPr>
          </c:dPt>
          <c:cat>
            <c:multiLvlStrRef>
              <c:f>Sheet1!$A$2:$A$5</c:f>
              <c:multiLvlStrCache>
                <c:ptCount val="4"/>
                <c:lvl>
                  <c:pt idx="0">
                    <c:v>Aleatório (média)</c:v>
                  </c:pt>
                  <c:pt idx="1">
                    <c:v>Lance ingênuo</c:v>
                  </c:pt>
                  <c:pt idx="2">
                    <c:v>Custo marginal</c:v>
                  </c:pt>
                  <c:pt idx="3">
                    <c:v>Ótimo centralizado</c:v>
                  </c:pt>
                </c:lvl>
              </c:multiLvlStrCache>
            </c:multiLvlStrRef>
          </c:cat>
          <c:val>
            <c:numRef>
              <c:f>Sheet1!$B$2:$B$5</c:f>
              <c:numCache>
                <c:formatCode>General</c:formatCode>
                <c:ptCount val="4"/>
                <c:pt idx="0">
                  <c:v>40.3</c:v>
                </c:pt>
                <c:pt idx="1">
                  <c:v>42.3</c:v>
                </c:pt>
                <c:pt idx="2">
                  <c:v>30.8</c:v>
                </c:pt>
                <c:pt idx="3">
                  <c:v>23.4</c:v>
                </c:pt>
              </c:numCache>
            </c:numRef>
          </c:val>
        </c:ser>
        <c:dLbls>
          <c:numFmt formatCode="0.0" sourceLinked="0"/>
          <c:txPr>
            <a:bodyPr/>
            <a:lstStyle/>
            <a:p>
              <a:pPr>
                <a:defRPr b="0" i="0" strike="noStrike" sz="14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DD6"/>
            </a:solidFill>
            <a:prstDash val="solid"/>
            <a:round/>
          </a:ln>
        </c:spPr>
        <c:txPr>
          <a:bodyPr/>
          <a:lstStyle/>
          <a:p>
            <a:pPr>
              <a:defRPr sz="13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Pontos médios por rodada (máx. 5; cooperação mútua = 3)</a:t>
            </a:r>
          </a:p>
        </c:rich>
      </c:tx>
      <c:layout/>
      <c:overlay val="0"/>
    </c:title>
    <c:autoTitleDeleted val="0"/>
    <c:plotArea>
      <c:layout/>
      <c:barChart>
        <c:barDir val="bar"/>
        <c:grouping val="clustered"/>
        <c:varyColors val="0"/>
        <c:ser>
          <c:idx val="0"/>
          <c:order val="0"/>
          <c:tx>
            <c:strRef>
              <c:f>Sheet1!$B$1</c:f>
              <c:strCache>
                <c:ptCount val="1"/>
                <c:pt idx="0">
                  <c:v>pontos</c:v>
                </c:pt>
              </c:strCache>
            </c:strRef>
          </c:tx>
          <c:spPr>
            <a:solidFill>
              <a:srgbClr val="2A9D8F"/>
            </a:solidFill>
            <a:effectLst/>
          </c:spPr>
          <c:invertIfNegative val="0"/>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6B7785"/>
              </a:solidFill>
              <a:effectLst/>
            </c:spPr>
          </c:dPt>
          <c:dPt>
            <c:idx val="6"/>
            <c:invertIfNegative val="0"/>
            <c:bubble3D val="0"/>
            <c:spPr>
              <a:solidFill>
                <a:srgbClr val="6B7785"/>
              </a:solidFill>
              <a:effectLst/>
            </c:spPr>
          </c:dPt>
          <c:dPt>
            <c:idx val="7"/>
            <c:invertIfNegative val="0"/>
            <c:bubble3D val="0"/>
            <c:spPr>
              <a:solidFill>
                <a:srgbClr val="6B7785"/>
              </a:solidFill>
              <a:effectLst/>
            </c:spPr>
          </c:dPt>
          <c:dPt>
            <c:idx val="8"/>
            <c:invertIfNegative val="0"/>
            <c:bubble3D val="0"/>
            <c:spPr>
              <a:solidFill>
                <a:srgbClr val="6B7785"/>
              </a:solidFill>
              <a:effectLst/>
            </c:spPr>
          </c:dPt>
          <c:cat>
            <c:multiLvlStrRef>
              <c:f>Sheet1!$A$2:$A$10</c:f>
              <c:multiLvlStrCache>
                <c:ptCount val="9"/>
                <c:lvl>
                  <c:pt idx="0">
                    <c:v>Olho por dois olhos</c:v>
                  </c:pt>
                  <c:pt idx="1">
                    <c:v>Sempre coopera</c:v>
                  </c:pt>
                  <c:pt idx="2">
                    <c:v>Pavlov (Nowak e Sigmund)</c:v>
                  </c:pt>
                  <c:pt idx="3">
                    <c:v>Olho por olho (Rapoport)</c:v>
                  </c:pt>
                  <c:pt idx="4">
                    <c:v>Rancoroso (Friedman)</c:v>
                  </c:pt>
                  <c:pt idx="5">
                    <c:v>Aleatório</c:v>
                  </c:pt>
                  <c:pt idx="6">
                    <c:v>Sempre trai</c:v>
                  </c:pt>
                  <c:pt idx="7">
                    <c:v>Desconfiado</c:v>
                  </c:pt>
                  <c:pt idx="8">
                    <c:v>Joss (trai 10% escondido)</c:v>
                  </c:pt>
                </c:lvl>
              </c:multiLvlStrCache>
            </c:multiLvlStrRef>
          </c:cat>
          <c:val>
            <c:numRef>
              <c:f>Sheet1!$B$2:$B$10</c:f>
              <c:numCache>
                <c:formatCode>General</c:formatCode>
                <c:ptCount val="9"/>
                <c:pt idx="0">
                  <c:v>2.54</c:v>
                </c:pt>
                <c:pt idx="1">
                  <c:v>2.48</c:v>
                </c:pt>
                <c:pt idx="2">
                  <c:v>2.45</c:v>
                </c:pt>
                <c:pt idx="3">
                  <c:v>2.42</c:v>
                </c:pt>
                <c:pt idx="4">
                  <c:v>2.38</c:v>
                </c:pt>
                <c:pt idx="5">
                  <c:v>2.12</c:v>
                </c:pt>
                <c:pt idx="6">
                  <c:v>1.89</c:v>
                </c:pt>
                <c:pt idx="7">
                  <c:v>1.89</c:v>
                </c:pt>
                <c:pt idx="8">
                  <c:v>1.71</c:v>
                </c:pt>
              </c:numCache>
            </c:numRef>
          </c:val>
        </c:ser>
        <c:dLbls>
          <c:numFmt formatCode="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5CDD6"/>
            </a:solidFill>
            <a:prstDash val="solid"/>
            <a:round/>
          </a:ln>
        </c:spPr>
        <c:txPr>
          <a:bodyPr/>
          <a:lstStyle/>
          <a:p>
            <a:pPr>
              <a:defRPr sz="13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3"/>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Exigência de cada morador → % de vizinhos iguais no fim</a:t>
            </a:r>
          </a:p>
        </c:rich>
      </c:tx>
      <c:layout/>
      <c:overlay val="0"/>
    </c:title>
    <c:autoTitleDeleted val="0"/>
    <c:plotArea>
      <c:layout/>
      <c:barChart>
        <c:barDir val="col"/>
        <c:grouping val="clustered"/>
        <c:varyColors val="0"/>
        <c:ser>
          <c:idx val="0"/>
          <c:order val="0"/>
          <c:tx>
            <c:strRef>
              <c:f>Sheet1!$B$1</c:f>
              <c:strCache>
                <c:ptCount val="1"/>
                <c:pt idx="0">
                  <c:v>vizinhos iguais</c:v>
                </c:pt>
              </c:strCache>
            </c:strRef>
          </c:tx>
          <c:spPr>
            <a:solidFill>
              <a:srgbClr val="6B7785"/>
            </a:solidFill>
            <a:effectLst/>
          </c:spPr>
          <c:invertIfNegative val="0"/>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6B7785"/>
              </a:solidFill>
              <a:effectLst/>
            </c:spPr>
          </c:dPt>
          <c:dPt>
            <c:idx val="1"/>
            <c:invertIfNegative val="0"/>
            <c:bubble3D val="0"/>
            <c:spPr>
              <a:solidFill>
                <a:srgbClr val="6B7785"/>
              </a:solidFill>
              <a:effectLst/>
            </c:spPr>
          </c:dPt>
          <c:dPt>
            <c:idx val="2"/>
            <c:invertIfNegative val="0"/>
            <c:bubble3D val="0"/>
            <c:spPr>
              <a:solidFill>
                <a:srgbClr val="E76F51"/>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2A9D8F"/>
              </a:solidFill>
              <a:effectLst/>
            </c:spPr>
          </c:dPt>
          <c:cat>
            <c:multiLvlStrRef>
              <c:f>Sheet1!$A$2:$A$7</c:f>
              <c:multiLvlStrCache>
                <c:ptCount val="6"/>
                <c:lvl>
                  <c:pt idx="0">
                    <c:v>10%</c:v>
                  </c:pt>
                  <c:pt idx="1">
                    <c:v>20%</c:v>
                  </c:pt>
                  <c:pt idx="2">
                    <c:v>30%</c:v>
                  </c:pt>
                  <c:pt idx="3">
                    <c:v>40%</c:v>
                  </c:pt>
                  <c:pt idx="4">
                    <c:v>50%</c:v>
                  </c:pt>
                  <c:pt idx="5">
                    <c:v>60%</c:v>
                  </c:pt>
                </c:lvl>
              </c:multiLvlStrCache>
            </c:multiLvlStrRef>
          </c:cat>
          <c:val>
            <c:numRef>
              <c:f>Sheet1!$B$2:$B$7</c:f>
              <c:numCache>
                <c:formatCode>General</c:formatCode>
                <c:ptCount val="6"/>
                <c:pt idx="0">
                  <c:v>50</c:v>
                </c:pt>
                <c:pt idx="1">
                  <c:v>56</c:v>
                </c:pt>
                <c:pt idx="2">
                  <c:v>76</c:v>
                </c:pt>
                <c:pt idx="3">
                  <c:v>82</c:v>
                </c:pt>
                <c:pt idx="4">
                  <c:v>87</c:v>
                </c:pt>
                <c:pt idx="5">
                  <c:v>94</c:v>
                </c:pt>
              </c:numCache>
            </c:numRef>
          </c:val>
        </c:ser>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5CDD6"/>
            </a:solidFill>
            <a:prstDash val="solid"/>
            <a:round/>
          </a:ln>
        </c:spPr>
        <c:txPr>
          <a:bodyPr/>
          <a:lstStyle/>
          <a:p>
            <a:pPr>
              <a:defRPr sz="12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4A55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(2 min). Apresente o tema: hoje saímos do agente isolado, que vimos nas aulas de busca e de aprendizado, para sistemas em que VÁRIOS agentes interagem, muitas vezes com interesses diferentes.
Peça para a turma abrir o notebook 10_Sistemas_Multiagentes.ipynb no Colab e executar a Parte 0 (preparação) enquanto você fala. Todas as simulações rodam sem internet e sem chave de API.
Combinado da aula: cada bloco tem um exemplo executável no notebook. Os slides mostram os resultados; o notebook mostra o código e deixa os alunos mexerem nos parâmetros.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(2 min). Leia rapidamente os verbos em negrito: eles indicam o tipo de atividade de cada bloco. Destaque que os objetivos 5 a 7 são os mais práticos (entregas, anúncios, robôs de preço, pescadores) e que o 8 conecta tudo aos agentes com LLM, que eles já usam.
Notebook: célula de abertura, lista 'Objetivos de aprendizagem'.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(1 min). Oito blocos, cada um com um exemplo prático. Ao lado de cada bloco está a seção correspondente do notebook.
Sugestão de tempo para uma aula de cerca de 3h: blocos 1 e 2 (40 min), 3 (20 min), 4 (30 min), intervalo, 5 (45 min), 6 (10 min), 7 (25 min), 8 e encerramento (15 min). Se faltar tempo, os blocos 6 e 8 podem ficar como leitura no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Pergunta de abertura (5 min). Faça a pergunta ANTES de mostrar os cartões (se quiser, use animação de entrada nos cartões). Deixe a turma listar exemplos por 1 ou 2 minutos.
Depois revele: em cada situação há vários agentes de software, de donos diferentes, cada um com o próprio objetivo. Pedir comida: plataforma, entregadores, restaurantes. Pesquisar no Google: um leilão de anúncios entre robôs de lance a cada busca (Edelman, Ostrovsky e Schwarz, 2007; Varian, 2007). Waze no pico: escolhas egoístas que podem piorar o trânsito de todos (paradoxo de Braess, 1968). Armazéns da Amazon: centenas de robôs por armazém (Wurman, D'Andrea e Mountz, 2008).
Notebook: Seção 1.5, tabela 'Onde você já usa SMA sem perceber'. Cada linha aponta a seção da aula em que o exemplo volta.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1 (cerca de 20 min). Objetivo: sair com uma definição precisa de agente e de SMA, saber descrever um agente (PEAS) e classificar o ambiente.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Definições (4 min). Use o diagrama: o agente recebe percepções pelos sensores e devolve ações pelos atuadores, num laço contínuo.
Russell e Norvig (2020, cap. 2): agente é tudo o que percebe o ambiente por sensores e age sobre ele por atuadores. Franklin e Graesser (1996) acrescentam o tempo e a autonomia: o agente está situado, age ao longo do tempo segundo a própria agenda e, com isso, muda o que vai perceber depois.
Wooldridge (2009): um SMA é composto por vários agentes que interagem, tipicamente trocando mensagens. Destaque a palavra INTERAGEM: o resultado depende do que os outros fazem.
Pergunta rápida: um termostato é um agente? Pela definição mínima, sim. Mas não tem proatividade nem sociabilidade. Franklin e Graesser tratam 'ser agente' como questão de grau.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Noção fraca de agência (4 min), de Wooldridge e Jennings (1995), a definição mais citada da área. Passe pelos quatro cartões com os exemplos do robô aspirador e do entregador.
Ponto central: o difícil é equilibrar reatividade e proatividade. Um agente só reativo 'vai para onde o vento sopra' e nunca termina nada; um só proativo segue o plano mesmo quando o mundo mudou. Vamos MEDIR esse equilíbrio no experimento do entregador (Seção 2.9).
Noção forte: os mesmos autores descrevem o agente com estados 'mentais' (crenças, desejos, intenções, obrigações). Daí nasce a arquitetura BDI.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Agente × objeto (4 min). Pergunta comum de quem programa: 'agente não é só um objeto com métodos?'. O slogan de Wooldridge (2009) resume: objetos fazem de graça; agentes fazem porque querem.
Mostre o contraste: a chamada estoque.reservar() sempre executa. O agente de estoque recebe um PEDIDO e pode recusar ou contrapropor, segundo os próprios objetivos.
Notebook: Seção 1.3, tabela completa (quem decide, fluxo de controle, comportamento, comunicação, interesses).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PEAS (3 min), de Russell e Norvig (2020): medida de desempenho, ambiente, atuadores e sensores. Peça para a turma completar oralmente uma linha nova, por exemplo 'robô de lances em anúncios' (desempenho: vendas por real gasto; sensores: consulta do usuário, histórico de conversões; atuador: o lance).
Ponto de atenção: a MEDIDA DE DESEMPENHO é a parte mais importante e a mais esquecida. Um robô de preços que só maximiza vendas pode vender com prejuízo.
Notebook: Seção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ambiente (3 min). Para cada linha, peça um exemplo da turma antes de mostrar o da direita.
Mensagem principal: a presença de OUTROS AGENTES é o que torna o ambiente imprevisível de verdade. Eles também aprendem e se adaptam, e às vezes tentam enganar você. O resto da aula trata disso.
Notebook: Seção 1.4, segunda tabela.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Linha do tempo (3 min). Não leia tudo: escolha três marcos para comentar.
Sugestões: (1) o Actor Model de Hewitt, Bishop e Steiger (1973) é o ancestral do Erlang, que roda o backend do WhatsApp; (2) Brooks (1986) cofundou a iRobot e o Roomba (2002) levou a subsunção para dentro de casa; (3) em 2024 e 2025, MCP e A2A retomam com JSON e HTTP ideias da FIPA dos anos 1990.
Notebook: Seção 1.6 tem a linha do tempo completa, incluindo Hearsay-II, KQML, RoboCup, Remote Agent da NASA, JADE, Jason e AlphaStar.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2 (cerca de 25 min). Dois experimentos: o robô aspirador reativo × com mapa (Seção 2.8, com animação) e o entregador BDI que reproduz Kinny e Georgeff (1991), na Seção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(4 min). Os quatro primeiros tipos seguem Russell e Norvig (2020, cap. 2); BDI e híbrida vêm da literatura de SMA (Wooldridge, 2009, caps. 3 a 5).
Para cada cartão, pergunte 'onde vocês já viram isso?'. O exemplo do carro autônomo ilustra a híbrida: a camada reativa freia em milissegundos; a deliberativa planeja a rota; a social negocia o cruzamento com outros veículos (Dresner e Stone, 2008).
Híbridas clássicas: TouringMachines (Ferguson, 1992) e InteRRaP (Müller, 1996).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Subsunção (3 min). Brooks (1986, 1991) criticou a IA simbólica dos anos 1980: robôs que montavam um modelo completo do mundo antes de agir eram lentos e frágeis. A proposta: comportamentos simples em camadas, todos ligados direto aos sensores, sem mapa.
Rigor, se alguém perguntar: no artigo de 1986, as camadas SUPERIORES 'subsumem' as inferiores, suprimindo seus sinais. Em robôs comerciais, os comportamentos de segurança (desviar, não cair) costumam ter a palavra final. O slide usa essa segunda leitura, mais intuitiva.
Gancho para o próximo slide: Brooks cofundou a iRobot, e o Roomba original seguia essa filosofia. Gerações posteriores passaram a mapear a casa com câmera (vSLAM). Qual é melhor? Vamos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Experimento (5 min). Notebook: Seção 2.8. Rode a célula do aspirador e depois a animação (🎬): os alunos veem o reativo batendo e girando ao acaso, enquanto o robô com mapa varre a casa em ordem.
Resultados (mesma casa, 400 passos): o robô com modelo chega a 90% no passo 146 e a 100% por volta do passo 170. O reativo fica em 69% em média, com faixa de 44% a 85% entre execuções.
Discussão: por que então o Roomba original era reativo? Custo de sensores e processamento em 2002, e robustez: um mapa errado pode ser pior do que nenhum. É o mesmo dilema de projeto em qualquer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BDI (4 min). Bratman (1987) e Rao e Georgeff (1991, 1995). Explique os três componentes com o entregador da Seção 2.9.
Mostre o trecho do rastro: o entregador estava indo para (13,10) quando o app avisou o cancelamento. Como a estratégia é 'por evento', ele reconsiderou só nessa hora e escolheu (3,11). Resultado nos primeiros 60 passos: 8 entregas, 0 viagens perdidas, 12 deliberações.
Ideia central de Bratman: intenções são compromissos. Elas economizam raciocínio, mas criam o risco de insistir num plano que perdeu o sentido. Próximo slide: quando vale a pena reconsiderar?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Kinny e Georgeff (1991), no Tileworld de Pollack e Ringuette (1990). Notebook: Seção 2.9, célula do experimento.
Três agentes: OUSADO nunca reconsidera; CAUTELOSO reconsidera a cada passo; POR EVENTO só reconsidera quando o app avisa uma mudança. γ é a velocidade com que o mundo muda (quanto maior, mais pedidos aparecem e somem enquanto o agente anda).
Leitura: com custo zero (esquerda), o cauteloso vence em mundos dinâmicos (γ=4: 44% contra 35% do ousado e 39% por evento). Quando pensar custa um passo (direita), o cauteloso desaba e reconsiderar por evento vence em TODOS os γ: 78, 58, 36, 17 e 7%.
Ponte com a vida real: é a diferença entre polling (perguntar o tempo todo) e notificação push. E reaparece com LLMs: cada replanejamento é uma chamada paga ao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3 (cerca de 20 min). Mensagem do bloco: as ideias da FIPA dos anos 1990 estão vivas no WhatsApp, no Kafka e nos protocolos de agentes de IA de 2024 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Atos de fala (4 min). Austin (1962) notou que frases como 'prometo entregar até as 20h' ou 'aceito a proposta' não descrevem o mundo: mudam o mundo. Searle (1969) classificou esses atos (assertivos, diretivos, compromissivos, expressivos, declarativos).
Mostre o diagrama: o MESMO conteúdo ('entregar o pedido P-4821') vira um pedido, uma promessa ou um relato, conforme a performativa. Por isso toda mensagem entre agentes tem duas partes: performativa + conteúdo.
Histórico: KQML (Finin et al., 1994) e depois FIPA ACL (2002), com 22 atos comunicativos.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FIPA ACL × JSON (4 min). Notebook: Seção 3.3. Rode a célula: ela imprime a mesma mensagem nos dois formatos e a conversa inteira do Contract Net.
Mostre que os campos são os mesmos: performativa, remetente, destinatário, conteúdo, linguagem, ontologia, protocolo, prazo. Mudou a sintaxe; o problema é o mesmo.
Ontologia: os dois lados precisam concordar sobre o que as palavras significam. Para Gruber (1993), ontologia é uma especificação explícita de uma conceitualização. Exemplo brasileiro: a NF-e só funciona porque milhares de sistemas de empresas diferentes seguem o mesmo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Protocolo de interação (3 min). É a mesma conversa impressa pela célula da Seção 3.3, agora como diagrama de sequência.
Um protocolo define quais mensagens podem vir depois de quais. Isso permite que agentes de EMPRESAS DIFERENTES, escritos por equipes diferentes, conversem sem combinar nada antes: basta seguir o protocolo.
Outros protocolos: leilões (próximo bloco) e negociação com propostas e contrapropostas (Rosenschein e Zlotkin,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Ideias clássicas hoje (4 min). Notebook: Seção 3.4.
Actor Model (Hewitt, Bishop e Steiger, 1973): entidades que só se comunicam por mensagens assíncronas. Erlang (Ericsson; Armstrong, 2003) segue o modelo e roda o backend do WhatsApp; Akka e Microsoft Orleans também (Orleans foi usado em serviços do Halo 4; Bernstein et al., 2014).
MCP (Anthropic, 2024) padroniza o acesso de um agente com LLM a ferramentas, como os atuadores. A2A (Google, 2025) padroniza a conversa entre agentes; o Agent Card faz o papel das 'páginas amarelas' (Directory Facilitator) da FIPA.
Moral: quando aparecer um 'novo protocolo para agentes', pergunte qual problema da FIPA ele está resolvendo de novo. Quase sempre: descobrir quem sabe fazer o quê, pedir algo com intenção clara e acompanhar a conversa até o fim.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4 (cerca de 30 min). Dois mecanismos de mercado: o Contract Net para alocar tarefas e os leilões para alocar recursos. Fio condutor: o mecanismo de interação MOLDA o comportamento dos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Net (4 min). Smith (1980), refinado por Smith e Davis (1981). Imita uma licitação.
Notebook: Seção 4. A primeira célula é o exemplo clássico: a Empresa_X anuncia 'desenvolvimento de sistema web', três fornecedores propõem um preço e vence o menor. Os valores são sorteados a cada execução.
Por que funciona: o gerente não precisa conhecer a situação de cada candidato. Cada um avalia a própria agenda e responde. O conhecimento fica distribuído, como num app de entregas de verdade.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 ingênuo × custo marginal (5 min). Notebook: Seção 4.2. Cenário: 8 pedidos chegam um a um; 4 entregadores podem levar até 2 pedidos cada; vence o menor lance.
Lance ingênuo: distância da posição atual, como se o entregador não tivesse aceitado nada antes. Lance marginal (Sandholm, 1993, no sistema TRACONET de transportadoras): quanto a rota AUMENTA se ele aceitar, considerando o que já aceitou.
Resultados: aleatório 40,3 km (média de 200 sorteios); ingênuo 42,3 km, pior que o sorteio; custo marginal 30,8 km, 27% a menos; ótimo centralizado 23,4 km, calculado por força bruta. O Contract Net trocou 96 mensagens.
Pergunta: por que o ingênuo perde até para o sorteio? Porque ele faz o mesmo entregador ganhar pedidos em direções opostas: o lance não reflete o custo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Rotas (2 min). Mesma instância, três alocações. No ingênuo, veja as linhas cruzando o mapa: um entregador pega pedidos em lados opostos. No custo marginal, cada entregador fica numa região. O ótimo, à direita, encurta ainda mais.
Ponto de discussão: o ótimo exige que a plataforma conheça tudo e teste as 65.536 formas de distribuir os pedidos. Com 100 pedidos e 30 entregadores, isso fica impraticável. O Contract Net decide pedido a pedido, com informação local, e fica 32% acima do ótimo.
Exercício sugerido: aumentar a capacidade para 3 pedidos e repetir.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Formatos de leilão (4 min). Notebook: Seção 5. Leilões alocam recursos entre agentes com interesses próprios quando ninguém sabe quanto o recurso vale para os outros.
Destaque os exemplos brasileiros: o pregão eletrônico é um leilão reverso (Lei 10.520/2002 e Lei 14.133/2021) e o leilão do 5G foi realizado pela Anatel em novembro de 2021.
Por que é assunto de SMA: nos anúncios on-line, um leilão acontece a cada busca ou página carregada, em milissegundos. Quem dá os lances são agentes de software dos anunciantes, bilhões de vezes por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Vickrey (5 min). Notebook: Seção 5.1. Cenário: o item vale R$ 70 para você; há 4 rivais com valores sorteados entre R$ 0 e R$ 100; 50 mil leilões simulados para cada lance possível.
Curva laranja (1º preço): o melhor lance é R$ 56. Vale a pena 'sombrear' o lance, porque você paga o que oferecer. Curva azul (2º preço): o melhor lance é exatamente R$ 70, o seu valor.
Intuição: no 2º preço, o seu lance só decide SE você ganha, não QUANTO paga. Subir o lance só faz você ganhar leilões em que o preço passa do seu valor; baixar só faz perder leilões lucrativos. Exagerar para R$ 90 dá lucro médio de -R$ 1,32.
Por que as plataformas gostam disso: com 'diga a verdade', os anunciantes não precisam de estratégias complicadas e o sistema fica estável (Vickrey, 1961).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Equivalência de receita (3 min). Notebook: Seção 5.2, com controle interativo (🎛️). Peça a um aluno para mover o número de licitantes.
Com 5 licitantes, as receitas médias são praticamente iguais e batem com a teoria, (n − 1)/(n + 1) × 100 = R$ 66,67. A diferença do inglês é só o incremento de R$ 1 no último lance.
Mas o RISCO muda: o 1º preço tem desvio-padrão menor (R$ 11,25 contra R$ 17,75).
Quando a equivalência falha: licitantes avessos ao risco, valores correlacionados (como num poço de petróleo) e conluio. Milgrom e Wilson ganharam o Nobel em parte por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5 (cerca de 45 min, o maior da aula). Fio condutor: o comportamento do grupo NÃO é a soma das intenções individuais. Bom momento para um intervalo antes de começar.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coordenação (3 min). Notebook: Seções 6.1 e 6.2.
Planos: Partial Global Planning (Durfee e Lesser, 1991). Normas: leis sociais (Shoham e Tennenholtz, 1995); 'dirija pela direita' dispensa negociar a cada encontro. Mercado: programação orientada a mercado (Wellman, 1993). Emergente: inteligência de enxame (Bonabeau, Dorigo e Theraulaz, 1999), que volta nas aulas 13 a 15 (autômatos celulares, PSO e colônia de formigas).
Cooperação × competição × coopetição: empresas concorrentes que dividem logística ou voos (codeshare).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Dilema do Prisioneiro (4 min). Formulado em 1950 por Merrill Flood e Melvin Dresher, na RAND Corporation, e batizado por Albert Tucker. Pagamentos: T (tentação) = 5 &gt; R (recompensa) = 3 &gt; P (punição) = 1 &gt; S (otário) = 0.
Faça a turma raciocinar: se o outro coopera, eu ganho 3 cooperando e 5 traindo. Se o outro trai, ganho 0 cooperando e 1 traindo. Trair é sempre melhor PARA MIM. Os dois pensam assim e ganham 1, quando poderiam ganhar 3.
(trai, trai) é o equilíbrio de Nash (Nash, 1950): ninguém ganha mudando sozinho de estratégia. Exemplos reais: guerra de preços entre lojas, corrida armamentista, doping no esporte.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Axelrod (5 min). Notebook: Seção 6.4. Em 1980, Robert Axelrod convidou especialistas a enviar programas para jogar o Dilema do Prisioneiro REPETIDO, todos contra todos. Venceu o mais simples: o Olho por olho de Anatol Rapoport (coopera na 1ª rodada e depois copia o adversário). Venceu de novo no 2º torneio (Axelrod, 1984).
Na nossa simulação, com 9 estratégias e sem ruído, o 1º lugar foi o Olho por dois olhos (2,54 pontos) e o Olho por olho ficou em 4º. Isso depende de quem está na população, e é por isso que o próximo slide faz a evolução.
Repare nas cores: as cinco primeiras são todas GENTIS (nunca traem primeiro). As que traem primeiro ou ao acaso ficam no fim. É a principal conclusão de Axelrod.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Torneio ecológico (4 min). Notebook: Seção 6.4, segunda e terceira células. A cada geração, cada estratégia cresce em proporção aos pontos que fez (dinâmica do replicador).
Esquerda: todas começam com 11%; as gentis crescem e as traidoras somem. Direita, o cenário mais interessante: uma população ingênua, com 60% de 'Sempre coopera'. O 'Sempre trai' explode até 67,7% na geração 15, explorando os ingênuos, e desaparece por volta da geração 25, quando acabam as vítimas e sobram as retaliadoras.
Ruído (controle 🎛️): com 5% e 10% de mal-entendidos, o Olho por olho cai para 5º e 8º lugar, porque um erro gera uma cadeia de retaliações (Wu e Axelrod, 1995). Estratégias mais tolerantes, como o Olho por dois olhos e o Pavlov (Nowak e Sigmund, 1993), se saem melhor.
Vida real: reputação em marketplaces e apps de transporte é o 'jogo repetido' que sustenta a cooperação entre desconhecidos.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Robôs de preço (5 min). Notebook: Seção 6.5. Em abril de 2011, o biólogo Michael Eisen viu o livro 'The Making of a Fly', de Peter Lawrence, à venda na Amazon por US$ 1,7 milhão e US$ 2,2 milhões, e o preço subindo todos os dias (Eisen, 2011).
Ele descobriu as regras: o vendedor A cobrava 0,9983 vez o preço de B (ficar um pouco mais barato); o B cobrava 1,270589 vez o de A (provavelmente sem ter o livro, apostando na sua reputação para revender). Cada regra, sozinha, faz sentido. Juntas: 0,9983 × 1,270589 = 1,2684, ou +26,8% ao dia. A simulação passa do recorde real no dia 58.
Guardrail: uma trava de 3 vezes o preço de referência segura o preço em US$ 106,62.
Hoje o problema é mais sutil: robôs que APRENDEM preços podem chegar sozinhos a preços altos, sem trocar mensagens (Calvano et al., 2020; Assad et al., 2024, nos postos de gasolina da Alemanha). Pergunte: houve conluio? Quem responde por 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Pescadores (5 min). Notebook: Seção 6.6. Dez pescadores dividem um lago que se repõe sozinho (rendimento máximo sustentável de 62,5 t por ano).
Livre acesso (cada um pesca 15 t/ano): o lago colapsa no ano 8, com 1.148 t pescadas no total. Cota de 5 t + defeso quando o estoque cai abaixo de 30%: o estoque estabiliza em 774 t e a pesca acumulada chega a 3.000 t em 60 anos, a maior dos três cenários. Com 3 'caronas' que ignoram a cota, o colapso só é adiado, para o ano 29 (2.268 t).
Hardin (1968) dizia que só havia duas saídas: privatizar ou o governo controlar. Elinor Ostrom (1990; Nobel de 2009) mostrou uma terceira: comunidades que criam regras próprias, fiscalização e sanções graduais.
Casos brasileiros: o seguro-defeso e o manejo comunitário do pirarucu na Amazônia. Na computação: o controle de congestionamento do TCP (Jacobson, 1988) é uma norma de cooperação que impede a internet de colapsar.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Boids (4 min). Notebook: Seção 6.7, com animação (🎬). Craig Reynolds (1987) criou bandos virtuais com só três regras locais. Ninguém sabe a forma do bando, e não há líder.
Na simulação, a 'ordem' (1 = todos voando na mesma direção) vai de 0,01 no início a 0,31 no passo 50, 0,79 no passo 100 e 1,00 no passo 300.
Peça para os alunos mudarem os pesos no código: sem separação, os boids se amontoam; sem alinhamento, não formam bando.
Aplicações: shows de drones, multidões em filmes e jogos, robótica de enxame. Ponte para as aulas 13 a 15 (autômatos celulares, PSO e colônia de formigas).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Schelling (5 min). Notebook: Seção 6.8, com controle interativo (🎛️) e uma tabela com várias exigências.
Thomas Schelling (1971; 1978, 'Micromotives and Macrobehavior'): cada morador só se muda se menos de X% dos vizinhos forem parecidos com ele. Com exigência de apenas 30%, a cidade termina com 76% de vizinhos iguais. Com 60%, 94%.
Acima disso (70% e 80%), quase ninguém fica satisfeito e o modelo não se estabiliza em 59 rodadas: a 'segregação medida' até cai, porque todos continuam se mudando.
Discussão: nenhum morador quer uma cidade segregada, e mesmo assim ela surge. Paralelos: segregação urbana, bolhas em redes sociais (seguir quem pensa parecido).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6 (cerca de 10 min). Pode começar com a turma votando de verdade, com as mesmas três opções do slide seguinte.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Votação (5 min). Notebook: Seção 7. Dezenove alunos escolhem o local da confraternização, com as preferências da esquerda.
Maioria simples: Pizzaria (8 votos). Dois turnos: Churrascaria, que herda os votos do Japonês no 2º turno (11 × 8). Borda (2 pontos para o 1º lugar, 1 para o 2º): Japonês, com 24 pontos. Condorcet (todos os confrontos diretos): Japonês, que vence Pizzaria e Churrascaria.
Pergunta: qual é o 'verdadeiro' desejo da turma? Não existe resposta fora da regra. Arrow (1951) provou que nenhuma regra com 3 ou mais opções satisfaz ao mesmo tempo um conjunto de critérios razoáveis de justiça; Gibbard (1973) e Satterthwaite (1975), que toda regra razoável pode ser manipulada.
Em ML: ensembles de classificadores também 'votam', e a regra de agregação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Paradoxo de Condorcet (3 min). Notebook: final da célula da Seção 7. Três amigos escolhem o filme, decidindo cada par por maioria. Ação vence Comédia, Comédia vence Terror e Terror vence Ação, todos por 2 × 1.
A preferência do grupo anda em círculo, mesmo que a preferência de CADA pessoa seja coerente. Consequência prática: quem define a ordem das votações (a 'pauta') pode definir o resultado. Isso vale para comitês, assembleias e agentes que votam.
Condorcet (1785).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7 (cerca de 25 min). Mensagem do bloco: os conceitos clássicos voltam com nomes novos. Quem entendeu BDI, Contract Net e FIPA entende LangGraph, AutoGen, MCP e A2A muito mais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e correspondências (5 min). Notebook: Seção 8.1.
O ciclo ReAct (Reason + Act; Yao et al., 2023): o modelo alterna pensamento ('preciso saber o status do pedido'), ação (chamar a ferramenta rastrear_pedido) e observação (ler o resultado), até concluir a tarefa. É o laço perceber → deliberar → agir da aula, com um LLM no lugar das regras.
Percorra a tabela. Destaque a última linha: a pergunta 'quando reconsiderar?' de Kinny e Georgeff volta como 'quando replanejar?', e agora cada replanejamento é uma chamada paga ao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Padrões (4 min). Notebook: Seção 8.2. Fontes: Anthropic (2024), 'Building effective agents', e o AutoGen (Wu et al., 2023).
Relacione com o que já vimos: o roteamento e o orquestrador-trabalhadores são o Contract Net com outro nome; o debate lembra a votação. Du et al. (2024) mostraram que o debate entre modelos melhora a precisão em raciocínio e fatos. MetaGPT (Hong et al., 2024) e ChatDev (Qian et al., 2024) simulam uma empresa de software com papéis.
Simulação social: em Generative Agents (Park et al., 2023), 25 personagens com memória organizaram sozinhos uma festa de Dia dos Namorados.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Atendimento multiagente (6 min). Notebook: Seção 8.3. Os 'LLMs' são simulados com regras de palavras-chave, para rodar sem chave de API e sem custo; a ESTRUTURA é a de um sistema real.
Percorra o rastro da célula: chamado 1 (onde está o pedido): logística resolve. Chamado 2 (cobrança dupla): estorno de R$ 89,90. Chamado 3 (reembolso de um notebook de R$ 3.499): o guardrail de R$ 200 manda para um humano. Chamado 4 (app trava): técnico. Chamado 5 (produto errado): logística diz que é com o financeiro, o financeiro diz que é com a logística... a 'batata quente'. Depois de 3 encaminhamentos, o orquestrador escala para um humano. Total: 16 mensagens.
A batata quente é uma falha típica de SMA com LLM (Cemri et al., 2025, catalogam falhas desse tipo): responsabilidade mal definida entre agentes. A solução vem do Contract Net: um responsável claro por tarefa e limite de rodadas.
Notebook, Seção 8.4: como trocar a triagem por uma chamada real a um LLM. Exercício 9 da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usar (4 min). Notebook: Seção 8.5.
Caso real: a Anthropic (2025) descreveu seu sistema de pesquisa multiagente, em que um agente líder cria subagentes que buscam em paralelo. Numa avaliação interna, superou em 90% um agente único, mas consumiu cerca de 15 vezes mais tokens que uma conversa comum. (Confira os números na publicação original antes de citar em prova.)
Regra prática: comece com um agente só. Use vários quando a tarefa se divide em partes independentes e paralelizáveis, quando cada parte precisa de ferramentas ou contexto diferentes, ou quando o contexto não cabe num agente só.
Segurança: um agente que lê um e-mail ou uma página pode receber instruções maliciosas escondidas no texto (prompt injection) e repassá-las aos outros. Trate o que vem de fora como DADO, não como ORDEM.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8 (cerca de 10 min). Se faltar tempo, mostre só o slide de aplicações e deixe as ferramentas como leitura.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Aplicações (5 min). Notebook: Seção 9, com a fonte de cada caso. Peça para cada aluno escolher um cartão e dizer quem são os agentes e qual mecanismo de interação eles usam.
Detalhes, se perguntarem: PowerMatcher (Kok, Warmer e Kamphuis, 2005); a geração solar distribuída no Brasil (Lei 14.300/2022) cria milhares de pequenos produtores. Cruzamentos sem semáforo: Autonomous Intersection Management (Dresner e Stone, 2008). Imperial College: modelo baseado em indivíduos (Ferguson et al., 2020). F.E.A.R. (2005): planejamento GOAP (Orkin, 2006). Manufatura: arquitetura holônica PROSA (Van Brussel et al., 1998) e a linha Production 2000+ da DaimlerChrysler (Bussmann e Schild, 2001).
Outros casos no notebook: tráfego aéreo (OASIS, Ljungberg e Lucas, 1992), Kilobots, RoboCup, Sugarscape, AlphaStar e o esconde-esconde da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Ferramentas (3 min). Notebook: Seção 10, que traz também o lago dos pescadores reescrito no Mesa 3.x.
Recomendação para os alunos: Mesa para simulação baseada em agentes em Python (Kazil, Masad e Crooks, 2020); NetLogo para explorar modelos prontos (Wilensky, 1999); JADE ou SPADE para agentes FIPA; Jason/JaCaMo para BDI de verdade; PettingZoo para aprendizado por reforço multiagente (Terry et al., 2021).
Destaque a pesquisa brasileira: Hübner, Bordini e Sichman são referências internacionais. O WESAAC é uma boa porta de entrada para iniciação científica.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(3 min). Notebook: Seção 13, tabela completa com um exemplo prático para cada conceito.
Volte aos dois princípios que atravessaram a aula: (1) o mecanismo de interação molda o comportamento dos agentes (cartão 3); (2) o comportamento do grupo não é a soma das intenções individuais (cartão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Discussão (10 min ou como tarefa). Notebook: Seção 13, 'Perguntas para discussão'. Sugestão: divida a turma em seis grupos, um por pergunta, e peça 2 minutos de resposta de cada grupo.
As perguntas 4 e 6 rendem bom debate ético: conluio algorítmico e responsabilidade de agentes autônomos.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Exercícios (2 min). Notebook: Seção 14 (enunciados completos) e a lista separada Exercicios_Sistemas_Multiagentes.ipynb.
Sugestão de uso: exercícios 1 a 5 como fixação; 6 a 10 como projeto em dupla, porque estendem as simulações da aula. O 9 exige uma chave de API de algum provedor de LLM; quem não tiver pode fazer o 10 (Mesa).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Referências. A lista completa, com mais de 100 referências organizadas por tema, está na Seção 15 do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31520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520440"/>
            <a:ext cx="7315200" cy="5486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4114800"/>
            <a:ext cx="7315200" cy="45720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A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2743200" cy="1097280"/>
          </a:xfrm>
          <a:prstGeom prst="rect">
            <a:avLst/>
          </a:prstGeom>
          <a:noFill/>
          <a:ln/>
        </p:spPr>
        <p:txBody>
          <a:bodyPr wrap="square" rtlCol="0"/>
          <a:lstStyle>
            <a:lvl1pPr indent="0" marL="0">
              <a:buNone/>
              <a:defRPr lang="en-US" sz="7200" b="1" dirty="0">
                <a:solidFill>
                  <a:schemeClr val="accent1"/>
                </a:solidFill>
              </a:defRPr>
            </a:lvl1pPr>
          </a:lstStyle>
          <a:p>
            <a:pPr indent="0" marL="0">
              <a:buNone/>
            </a:pPr>
            <a:endParaRPr lang="en-US" sz="7200" dirty="0"/>
          </a:p>
        </p:txBody>
      </p:sp>
      <p:sp>
        <p:nvSpPr>
          <p:cNvPr id="3" name="Text 0"/>
          <p:cNvSpPr/>
          <p:nvPr>
            <p:ph idx="101" type="title" hasCustomPrompt="1"/>
          </p:nvPr>
        </p:nvSpPr>
        <p:spPr>
          <a:xfrm>
            <a:off x="731520" y="2697480"/>
            <a:ext cx="67665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343400"/>
            <a:ext cx="6400800" cy="91440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U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Aula 10 · Sistemas Multiagentes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Aula 10 · Sistemas Multiagentes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33-1.png"/><Relationship Id="rId3" Type="http://schemas.openxmlformats.org/officeDocument/2006/relationships/image" Target="../media/image-33-2.png"/><Relationship Id="rId4" Type="http://schemas.openxmlformats.org/officeDocument/2006/relationships/image" Target="../media/image-33-3.png"/><Relationship Id="rId5" Type="http://schemas.openxmlformats.org/officeDocument/2006/relationships/image" Target="../media/image-33-4.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4.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38-1.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4.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slideLayout" Target="../slideLayouts/slideLayout4.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2011680"/>
            <a:ext cx="7315200" cy="1371600"/>
          </a:xfrm>
          <a:prstGeom prst="rect">
            <a:avLst/>
          </a:prstGeom>
          <a:noFill/>
          <a:ln/>
        </p:spPr>
        <p:txBody>
          <a:bodyPr wrap="square" lIns="0" tIns="0" rIns="0" bIns="0" rtlCol="0" anchor="b"/>
          <a:lstStyle/>
          <a:p>
            <a:pPr algn="l" indent="0" marL="0">
              <a:buNone/>
            </a:pPr>
            <a:r>
              <a:rPr lang="en-US" sz="5400" b="1" dirty="0">
                <a:solidFill>
                  <a:schemeClr val="bg1"/>
                </a:solidFill>
              </a:rPr>
              <a:t>Sistemas Multiagentes</a:t>
            </a:r>
            <a:endParaRPr lang="en-US" sz="5400" dirty="0"/>
          </a:p>
        </p:txBody>
      </p:sp>
      <p:sp>
        <p:nvSpPr>
          <p:cNvPr id="4" name="Text 0"/>
          <p:cNvSpPr/>
          <p:nvPr>
            <p:ph idx="101" type="body" hasCustomPrompt="1"/>
          </p:nvPr>
        </p:nvSpPr>
        <p:spPr>
          <a:xfrm>
            <a:off x="731520" y="3520440"/>
            <a:ext cx="7315200" cy="548640"/>
          </a:xfrm>
          <a:prstGeom prst="rect">
            <a:avLst/>
          </a:prstGeom>
          <a:noFill/>
          <a:ln/>
        </p:spPr>
        <p:txBody>
          <a:bodyPr wrap="square" lIns="0" tIns="0" rIns="0" bIns="0" rtlCol="0"/>
          <a:lstStyle/>
          <a:p>
            <a:pPr indent="0" marL="0">
              <a:buNone/>
            </a:pPr>
            <a:r>
              <a:rPr lang="en-US" sz="2200" dirty="0">
                <a:solidFill>
                  <a:schemeClr val="bg2"/>
                </a:solidFill>
              </a:rPr>
              <a:t>Inteligência Artificial · Ciência da Computação · Aula 10</a:t>
            </a:r>
            <a:endParaRPr lang="en-US" sz="2200" dirty="0"/>
          </a:p>
        </p:txBody>
      </p:sp>
      <p:sp>
        <p:nvSpPr>
          <p:cNvPr id="5" name="Text 0"/>
          <p:cNvSpPr/>
          <p:nvPr>
            <p:ph idx="102" type="body" hasCustomPrompt="1"/>
          </p:nvPr>
        </p:nvSpPr>
        <p:spPr>
          <a:xfrm>
            <a:off x="731520" y="4114800"/>
            <a:ext cx="7315200" cy="457200"/>
          </a:xfrm>
          <a:prstGeom prst="rect">
            <a:avLst/>
          </a:prstGeom>
          <a:noFill/>
          <a:ln/>
        </p:spPr>
        <p:txBody>
          <a:bodyPr wrap="square" lIns="0" tIns="0" rIns="0" bIns="0" rtlCol="0"/>
          <a:lstStyle/>
          <a:p>
            <a:pPr indent="0" marL="0">
              <a:buNone/>
            </a:pPr>
            <a:r>
              <a:rPr lang="en-US" sz="1800" dirty="0">
                <a:solidFill>
                  <a:schemeClr val="accent3"/>
                </a:solidFill>
              </a:rPr>
              <a:t>Prof. Luis Caparroz</a:t>
            </a:r>
            <a:endParaRPr lang="en-US" sz="1800" dirty="0"/>
          </a:p>
        </p:txBody>
      </p:sp>
      <p:sp>
        <p:nvSpPr>
          <p:cNvPr id="6" name="Shape 3"/>
          <p:cNvSpPr/>
          <p:nvPr/>
        </p:nvSpPr>
        <p:spPr>
          <a:xfrm flipV="1">
            <a:off x="8500262" y="1547165"/>
            <a:ext cx="811987" cy="1209751"/>
          </a:xfrm>
          <a:prstGeom prst="line">
            <a:avLst/>
          </a:prstGeom>
          <a:noFill/>
          <a:ln w="19050">
            <a:solidFill>
              <a:schemeClr val="accent6"/>
            </a:solidFill>
            <a:prstDash val="solid"/>
          </a:ln>
        </p:spPr>
      </p:sp>
      <p:sp>
        <p:nvSpPr>
          <p:cNvPr id="7" name="Shape 4"/>
          <p:cNvSpPr/>
          <p:nvPr/>
        </p:nvSpPr>
        <p:spPr>
          <a:xfrm>
            <a:off x="9312250" y="1547165"/>
            <a:ext cx="778154" cy="1344168"/>
          </a:xfrm>
          <a:prstGeom prst="line">
            <a:avLst/>
          </a:prstGeom>
          <a:noFill/>
          <a:ln w="19050">
            <a:solidFill>
              <a:schemeClr val="accent6"/>
            </a:solidFill>
            <a:prstDash val="solid"/>
          </a:ln>
        </p:spPr>
      </p:sp>
      <p:sp>
        <p:nvSpPr>
          <p:cNvPr id="8" name="Shape 5"/>
          <p:cNvSpPr/>
          <p:nvPr/>
        </p:nvSpPr>
        <p:spPr>
          <a:xfrm flipV="1">
            <a:off x="10090404" y="1726387"/>
            <a:ext cx="1048817" cy="1164946"/>
          </a:xfrm>
          <a:prstGeom prst="line">
            <a:avLst/>
          </a:prstGeom>
          <a:noFill/>
          <a:ln w="19050">
            <a:solidFill>
              <a:schemeClr val="accent6"/>
            </a:solidFill>
            <a:prstDash val="solid"/>
          </a:ln>
        </p:spPr>
      </p:sp>
      <p:sp>
        <p:nvSpPr>
          <p:cNvPr id="9" name="Shape 6"/>
          <p:cNvSpPr/>
          <p:nvPr/>
        </p:nvSpPr>
        <p:spPr>
          <a:xfrm>
            <a:off x="8500262" y="2756916"/>
            <a:ext cx="676656" cy="1388974"/>
          </a:xfrm>
          <a:prstGeom prst="line">
            <a:avLst/>
          </a:prstGeom>
          <a:noFill/>
          <a:ln w="19050">
            <a:solidFill>
              <a:schemeClr val="accent6"/>
            </a:solidFill>
            <a:prstDash val="solid"/>
          </a:ln>
        </p:spPr>
      </p:sp>
      <p:sp>
        <p:nvSpPr>
          <p:cNvPr id="10" name="Shape 7"/>
          <p:cNvSpPr/>
          <p:nvPr/>
        </p:nvSpPr>
        <p:spPr>
          <a:xfrm flipV="1">
            <a:off x="9176918" y="2891333"/>
            <a:ext cx="913486" cy="1254557"/>
          </a:xfrm>
          <a:prstGeom prst="line">
            <a:avLst/>
          </a:prstGeom>
          <a:noFill/>
          <a:ln w="19050">
            <a:solidFill>
              <a:schemeClr val="accent6"/>
            </a:solidFill>
            <a:prstDash val="solid"/>
          </a:ln>
        </p:spPr>
      </p:sp>
      <p:sp>
        <p:nvSpPr>
          <p:cNvPr id="11" name="Shape 8"/>
          <p:cNvSpPr/>
          <p:nvPr/>
        </p:nvSpPr>
        <p:spPr>
          <a:xfrm>
            <a:off x="10090404" y="2891333"/>
            <a:ext cx="439826" cy="1523390"/>
          </a:xfrm>
          <a:prstGeom prst="line">
            <a:avLst/>
          </a:prstGeom>
          <a:noFill/>
          <a:ln w="19050">
            <a:solidFill>
              <a:schemeClr val="accent6"/>
            </a:solidFill>
            <a:prstDash val="solid"/>
          </a:ln>
        </p:spPr>
      </p:sp>
      <p:sp>
        <p:nvSpPr>
          <p:cNvPr id="12" name="Shape 9"/>
          <p:cNvSpPr/>
          <p:nvPr/>
        </p:nvSpPr>
        <p:spPr>
          <a:xfrm flipV="1">
            <a:off x="10530230" y="3429000"/>
            <a:ext cx="913486" cy="985723"/>
          </a:xfrm>
          <a:prstGeom prst="line">
            <a:avLst/>
          </a:prstGeom>
          <a:noFill/>
          <a:ln w="19050">
            <a:solidFill>
              <a:schemeClr val="accent6"/>
            </a:solidFill>
            <a:prstDash val="solid"/>
          </a:ln>
        </p:spPr>
      </p:sp>
      <p:sp>
        <p:nvSpPr>
          <p:cNvPr id="13" name="Shape 10"/>
          <p:cNvSpPr/>
          <p:nvPr/>
        </p:nvSpPr>
        <p:spPr>
          <a:xfrm>
            <a:off x="11139221" y="1726387"/>
            <a:ext cx="304495" cy="1702613"/>
          </a:xfrm>
          <a:prstGeom prst="line">
            <a:avLst/>
          </a:prstGeom>
          <a:noFill/>
          <a:ln w="19050">
            <a:solidFill>
              <a:schemeClr val="accent6"/>
            </a:solidFill>
            <a:prstDash val="solid"/>
          </a:ln>
        </p:spPr>
      </p:sp>
      <p:sp>
        <p:nvSpPr>
          <p:cNvPr id="14" name="Shape 11"/>
          <p:cNvSpPr/>
          <p:nvPr/>
        </p:nvSpPr>
        <p:spPr>
          <a:xfrm>
            <a:off x="9176918" y="4145890"/>
            <a:ext cx="744322" cy="1388974"/>
          </a:xfrm>
          <a:prstGeom prst="line">
            <a:avLst/>
          </a:prstGeom>
          <a:noFill/>
          <a:ln w="19050">
            <a:solidFill>
              <a:schemeClr val="accent6"/>
            </a:solidFill>
            <a:prstDash val="solid"/>
          </a:ln>
        </p:spPr>
      </p:sp>
      <p:sp>
        <p:nvSpPr>
          <p:cNvPr id="15" name="Shape 12"/>
          <p:cNvSpPr/>
          <p:nvPr/>
        </p:nvSpPr>
        <p:spPr>
          <a:xfrm flipH="1">
            <a:off x="9921240" y="4414723"/>
            <a:ext cx="608990" cy="1120140"/>
          </a:xfrm>
          <a:prstGeom prst="line">
            <a:avLst/>
          </a:prstGeom>
          <a:noFill/>
          <a:ln w="19050">
            <a:solidFill>
              <a:schemeClr val="accent6"/>
            </a:solidFill>
            <a:prstDash val="solid"/>
          </a:ln>
        </p:spPr>
      </p:sp>
      <p:sp>
        <p:nvSpPr>
          <p:cNvPr id="16" name="Shape 13"/>
          <p:cNvSpPr/>
          <p:nvPr/>
        </p:nvSpPr>
        <p:spPr>
          <a:xfrm flipH="1">
            <a:off x="8432597" y="4145890"/>
            <a:ext cx="744322" cy="1164946"/>
          </a:xfrm>
          <a:prstGeom prst="line">
            <a:avLst/>
          </a:prstGeom>
          <a:noFill/>
          <a:ln w="19050">
            <a:solidFill>
              <a:schemeClr val="accent6"/>
            </a:solidFill>
            <a:prstDash val="solid"/>
          </a:ln>
        </p:spPr>
      </p:sp>
      <p:sp>
        <p:nvSpPr>
          <p:cNvPr id="17" name="Shape 14"/>
          <p:cNvSpPr/>
          <p:nvPr/>
        </p:nvSpPr>
        <p:spPr>
          <a:xfrm>
            <a:off x="9312250" y="1547165"/>
            <a:ext cx="1826971" cy="179222"/>
          </a:xfrm>
          <a:prstGeom prst="line">
            <a:avLst/>
          </a:prstGeom>
          <a:noFill/>
          <a:ln w="19050">
            <a:solidFill>
              <a:schemeClr val="accent6"/>
            </a:solidFill>
            <a:prstDash val="solid"/>
          </a:ln>
        </p:spPr>
      </p:sp>
      <p:sp>
        <p:nvSpPr>
          <p:cNvPr id="18" name="Shape 15"/>
          <p:cNvSpPr/>
          <p:nvPr/>
        </p:nvSpPr>
        <p:spPr>
          <a:xfrm>
            <a:off x="8308238" y="2564892"/>
            <a:ext cx="384048" cy="384048"/>
          </a:xfrm>
          <a:prstGeom prst="ellipse">
            <a:avLst/>
          </a:prstGeom>
          <a:solidFill>
            <a:schemeClr val="accent2"/>
          </a:solidFill>
          <a:ln w="38100">
            <a:solidFill>
              <a:schemeClr val="tx2"/>
            </a:solidFill>
            <a:prstDash val="solid"/>
          </a:ln>
        </p:spPr>
      </p:sp>
      <p:sp>
        <p:nvSpPr>
          <p:cNvPr id="19" name="Shape 16"/>
          <p:cNvSpPr/>
          <p:nvPr/>
        </p:nvSpPr>
        <p:spPr>
          <a:xfrm>
            <a:off x="9175090" y="1410005"/>
            <a:ext cx="274320" cy="274320"/>
          </a:xfrm>
          <a:prstGeom prst="ellipse">
            <a:avLst/>
          </a:prstGeom>
          <a:solidFill>
            <a:schemeClr val="accent3"/>
          </a:solidFill>
          <a:ln w="38100">
            <a:solidFill>
              <a:schemeClr val="tx2"/>
            </a:solidFill>
            <a:prstDash val="solid"/>
          </a:ln>
        </p:spPr>
      </p:sp>
      <p:sp>
        <p:nvSpPr>
          <p:cNvPr id="20" name="Shape 17"/>
          <p:cNvSpPr/>
          <p:nvPr/>
        </p:nvSpPr>
        <p:spPr>
          <a:xfrm>
            <a:off x="9806940" y="2607869"/>
            <a:ext cx="566928" cy="566928"/>
          </a:xfrm>
          <a:prstGeom prst="ellipse">
            <a:avLst/>
          </a:prstGeom>
          <a:solidFill>
            <a:schemeClr val="accent1"/>
          </a:solidFill>
          <a:ln w="38100">
            <a:solidFill>
              <a:schemeClr val="tx2"/>
            </a:solidFill>
            <a:prstDash val="solid"/>
          </a:ln>
        </p:spPr>
      </p:sp>
      <p:sp>
        <p:nvSpPr>
          <p:cNvPr id="21" name="Shape 18"/>
          <p:cNvSpPr/>
          <p:nvPr/>
        </p:nvSpPr>
        <p:spPr>
          <a:xfrm>
            <a:off x="10974629" y="1561795"/>
            <a:ext cx="329184" cy="329184"/>
          </a:xfrm>
          <a:prstGeom prst="ellipse">
            <a:avLst/>
          </a:prstGeom>
          <a:solidFill>
            <a:schemeClr val="accent2"/>
          </a:solidFill>
          <a:ln w="38100">
            <a:solidFill>
              <a:schemeClr val="tx2"/>
            </a:solidFill>
            <a:prstDash val="solid"/>
          </a:ln>
        </p:spPr>
      </p:sp>
      <p:sp>
        <p:nvSpPr>
          <p:cNvPr id="22" name="Shape 19"/>
          <p:cNvSpPr/>
          <p:nvPr/>
        </p:nvSpPr>
        <p:spPr>
          <a:xfrm>
            <a:off x="8948318" y="3917290"/>
            <a:ext cx="457200" cy="457200"/>
          </a:xfrm>
          <a:prstGeom prst="ellipse">
            <a:avLst/>
          </a:prstGeom>
          <a:solidFill>
            <a:schemeClr val="bg1"/>
          </a:solidFill>
          <a:ln w="38100">
            <a:solidFill>
              <a:schemeClr val="tx2"/>
            </a:solidFill>
            <a:prstDash val="solid"/>
          </a:ln>
        </p:spPr>
      </p:sp>
      <p:sp>
        <p:nvSpPr>
          <p:cNvPr id="23" name="Shape 20"/>
          <p:cNvSpPr/>
          <p:nvPr/>
        </p:nvSpPr>
        <p:spPr>
          <a:xfrm>
            <a:off x="10347350" y="4231843"/>
            <a:ext cx="365760" cy="365760"/>
          </a:xfrm>
          <a:prstGeom prst="ellipse">
            <a:avLst/>
          </a:prstGeom>
          <a:solidFill>
            <a:schemeClr val="accent3"/>
          </a:solidFill>
          <a:ln w="38100">
            <a:solidFill>
              <a:schemeClr val="tx2"/>
            </a:solidFill>
            <a:prstDash val="solid"/>
          </a:ln>
        </p:spPr>
      </p:sp>
      <p:sp>
        <p:nvSpPr>
          <p:cNvPr id="24" name="Shape 21"/>
          <p:cNvSpPr/>
          <p:nvPr/>
        </p:nvSpPr>
        <p:spPr>
          <a:xfrm>
            <a:off x="11315700" y="3300984"/>
            <a:ext cx="256032" cy="256032"/>
          </a:xfrm>
          <a:prstGeom prst="ellipse">
            <a:avLst/>
          </a:prstGeom>
          <a:solidFill>
            <a:schemeClr val="accent1"/>
          </a:solidFill>
          <a:ln w="38100">
            <a:solidFill>
              <a:schemeClr val="tx2"/>
            </a:solidFill>
            <a:prstDash val="solid"/>
          </a:ln>
        </p:spPr>
      </p:sp>
      <p:sp>
        <p:nvSpPr>
          <p:cNvPr id="25" name="Shape 22"/>
          <p:cNvSpPr/>
          <p:nvPr/>
        </p:nvSpPr>
        <p:spPr>
          <a:xfrm>
            <a:off x="9765792" y="5379415"/>
            <a:ext cx="310896" cy="310896"/>
          </a:xfrm>
          <a:prstGeom prst="ellipse">
            <a:avLst/>
          </a:prstGeom>
          <a:solidFill>
            <a:schemeClr val="accent2"/>
          </a:solidFill>
          <a:ln w="38100">
            <a:solidFill>
              <a:schemeClr val="tx2"/>
            </a:solidFill>
            <a:prstDash val="solid"/>
          </a:ln>
        </p:spPr>
      </p:sp>
      <p:sp>
        <p:nvSpPr>
          <p:cNvPr id="26" name="Shape 23"/>
          <p:cNvSpPr/>
          <p:nvPr/>
        </p:nvSpPr>
        <p:spPr>
          <a:xfrm>
            <a:off x="8313725" y="5191963"/>
            <a:ext cx="237744" cy="237744"/>
          </a:xfrm>
          <a:prstGeom prst="ellipse">
            <a:avLst/>
          </a:prstGeom>
          <a:solidFill>
            <a:schemeClr val="accent3"/>
          </a:solidFill>
          <a:ln w="38100">
            <a:solidFill>
              <a:schemeClr val="tx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Ao fim da aula, você será capaz de</a:t>
            </a:r>
            <a:endParaRPr lang="en-US" sz="3400" dirty="0"/>
          </a:p>
        </p:txBody>
      </p:sp>
      <p:sp>
        <p:nvSpPr>
          <p:cNvPr id="4" name="Text 1"/>
          <p:cNvSpPr/>
          <p:nvPr/>
        </p:nvSpPr>
        <p:spPr>
          <a:xfrm>
            <a:off x="548640" y="150876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2"/>
          <p:cNvSpPr txBox="1"/>
          <p:nvPr/>
        </p:nvSpPr>
        <p:spPr>
          <a:xfrm>
            <a:off x="1325880" y="1463040"/>
            <a:ext cx="4572000" cy="914400"/>
          </a:xfrm>
          <a:prstGeom prst="rect">
            <a:avLst/>
          </a:prstGeom>
          <a:noFill/>
          <a:ln/>
        </p:spPr>
        <p:txBody>
          <a:bodyPr wrap="square" lIns="0" tIns="0" rIns="0" bIns="0" rtlCol="0" anchor="t"/>
          <a:lstStyle/>
          <a:p>
            <a:pPr indent="0" marL="0">
              <a:buNone/>
            </a:pPr>
            <a:r>
              <a:rPr lang="en-US" sz="1700" b="1" dirty="0">
                <a:solidFill>
                  <a:schemeClr val="tx2"/>
                </a:solidFill>
              </a:rPr>
              <a:t>Definir </a:t>
            </a:r>
            <a:pPr indent="0" marL="0">
              <a:buNone/>
            </a:pPr>
            <a:r>
              <a:rPr lang="en-US" sz="1700" dirty="0">
                <a:solidFill>
                  <a:schemeClr val="tx1"/>
                </a:solidFill>
              </a:rPr>
              <a:t>agente e sistema multiagente, e diferenciar agente de objeto</a:t>
            </a:r>
            <a:endParaRPr lang="en-US" sz="1700" dirty="0"/>
          </a:p>
        </p:txBody>
      </p:sp>
      <p:sp>
        <p:nvSpPr>
          <p:cNvPr id="6" name="Text 3"/>
          <p:cNvSpPr/>
          <p:nvPr/>
        </p:nvSpPr>
        <p:spPr>
          <a:xfrm>
            <a:off x="548640" y="2679192"/>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4"/>
          <p:cNvSpPr txBox="1"/>
          <p:nvPr/>
        </p:nvSpPr>
        <p:spPr>
          <a:xfrm>
            <a:off x="1325880" y="2633472"/>
            <a:ext cx="4572000" cy="914400"/>
          </a:xfrm>
          <a:prstGeom prst="rect">
            <a:avLst/>
          </a:prstGeom>
          <a:noFill/>
          <a:ln/>
        </p:spPr>
        <p:txBody>
          <a:bodyPr wrap="square" lIns="0" tIns="0" rIns="0" bIns="0" rtlCol="0" anchor="t"/>
          <a:lstStyle/>
          <a:p>
            <a:pPr indent="0" marL="0">
              <a:buNone/>
            </a:pPr>
            <a:r>
              <a:rPr lang="en-US" sz="1700" b="1" dirty="0">
                <a:solidFill>
                  <a:schemeClr val="tx2"/>
                </a:solidFill>
              </a:rPr>
              <a:t>Descrever </a:t>
            </a:r>
            <a:pPr indent="0" marL="0">
              <a:buNone/>
            </a:pPr>
            <a:r>
              <a:rPr lang="en-US" sz="1700" dirty="0">
                <a:solidFill>
                  <a:schemeClr val="tx1"/>
                </a:solidFill>
              </a:rPr>
              <a:t>um agente pelo PEAS e classificar o seu ambiente</a:t>
            </a:r>
            <a:endParaRPr lang="en-US" sz="1700" dirty="0"/>
          </a:p>
        </p:txBody>
      </p:sp>
      <p:sp>
        <p:nvSpPr>
          <p:cNvPr id="8" name="Text 5"/>
          <p:cNvSpPr/>
          <p:nvPr/>
        </p:nvSpPr>
        <p:spPr>
          <a:xfrm>
            <a:off x="548640" y="3849624"/>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6"/>
          <p:cNvSpPr txBox="1"/>
          <p:nvPr/>
        </p:nvSpPr>
        <p:spPr>
          <a:xfrm>
            <a:off x="1325880" y="3803904"/>
            <a:ext cx="4572000" cy="914400"/>
          </a:xfrm>
          <a:prstGeom prst="rect">
            <a:avLst/>
          </a:prstGeom>
          <a:noFill/>
          <a:ln/>
        </p:spPr>
        <p:txBody>
          <a:bodyPr wrap="square" lIns="0" tIns="0" rIns="0" bIns="0" rtlCol="0" anchor="t"/>
          <a:lstStyle/>
          <a:p>
            <a:pPr indent="0" marL="0">
              <a:buNone/>
            </a:pPr>
            <a:r>
              <a:rPr lang="en-US" sz="1700" b="1" dirty="0">
                <a:solidFill>
                  <a:schemeClr val="tx2"/>
                </a:solidFill>
              </a:rPr>
              <a:t>Comparar </a:t>
            </a:r>
            <a:pPr indent="0" marL="0">
              <a:buNone/>
            </a:pPr>
            <a:r>
              <a:rPr lang="en-US" sz="1700" dirty="0">
                <a:solidFill>
                  <a:schemeClr val="tx1"/>
                </a:solidFill>
              </a:rPr>
              <a:t>arquiteturas: reativa, com modelo, BDI e híbrida</a:t>
            </a:r>
            <a:endParaRPr lang="en-US" sz="1700" dirty="0"/>
          </a:p>
        </p:txBody>
      </p:sp>
      <p:sp>
        <p:nvSpPr>
          <p:cNvPr id="10" name="Text 7"/>
          <p:cNvSpPr/>
          <p:nvPr/>
        </p:nvSpPr>
        <p:spPr>
          <a:xfrm>
            <a:off x="548640" y="5020056"/>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1" name="Text 8"/>
          <p:cNvSpPr txBox="1"/>
          <p:nvPr/>
        </p:nvSpPr>
        <p:spPr>
          <a:xfrm>
            <a:off x="1325880" y="4974336"/>
            <a:ext cx="4572000" cy="914400"/>
          </a:xfrm>
          <a:prstGeom prst="rect">
            <a:avLst/>
          </a:prstGeom>
          <a:noFill/>
          <a:ln/>
        </p:spPr>
        <p:txBody>
          <a:bodyPr wrap="square" lIns="0" tIns="0" rIns="0" bIns="0" rtlCol="0" anchor="t"/>
          <a:lstStyle/>
          <a:p>
            <a:pPr indent="0" marL="0">
              <a:buNone/>
            </a:pPr>
            <a:r>
              <a:rPr lang="en-US" sz="1700" b="1" dirty="0">
                <a:solidFill>
                  <a:schemeClr val="tx2"/>
                </a:solidFill>
              </a:rPr>
              <a:t>Explicar </a:t>
            </a:r>
            <a:pPr indent="0" marL="0">
              <a:buNone/>
            </a:pPr>
            <a:r>
              <a:rPr lang="en-US" sz="1700" dirty="0">
                <a:solidFill>
                  <a:schemeClr val="tx1"/>
                </a:solidFill>
              </a:rPr>
              <a:t>como agentes se comunicam: FIPA ACL, JSON, MCP e A2A</a:t>
            </a:r>
            <a:endParaRPr lang="en-US" sz="1700" dirty="0"/>
          </a:p>
        </p:txBody>
      </p:sp>
      <p:sp>
        <p:nvSpPr>
          <p:cNvPr id="12" name="Text 9"/>
          <p:cNvSpPr/>
          <p:nvPr/>
        </p:nvSpPr>
        <p:spPr>
          <a:xfrm>
            <a:off x="6263640" y="15087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Text 10"/>
          <p:cNvSpPr txBox="1"/>
          <p:nvPr/>
        </p:nvSpPr>
        <p:spPr>
          <a:xfrm>
            <a:off x="7040880" y="1463040"/>
            <a:ext cx="4572000" cy="914400"/>
          </a:xfrm>
          <a:prstGeom prst="rect">
            <a:avLst/>
          </a:prstGeom>
          <a:noFill/>
          <a:ln/>
        </p:spPr>
        <p:txBody>
          <a:bodyPr wrap="square" lIns="0" tIns="0" rIns="0" bIns="0" rtlCol="0" anchor="t"/>
          <a:lstStyle/>
          <a:p>
            <a:pPr indent="0" marL="0">
              <a:buNone/>
            </a:pPr>
            <a:r>
              <a:rPr lang="en-US" sz="1700" b="1" dirty="0">
                <a:solidFill>
                  <a:schemeClr val="tx2"/>
                </a:solidFill>
              </a:rPr>
              <a:t>Aplicar </a:t>
            </a:r>
            <a:pPr indent="0" marL="0">
              <a:buNone/>
            </a:pPr>
            <a:r>
              <a:rPr lang="en-US" sz="1700" dirty="0">
                <a:solidFill>
                  <a:schemeClr val="tx1"/>
                </a:solidFill>
              </a:rPr>
              <a:t>Contract Net e leilões a problemas reais</a:t>
            </a:r>
            <a:endParaRPr lang="en-US" sz="1700" dirty="0"/>
          </a:p>
        </p:txBody>
      </p:sp>
      <p:sp>
        <p:nvSpPr>
          <p:cNvPr id="14" name="Text 11"/>
          <p:cNvSpPr/>
          <p:nvPr/>
        </p:nvSpPr>
        <p:spPr>
          <a:xfrm>
            <a:off x="6263640" y="2679192"/>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5" name="Text 12"/>
          <p:cNvSpPr txBox="1"/>
          <p:nvPr/>
        </p:nvSpPr>
        <p:spPr>
          <a:xfrm>
            <a:off x="7040880" y="2633472"/>
            <a:ext cx="4572000" cy="914400"/>
          </a:xfrm>
          <a:prstGeom prst="rect">
            <a:avLst/>
          </a:prstGeom>
          <a:noFill/>
          <a:ln/>
        </p:spPr>
        <p:txBody>
          <a:bodyPr wrap="square" lIns="0" tIns="0" rIns="0" bIns="0" rtlCol="0" anchor="t"/>
          <a:lstStyle/>
          <a:p>
            <a:pPr indent="0" marL="0">
              <a:buNone/>
            </a:pPr>
            <a:r>
              <a:rPr lang="en-US" sz="1700" b="1" dirty="0">
                <a:solidFill>
                  <a:schemeClr val="tx2"/>
                </a:solidFill>
              </a:rPr>
              <a:t>Analisar </a:t>
            </a:r>
            <a:pPr indent="0" marL="0">
              <a:buNone/>
            </a:pPr>
            <a:r>
              <a:rPr lang="en-US" sz="1700" dirty="0">
                <a:solidFill>
                  <a:schemeClr val="tx1"/>
                </a:solidFill>
              </a:rPr>
              <a:t>dilemas de cooperação com teoria dos jogos</a:t>
            </a:r>
            <a:endParaRPr lang="en-US" sz="1700" dirty="0"/>
          </a:p>
        </p:txBody>
      </p:sp>
      <p:sp>
        <p:nvSpPr>
          <p:cNvPr id="16" name="Text 13"/>
          <p:cNvSpPr/>
          <p:nvPr/>
        </p:nvSpPr>
        <p:spPr>
          <a:xfrm>
            <a:off x="6263640" y="3849624"/>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17" name="Text 14"/>
          <p:cNvSpPr txBox="1"/>
          <p:nvPr/>
        </p:nvSpPr>
        <p:spPr>
          <a:xfrm>
            <a:off x="7040880" y="3803904"/>
            <a:ext cx="4572000" cy="914400"/>
          </a:xfrm>
          <a:prstGeom prst="rect">
            <a:avLst/>
          </a:prstGeom>
          <a:noFill/>
          <a:ln/>
        </p:spPr>
        <p:txBody>
          <a:bodyPr wrap="square" lIns="0" tIns="0" rIns="0" bIns="0" rtlCol="0" anchor="t"/>
          <a:lstStyle/>
          <a:p>
            <a:pPr indent="0" marL="0">
              <a:buNone/>
            </a:pPr>
            <a:r>
              <a:rPr lang="en-US" sz="1700" b="1" dirty="0">
                <a:solidFill>
                  <a:schemeClr val="tx2"/>
                </a:solidFill>
              </a:rPr>
              <a:t>Reconhecer </a:t>
            </a:r>
            <a:pPr indent="0" marL="0">
              <a:buNone/>
            </a:pPr>
            <a:r>
              <a:rPr lang="en-US" sz="1700" dirty="0">
                <a:solidFill>
                  <a:schemeClr val="tx1"/>
                </a:solidFill>
              </a:rPr>
              <a:t>comportamento emergente e por que ele surpreende</a:t>
            </a:r>
            <a:endParaRPr lang="en-US" sz="1700" dirty="0"/>
          </a:p>
        </p:txBody>
      </p:sp>
      <p:sp>
        <p:nvSpPr>
          <p:cNvPr id="18" name="Text 15"/>
          <p:cNvSpPr/>
          <p:nvPr/>
        </p:nvSpPr>
        <p:spPr>
          <a:xfrm>
            <a:off x="6263640" y="5020056"/>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19" name="Text 16"/>
          <p:cNvSpPr txBox="1"/>
          <p:nvPr/>
        </p:nvSpPr>
        <p:spPr>
          <a:xfrm>
            <a:off x="7040880" y="4974336"/>
            <a:ext cx="4572000" cy="914400"/>
          </a:xfrm>
          <a:prstGeom prst="rect">
            <a:avLst/>
          </a:prstGeom>
          <a:noFill/>
          <a:ln/>
        </p:spPr>
        <p:txBody>
          <a:bodyPr wrap="square" lIns="0" tIns="0" rIns="0" bIns="0" rtlCol="0" anchor="t"/>
          <a:lstStyle/>
          <a:p>
            <a:pPr indent="0" marL="0">
              <a:buNone/>
            </a:pPr>
            <a:r>
              <a:rPr lang="en-US" sz="1700" b="1" dirty="0">
                <a:solidFill>
                  <a:schemeClr val="tx2"/>
                </a:solidFill>
              </a:rPr>
              <a:t>Relacionar </a:t>
            </a:r>
            <a:pPr indent="0" marL="0">
              <a:buNone/>
            </a:pPr>
            <a:r>
              <a:rPr lang="en-US" sz="1700" dirty="0">
                <a:solidFill>
                  <a:schemeClr val="tx1"/>
                </a:solidFill>
              </a:rPr>
              <a:t>os SMA clássicos aos agentes com LLM e seus riscos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Roteiro da aula</a:t>
            </a:r>
            <a:endParaRPr lang="en-US" sz="3400" dirty="0"/>
          </a:p>
        </p:txBody>
      </p:sp>
      <p:sp>
        <p:nvSpPr>
          <p:cNvPr id="4" name="Shape 1"/>
          <p:cNvSpPr/>
          <p:nvPr/>
        </p:nvSpPr>
        <p:spPr>
          <a:xfrm>
            <a:off x="548640" y="1417320"/>
            <a:ext cx="2606040" cy="2194560"/>
          </a:xfrm>
          <a:prstGeom prst="roundRect">
            <a:avLst>
              <a:gd name="adj" fmla="val 3333"/>
            </a:avLst>
          </a:prstGeom>
          <a:solidFill>
            <a:schemeClr val="bg2"/>
          </a:solidFill>
          <a:ln/>
        </p:spPr>
      </p:sp>
      <p:sp>
        <p:nvSpPr>
          <p:cNvPr id="5" name="Shape 2"/>
          <p:cNvSpPr/>
          <p:nvPr/>
        </p:nvSpPr>
        <p:spPr>
          <a:xfrm>
            <a:off x="777240" y="1645920"/>
            <a:ext cx="640080" cy="6400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3"/>
          <p:cNvSpPr txBox="1"/>
          <p:nvPr/>
        </p:nvSpPr>
        <p:spPr>
          <a:xfrm>
            <a:off x="2240280" y="164592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01</a:t>
            </a:r>
            <a:endParaRPr lang="en-US" sz="2600" dirty="0"/>
          </a:p>
        </p:txBody>
      </p:sp>
      <p:sp>
        <p:nvSpPr>
          <p:cNvPr id="8" name="Text 4"/>
          <p:cNvSpPr txBox="1"/>
          <p:nvPr/>
        </p:nvSpPr>
        <p:spPr>
          <a:xfrm>
            <a:off x="777240" y="2423160"/>
            <a:ext cx="2148840" cy="411480"/>
          </a:xfrm>
          <a:prstGeom prst="rect">
            <a:avLst/>
          </a:prstGeom>
          <a:noFill/>
          <a:ln/>
        </p:spPr>
        <p:txBody>
          <a:bodyPr wrap="square" lIns="0" tIns="0" rIns="0" bIns="0" rtlCol="0" anchor="t"/>
          <a:lstStyle/>
          <a:p>
            <a:pPr indent="0" marL="0">
              <a:buNone/>
            </a:pPr>
            <a:r>
              <a:rPr lang="en-US" sz="1800" b="1" dirty="0">
                <a:solidFill>
                  <a:schemeClr val="tx2"/>
                </a:solidFill>
              </a:rPr>
              <a:t>O que são SMA</a:t>
            </a:r>
            <a:endParaRPr lang="en-US" sz="1800" dirty="0"/>
          </a:p>
        </p:txBody>
      </p:sp>
      <p:sp>
        <p:nvSpPr>
          <p:cNvPr id="9" name="Text 5"/>
          <p:cNvSpPr txBox="1"/>
          <p:nvPr/>
        </p:nvSpPr>
        <p:spPr>
          <a:xfrm>
            <a:off x="777240" y="2788920"/>
            <a:ext cx="2148840" cy="457200"/>
          </a:xfrm>
          <a:prstGeom prst="rect">
            <a:avLst/>
          </a:prstGeom>
          <a:noFill/>
          <a:ln/>
        </p:spPr>
        <p:txBody>
          <a:bodyPr wrap="square" lIns="0" tIns="0" rIns="0" bIns="0" rtlCol="0" anchor="t"/>
          <a:lstStyle/>
          <a:p>
            <a:pPr indent="0" marL="0">
              <a:buNone/>
            </a:pPr>
            <a:r>
              <a:rPr lang="en-US" sz="1400" dirty="0">
                <a:solidFill>
                  <a:schemeClr val="tx1"/>
                </a:solidFill>
              </a:rPr>
              <a:t>Onde você já usa SMA sem perceber</a:t>
            </a:r>
            <a:endParaRPr lang="en-US" sz="1400" dirty="0"/>
          </a:p>
        </p:txBody>
      </p:sp>
      <p:sp>
        <p:nvSpPr>
          <p:cNvPr id="10" name="Text 6"/>
          <p:cNvSpPr txBox="1"/>
          <p:nvPr/>
        </p:nvSpPr>
        <p:spPr>
          <a:xfrm>
            <a:off x="777240" y="329184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1</a:t>
            </a:r>
            <a:endParaRPr lang="en-US" sz="1200" dirty="0"/>
          </a:p>
        </p:txBody>
      </p:sp>
      <p:sp>
        <p:nvSpPr>
          <p:cNvPr id="11" name="Shape 7"/>
          <p:cNvSpPr/>
          <p:nvPr/>
        </p:nvSpPr>
        <p:spPr>
          <a:xfrm>
            <a:off x="3367735" y="1417320"/>
            <a:ext cx="2606040" cy="2194560"/>
          </a:xfrm>
          <a:prstGeom prst="roundRect">
            <a:avLst>
              <a:gd name="adj" fmla="val 3333"/>
            </a:avLst>
          </a:prstGeom>
          <a:solidFill>
            <a:schemeClr val="bg2"/>
          </a:solidFill>
          <a:ln/>
        </p:spPr>
      </p:sp>
      <p:sp>
        <p:nvSpPr>
          <p:cNvPr id="12" name="Shape 8"/>
          <p:cNvSpPr/>
          <p:nvPr/>
        </p:nvSpPr>
        <p:spPr>
          <a:xfrm>
            <a:off x="3596335" y="1645920"/>
            <a:ext cx="640080" cy="6400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749954" y="1799539"/>
            <a:ext cx="332842" cy="332842"/>
          </a:xfrm>
          <a:prstGeom prst="rect">
            <a:avLst/>
          </a:prstGeom>
        </p:spPr>
      </p:pic>
      <p:sp>
        <p:nvSpPr>
          <p:cNvPr id="14" name="Text 9"/>
          <p:cNvSpPr txBox="1"/>
          <p:nvPr/>
        </p:nvSpPr>
        <p:spPr>
          <a:xfrm>
            <a:off x="5059375" y="164592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02</a:t>
            </a:r>
            <a:endParaRPr lang="en-US" sz="2600" dirty="0"/>
          </a:p>
        </p:txBody>
      </p:sp>
      <p:sp>
        <p:nvSpPr>
          <p:cNvPr id="15" name="Text 10"/>
          <p:cNvSpPr txBox="1"/>
          <p:nvPr/>
        </p:nvSpPr>
        <p:spPr>
          <a:xfrm>
            <a:off x="3596335" y="2423160"/>
            <a:ext cx="2148840" cy="411480"/>
          </a:xfrm>
          <a:prstGeom prst="rect">
            <a:avLst/>
          </a:prstGeom>
          <a:noFill/>
          <a:ln/>
        </p:spPr>
        <p:txBody>
          <a:bodyPr wrap="square" lIns="0" tIns="0" rIns="0" bIns="0" rtlCol="0" anchor="t"/>
          <a:lstStyle/>
          <a:p>
            <a:pPr indent="0" marL="0">
              <a:buNone/>
            </a:pPr>
            <a:r>
              <a:rPr lang="en-US" sz="1800" b="1" dirty="0">
                <a:solidFill>
                  <a:schemeClr val="tx2"/>
                </a:solidFill>
              </a:rPr>
              <a:t>Arquiteturas</a:t>
            </a:r>
            <a:endParaRPr lang="en-US" sz="1800" dirty="0"/>
          </a:p>
        </p:txBody>
      </p:sp>
      <p:sp>
        <p:nvSpPr>
          <p:cNvPr id="16" name="Text 11"/>
          <p:cNvSpPr txBox="1"/>
          <p:nvPr/>
        </p:nvSpPr>
        <p:spPr>
          <a:xfrm>
            <a:off x="3596335" y="2788920"/>
            <a:ext cx="2148840" cy="457200"/>
          </a:xfrm>
          <a:prstGeom prst="rect">
            <a:avLst/>
          </a:prstGeom>
          <a:noFill/>
          <a:ln/>
        </p:spPr>
        <p:txBody>
          <a:bodyPr wrap="square" lIns="0" tIns="0" rIns="0" bIns="0" rtlCol="0" anchor="t"/>
          <a:lstStyle/>
          <a:p>
            <a:pPr indent="0" marL="0">
              <a:buNone/>
            </a:pPr>
            <a:r>
              <a:rPr lang="en-US" sz="1400" dirty="0">
                <a:solidFill>
                  <a:schemeClr val="tx1"/>
                </a:solidFill>
              </a:rPr>
              <a:t>Robô aspirador e entregador BDI</a:t>
            </a:r>
            <a:endParaRPr lang="en-US" sz="1400" dirty="0"/>
          </a:p>
        </p:txBody>
      </p:sp>
      <p:sp>
        <p:nvSpPr>
          <p:cNvPr id="17" name="Text 12"/>
          <p:cNvSpPr txBox="1"/>
          <p:nvPr/>
        </p:nvSpPr>
        <p:spPr>
          <a:xfrm>
            <a:off x="3596335" y="329184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2</a:t>
            </a:r>
            <a:endParaRPr lang="en-US" sz="1200" dirty="0"/>
          </a:p>
        </p:txBody>
      </p:sp>
      <p:sp>
        <p:nvSpPr>
          <p:cNvPr id="18" name="Shape 13"/>
          <p:cNvSpPr/>
          <p:nvPr/>
        </p:nvSpPr>
        <p:spPr>
          <a:xfrm>
            <a:off x="6186830" y="1417320"/>
            <a:ext cx="2606040" cy="2194560"/>
          </a:xfrm>
          <a:prstGeom prst="roundRect">
            <a:avLst>
              <a:gd name="adj" fmla="val 3333"/>
            </a:avLst>
          </a:prstGeom>
          <a:solidFill>
            <a:schemeClr val="bg2"/>
          </a:solidFill>
          <a:ln/>
        </p:spPr>
      </p:sp>
      <p:sp>
        <p:nvSpPr>
          <p:cNvPr id="19" name="Shape 14"/>
          <p:cNvSpPr/>
          <p:nvPr/>
        </p:nvSpPr>
        <p:spPr>
          <a:xfrm>
            <a:off x="6415430" y="1645920"/>
            <a:ext cx="640080" cy="640080"/>
          </a:xfrm>
          <a:prstGeom prst="ellipse">
            <a:avLst/>
          </a:prstGeom>
          <a:solidFill>
            <a:schemeClr val="accent4"/>
          </a:solidFill>
          <a:ln/>
        </p:spPr>
      </p:sp>
      <p:pic>
        <p:nvPicPr>
          <p:cNvPr id="20" name="Image 2" descr="preencoded.png">    </p:cNvPr>
          <p:cNvPicPr>
            <a:picLocks noChangeAspect="1"/>
          </p:cNvPicPr>
          <p:nvPr/>
        </p:nvPicPr>
        <p:blipFill>
          <a:blip r:embed="rId3"/>
          <a:stretch>
            <a:fillRect/>
          </a:stretch>
        </p:blipFill>
        <p:spPr>
          <a:xfrm>
            <a:off x="6569050" y="1799539"/>
            <a:ext cx="332842" cy="332842"/>
          </a:xfrm>
          <a:prstGeom prst="rect">
            <a:avLst/>
          </a:prstGeom>
        </p:spPr>
      </p:pic>
      <p:sp>
        <p:nvSpPr>
          <p:cNvPr id="21" name="Text 15"/>
          <p:cNvSpPr txBox="1"/>
          <p:nvPr/>
        </p:nvSpPr>
        <p:spPr>
          <a:xfrm>
            <a:off x="7878470" y="164592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03</a:t>
            </a:r>
            <a:endParaRPr lang="en-US" sz="2600" dirty="0"/>
          </a:p>
        </p:txBody>
      </p:sp>
      <p:sp>
        <p:nvSpPr>
          <p:cNvPr id="22" name="Text 16"/>
          <p:cNvSpPr txBox="1"/>
          <p:nvPr/>
        </p:nvSpPr>
        <p:spPr>
          <a:xfrm>
            <a:off x="6415430" y="2423160"/>
            <a:ext cx="2148840" cy="411480"/>
          </a:xfrm>
          <a:prstGeom prst="rect">
            <a:avLst/>
          </a:prstGeom>
          <a:noFill/>
          <a:ln/>
        </p:spPr>
        <p:txBody>
          <a:bodyPr wrap="square" lIns="0" tIns="0" rIns="0" bIns="0" rtlCol="0" anchor="t"/>
          <a:lstStyle/>
          <a:p>
            <a:pPr indent="0" marL="0">
              <a:buNone/>
            </a:pPr>
            <a:r>
              <a:rPr lang="en-US" sz="1800" b="1" dirty="0">
                <a:solidFill>
                  <a:schemeClr val="tx2"/>
                </a:solidFill>
              </a:rPr>
              <a:t>Comunicação</a:t>
            </a:r>
            <a:endParaRPr lang="en-US" sz="1800" dirty="0"/>
          </a:p>
        </p:txBody>
      </p:sp>
      <p:sp>
        <p:nvSpPr>
          <p:cNvPr id="23" name="Text 17"/>
          <p:cNvSpPr txBox="1"/>
          <p:nvPr/>
        </p:nvSpPr>
        <p:spPr>
          <a:xfrm>
            <a:off x="6415430" y="2788920"/>
            <a:ext cx="2148840" cy="457200"/>
          </a:xfrm>
          <a:prstGeom prst="rect">
            <a:avLst/>
          </a:prstGeom>
          <a:noFill/>
          <a:ln/>
        </p:spPr>
        <p:txBody>
          <a:bodyPr wrap="square" lIns="0" tIns="0" rIns="0" bIns="0" rtlCol="0" anchor="t"/>
          <a:lstStyle/>
          <a:p>
            <a:pPr indent="0" marL="0">
              <a:buNone/>
            </a:pPr>
            <a:r>
              <a:rPr lang="en-US" sz="1400" dirty="0">
                <a:solidFill>
                  <a:schemeClr val="tx1"/>
                </a:solidFill>
              </a:rPr>
              <a:t>FIPA ACL × JSON; MCP e A2A</a:t>
            </a:r>
            <a:endParaRPr lang="en-US" sz="1400" dirty="0"/>
          </a:p>
        </p:txBody>
      </p:sp>
      <p:sp>
        <p:nvSpPr>
          <p:cNvPr id="24" name="Text 18"/>
          <p:cNvSpPr txBox="1"/>
          <p:nvPr/>
        </p:nvSpPr>
        <p:spPr>
          <a:xfrm>
            <a:off x="6415430" y="329184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3</a:t>
            </a:r>
            <a:endParaRPr lang="en-US" sz="1200" dirty="0"/>
          </a:p>
        </p:txBody>
      </p:sp>
      <p:sp>
        <p:nvSpPr>
          <p:cNvPr id="25" name="Shape 19"/>
          <p:cNvSpPr/>
          <p:nvPr/>
        </p:nvSpPr>
        <p:spPr>
          <a:xfrm>
            <a:off x="9005926" y="1417320"/>
            <a:ext cx="2606040" cy="2194560"/>
          </a:xfrm>
          <a:prstGeom prst="roundRect">
            <a:avLst>
              <a:gd name="adj" fmla="val 3333"/>
            </a:avLst>
          </a:prstGeom>
          <a:solidFill>
            <a:schemeClr val="bg2"/>
          </a:solidFill>
          <a:ln/>
        </p:spPr>
      </p:sp>
      <p:sp>
        <p:nvSpPr>
          <p:cNvPr id="26" name="Shape 20"/>
          <p:cNvSpPr/>
          <p:nvPr/>
        </p:nvSpPr>
        <p:spPr>
          <a:xfrm>
            <a:off x="9234526" y="1645920"/>
            <a:ext cx="640080" cy="640080"/>
          </a:xfrm>
          <a:prstGeom prst="ellipse">
            <a:avLst/>
          </a:prstGeom>
          <a:solidFill>
            <a:schemeClr val="accent5"/>
          </a:solidFill>
          <a:ln/>
        </p:spPr>
      </p:sp>
      <p:pic>
        <p:nvPicPr>
          <p:cNvPr id="27" name="Image 3" descr="preencoded.png">    </p:cNvPr>
          <p:cNvPicPr>
            <a:picLocks noChangeAspect="1"/>
          </p:cNvPicPr>
          <p:nvPr/>
        </p:nvPicPr>
        <p:blipFill>
          <a:blip r:embed="rId4"/>
          <a:stretch>
            <a:fillRect/>
          </a:stretch>
        </p:blipFill>
        <p:spPr>
          <a:xfrm>
            <a:off x="9388145" y="1799539"/>
            <a:ext cx="332842" cy="332842"/>
          </a:xfrm>
          <a:prstGeom prst="rect">
            <a:avLst/>
          </a:prstGeom>
        </p:spPr>
      </p:pic>
      <p:sp>
        <p:nvSpPr>
          <p:cNvPr id="28" name="Text 21"/>
          <p:cNvSpPr txBox="1"/>
          <p:nvPr/>
        </p:nvSpPr>
        <p:spPr>
          <a:xfrm>
            <a:off x="10697566" y="164592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04</a:t>
            </a:r>
            <a:endParaRPr lang="en-US" sz="2600" dirty="0"/>
          </a:p>
        </p:txBody>
      </p:sp>
      <p:sp>
        <p:nvSpPr>
          <p:cNvPr id="29" name="Text 22"/>
          <p:cNvSpPr txBox="1"/>
          <p:nvPr/>
        </p:nvSpPr>
        <p:spPr>
          <a:xfrm>
            <a:off x="9234526" y="2423160"/>
            <a:ext cx="2148840" cy="411480"/>
          </a:xfrm>
          <a:prstGeom prst="rect">
            <a:avLst/>
          </a:prstGeom>
          <a:noFill/>
          <a:ln/>
        </p:spPr>
        <p:txBody>
          <a:bodyPr wrap="square" lIns="0" tIns="0" rIns="0" bIns="0" rtlCol="0" anchor="t"/>
          <a:lstStyle/>
          <a:p>
            <a:pPr indent="0" marL="0">
              <a:buNone/>
            </a:pPr>
            <a:r>
              <a:rPr lang="en-US" sz="1800" b="1" dirty="0">
                <a:solidFill>
                  <a:schemeClr val="tx2"/>
                </a:solidFill>
              </a:rPr>
              <a:t>Mercados</a:t>
            </a:r>
            <a:endParaRPr lang="en-US" sz="1800" dirty="0"/>
          </a:p>
        </p:txBody>
      </p:sp>
      <p:sp>
        <p:nvSpPr>
          <p:cNvPr id="30" name="Text 23"/>
          <p:cNvSpPr txBox="1"/>
          <p:nvPr/>
        </p:nvSpPr>
        <p:spPr>
          <a:xfrm>
            <a:off x="9234526" y="2788920"/>
            <a:ext cx="2148840" cy="457200"/>
          </a:xfrm>
          <a:prstGeom prst="rect">
            <a:avLst/>
          </a:prstGeom>
          <a:noFill/>
          <a:ln/>
        </p:spPr>
        <p:txBody>
          <a:bodyPr wrap="square" lIns="0" tIns="0" rIns="0" bIns="0" rtlCol="0" anchor="t"/>
          <a:lstStyle/>
          <a:p>
            <a:pPr indent="0" marL="0">
              <a:buNone/>
            </a:pPr>
            <a:r>
              <a:rPr lang="en-US" sz="1400" dirty="0">
                <a:solidFill>
                  <a:schemeClr val="tx1"/>
                </a:solidFill>
              </a:rPr>
              <a:t>App de entregas, Google Ads, pregão</a:t>
            </a:r>
            <a:endParaRPr lang="en-US" sz="1400" dirty="0"/>
          </a:p>
        </p:txBody>
      </p:sp>
      <p:sp>
        <p:nvSpPr>
          <p:cNvPr id="31" name="Text 24"/>
          <p:cNvSpPr txBox="1"/>
          <p:nvPr/>
        </p:nvSpPr>
        <p:spPr>
          <a:xfrm>
            <a:off x="9234526" y="329184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Seções 4 e 5</a:t>
            </a:r>
            <a:endParaRPr lang="en-US" sz="1200" dirty="0"/>
          </a:p>
        </p:txBody>
      </p:sp>
      <p:sp>
        <p:nvSpPr>
          <p:cNvPr id="32" name="Shape 25"/>
          <p:cNvSpPr/>
          <p:nvPr/>
        </p:nvSpPr>
        <p:spPr>
          <a:xfrm>
            <a:off x="548640" y="3794760"/>
            <a:ext cx="2606040" cy="2194560"/>
          </a:xfrm>
          <a:prstGeom prst="roundRect">
            <a:avLst>
              <a:gd name="adj" fmla="val 3333"/>
            </a:avLst>
          </a:prstGeom>
          <a:solidFill>
            <a:schemeClr val="bg2"/>
          </a:solidFill>
          <a:ln/>
        </p:spPr>
      </p:sp>
      <p:sp>
        <p:nvSpPr>
          <p:cNvPr id="33" name="Shape 26"/>
          <p:cNvSpPr/>
          <p:nvPr/>
        </p:nvSpPr>
        <p:spPr>
          <a:xfrm>
            <a:off x="777240" y="4023360"/>
            <a:ext cx="640080" cy="640080"/>
          </a:xfrm>
          <a:prstGeom prst="ellipse">
            <a:avLst/>
          </a:prstGeom>
          <a:solidFill>
            <a:schemeClr val="accent2"/>
          </a:solidFill>
          <a:ln/>
        </p:spPr>
      </p:sp>
      <p:pic>
        <p:nvPicPr>
          <p:cNvPr id="34" name="Image 4" descr="preencoded.png">    </p:cNvPr>
          <p:cNvPicPr>
            <a:picLocks noChangeAspect="1"/>
          </p:cNvPicPr>
          <p:nvPr/>
        </p:nvPicPr>
        <p:blipFill>
          <a:blip r:embed="rId5"/>
          <a:stretch>
            <a:fillRect/>
          </a:stretch>
        </p:blipFill>
        <p:spPr>
          <a:xfrm>
            <a:off x="930859" y="4176979"/>
            <a:ext cx="332842" cy="332842"/>
          </a:xfrm>
          <a:prstGeom prst="rect">
            <a:avLst/>
          </a:prstGeom>
        </p:spPr>
      </p:pic>
      <p:sp>
        <p:nvSpPr>
          <p:cNvPr id="35" name="Text 27"/>
          <p:cNvSpPr txBox="1"/>
          <p:nvPr/>
        </p:nvSpPr>
        <p:spPr>
          <a:xfrm>
            <a:off x="2240280" y="402336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05</a:t>
            </a:r>
            <a:endParaRPr lang="en-US" sz="2600" dirty="0"/>
          </a:p>
        </p:txBody>
      </p:sp>
      <p:sp>
        <p:nvSpPr>
          <p:cNvPr id="36" name="Text 28"/>
          <p:cNvSpPr txBox="1"/>
          <p:nvPr/>
        </p:nvSpPr>
        <p:spPr>
          <a:xfrm>
            <a:off x="777240" y="4800600"/>
            <a:ext cx="2148840" cy="411480"/>
          </a:xfrm>
          <a:prstGeom prst="rect">
            <a:avLst/>
          </a:prstGeom>
          <a:noFill/>
          <a:ln/>
        </p:spPr>
        <p:txBody>
          <a:bodyPr wrap="square" lIns="0" tIns="0" rIns="0" bIns="0" rtlCol="0" anchor="t"/>
          <a:lstStyle/>
          <a:p>
            <a:pPr indent="0" marL="0">
              <a:buNone/>
            </a:pPr>
            <a:r>
              <a:rPr lang="en-US" sz="1800" b="1" dirty="0">
                <a:solidFill>
                  <a:schemeClr val="tx2"/>
                </a:solidFill>
              </a:rPr>
              <a:t>Cooperação</a:t>
            </a:r>
            <a:endParaRPr lang="en-US" sz="1800" dirty="0"/>
          </a:p>
        </p:txBody>
      </p:sp>
      <p:sp>
        <p:nvSpPr>
          <p:cNvPr id="37" name="Text 29"/>
          <p:cNvSpPr txBox="1"/>
          <p:nvPr/>
        </p:nvSpPr>
        <p:spPr>
          <a:xfrm>
            <a:off x="777240" y="5166360"/>
            <a:ext cx="2148840" cy="457200"/>
          </a:xfrm>
          <a:prstGeom prst="rect">
            <a:avLst/>
          </a:prstGeom>
          <a:noFill/>
          <a:ln/>
        </p:spPr>
        <p:txBody>
          <a:bodyPr wrap="square" lIns="0" tIns="0" rIns="0" bIns="0" rtlCol="0" anchor="t"/>
          <a:lstStyle/>
          <a:p>
            <a:pPr indent="0" marL="0">
              <a:buNone/>
            </a:pPr>
            <a:r>
              <a:rPr lang="en-US" sz="1400" dirty="0">
                <a:solidFill>
                  <a:schemeClr val="tx1"/>
                </a:solidFill>
              </a:rPr>
              <a:t>Axelrod, robôs de preço, pescadores</a:t>
            </a:r>
            <a:endParaRPr lang="en-US" sz="1400" dirty="0"/>
          </a:p>
        </p:txBody>
      </p:sp>
      <p:sp>
        <p:nvSpPr>
          <p:cNvPr id="38" name="Text 30"/>
          <p:cNvSpPr txBox="1"/>
          <p:nvPr/>
        </p:nvSpPr>
        <p:spPr>
          <a:xfrm>
            <a:off x="777240" y="566928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6</a:t>
            </a:r>
            <a:endParaRPr lang="en-US" sz="1200" dirty="0"/>
          </a:p>
        </p:txBody>
      </p:sp>
      <p:sp>
        <p:nvSpPr>
          <p:cNvPr id="39" name="Shape 31"/>
          <p:cNvSpPr/>
          <p:nvPr/>
        </p:nvSpPr>
        <p:spPr>
          <a:xfrm>
            <a:off x="3367735" y="3794760"/>
            <a:ext cx="2606040" cy="2194560"/>
          </a:xfrm>
          <a:prstGeom prst="roundRect">
            <a:avLst>
              <a:gd name="adj" fmla="val 3333"/>
            </a:avLst>
          </a:prstGeom>
          <a:solidFill>
            <a:schemeClr val="bg2"/>
          </a:solidFill>
          <a:ln/>
        </p:spPr>
      </p:sp>
      <p:sp>
        <p:nvSpPr>
          <p:cNvPr id="40" name="Shape 32"/>
          <p:cNvSpPr/>
          <p:nvPr/>
        </p:nvSpPr>
        <p:spPr>
          <a:xfrm>
            <a:off x="3596335" y="4023360"/>
            <a:ext cx="640080" cy="640080"/>
          </a:xfrm>
          <a:prstGeom prst="ellipse">
            <a:avLst/>
          </a:prstGeom>
          <a:solidFill>
            <a:schemeClr val="accent1"/>
          </a:solidFill>
          <a:ln/>
        </p:spPr>
      </p:sp>
      <p:pic>
        <p:nvPicPr>
          <p:cNvPr id="41" name="Image 5" descr="preencoded.png">    </p:cNvPr>
          <p:cNvPicPr>
            <a:picLocks noChangeAspect="1"/>
          </p:cNvPicPr>
          <p:nvPr/>
        </p:nvPicPr>
        <p:blipFill>
          <a:blip r:embed="rId6"/>
          <a:stretch>
            <a:fillRect/>
          </a:stretch>
        </p:blipFill>
        <p:spPr>
          <a:xfrm>
            <a:off x="3749954" y="4176979"/>
            <a:ext cx="332842" cy="332842"/>
          </a:xfrm>
          <a:prstGeom prst="rect">
            <a:avLst/>
          </a:prstGeom>
        </p:spPr>
      </p:pic>
      <p:sp>
        <p:nvSpPr>
          <p:cNvPr id="42" name="Text 33"/>
          <p:cNvSpPr txBox="1"/>
          <p:nvPr/>
        </p:nvSpPr>
        <p:spPr>
          <a:xfrm>
            <a:off x="5059375" y="402336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06</a:t>
            </a:r>
            <a:endParaRPr lang="en-US" sz="2600" dirty="0"/>
          </a:p>
        </p:txBody>
      </p:sp>
      <p:sp>
        <p:nvSpPr>
          <p:cNvPr id="43" name="Text 34"/>
          <p:cNvSpPr txBox="1"/>
          <p:nvPr/>
        </p:nvSpPr>
        <p:spPr>
          <a:xfrm>
            <a:off x="3596335" y="4800600"/>
            <a:ext cx="2148840" cy="411480"/>
          </a:xfrm>
          <a:prstGeom prst="rect">
            <a:avLst/>
          </a:prstGeom>
          <a:noFill/>
          <a:ln/>
        </p:spPr>
        <p:txBody>
          <a:bodyPr wrap="square" lIns="0" tIns="0" rIns="0" bIns="0" rtlCol="0" anchor="t"/>
          <a:lstStyle/>
          <a:p>
            <a:pPr indent="0" marL="0">
              <a:buNone/>
            </a:pPr>
            <a:r>
              <a:rPr lang="en-US" sz="1800" b="1" dirty="0">
                <a:solidFill>
                  <a:schemeClr val="tx2"/>
                </a:solidFill>
              </a:rPr>
              <a:t>Decisão coletiva</a:t>
            </a:r>
            <a:endParaRPr lang="en-US" sz="1800" dirty="0"/>
          </a:p>
        </p:txBody>
      </p:sp>
      <p:sp>
        <p:nvSpPr>
          <p:cNvPr id="44" name="Text 35"/>
          <p:cNvSpPr txBox="1"/>
          <p:nvPr/>
        </p:nvSpPr>
        <p:spPr>
          <a:xfrm>
            <a:off x="3596335" y="5166360"/>
            <a:ext cx="2148840" cy="457200"/>
          </a:xfrm>
          <a:prstGeom prst="rect">
            <a:avLst/>
          </a:prstGeom>
          <a:noFill/>
          <a:ln/>
        </p:spPr>
        <p:txBody>
          <a:bodyPr wrap="square" lIns="0" tIns="0" rIns="0" bIns="0" rtlCol="0" anchor="t"/>
          <a:lstStyle/>
          <a:p>
            <a:pPr indent="0" marL="0">
              <a:buNone/>
            </a:pPr>
            <a:r>
              <a:rPr lang="en-US" sz="1400" dirty="0">
                <a:solidFill>
                  <a:schemeClr val="tx1"/>
                </a:solidFill>
              </a:rPr>
              <a:t>A votação da turma</a:t>
            </a:r>
            <a:endParaRPr lang="en-US" sz="1400" dirty="0"/>
          </a:p>
        </p:txBody>
      </p:sp>
      <p:sp>
        <p:nvSpPr>
          <p:cNvPr id="45" name="Text 36"/>
          <p:cNvSpPr txBox="1"/>
          <p:nvPr/>
        </p:nvSpPr>
        <p:spPr>
          <a:xfrm>
            <a:off x="3596335" y="566928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7</a:t>
            </a:r>
            <a:endParaRPr lang="en-US" sz="1200" dirty="0"/>
          </a:p>
        </p:txBody>
      </p:sp>
      <p:sp>
        <p:nvSpPr>
          <p:cNvPr id="46" name="Shape 37"/>
          <p:cNvSpPr/>
          <p:nvPr/>
        </p:nvSpPr>
        <p:spPr>
          <a:xfrm>
            <a:off x="6186830" y="3794760"/>
            <a:ext cx="2606040" cy="2194560"/>
          </a:xfrm>
          <a:prstGeom prst="roundRect">
            <a:avLst>
              <a:gd name="adj" fmla="val 3333"/>
            </a:avLst>
          </a:prstGeom>
          <a:solidFill>
            <a:schemeClr val="bg2"/>
          </a:solidFill>
          <a:ln/>
        </p:spPr>
      </p:sp>
      <p:sp>
        <p:nvSpPr>
          <p:cNvPr id="47" name="Shape 38"/>
          <p:cNvSpPr/>
          <p:nvPr/>
        </p:nvSpPr>
        <p:spPr>
          <a:xfrm>
            <a:off x="6415430" y="4023360"/>
            <a:ext cx="640080" cy="640080"/>
          </a:xfrm>
          <a:prstGeom prst="ellipse">
            <a:avLst/>
          </a:prstGeom>
          <a:solidFill>
            <a:schemeClr val="accent4"/>
          </a:solidFill>
          <a:ln/>
        </p:spPr>
      </p:sp>
      <p:pic>
        <p:nvPicPr>
          <p:cNvPr id="48" name="Image 6" descr="preencoded.png">    </p:cNvPr>
          <p:cNvPicPr>
            <a:picLocks noChangeAspect="1"/>
          </p:cNvPicPr>
          <p:nvPr/>
        </p:nvPicPr>
        <p:blipFill>
          <a:blip r:embed="rId7"/>
          <a:stretch>
            <a:fillRect/>
          </a:stretch>
        </p:blipFill>
        <p:spPr>
          <a:xfrm>
            <a:off x="6569050" y="4176979"/>
            <a:ext cx="332842" cy="332842"/>
          </a:xfrm>
          <a:prstGeom prst="rect">
            <a:avLst/>
          </a:prstGeom>
        </p:spPr>
      </p:pic>
      <p:sp>
        <p:nvSpPr>
          <p:cNvPr id="49" name="Text 39"/>
          <p:cNvSpPr txBox="1"/>
          <p:nvPr/>
        </p:nvSpPr>
        <p:spPr>
          <a:xfrm>
            <a:off x="7878470" y="402336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07</a:t>
            </a:r>
            <a:endParaRPr lang="en-US" sz="2600" dirty="0"/>
          </a:p>
        </p:txBody>
      </p:sp>
      <p:sp>
        <p:nvSpPr>
          <p:cNvPr id="50" name="Text 40"/>
          <p:cNvSpPr txBox="1"/>
          <p:nvPr/>
        </p:nvSpPr>
        <p:spPr>
          <a:xfrm>
            <a:off x="6415430" y="4800600"/>
            <a:ext cx="2148840" cy="411480"/>
          </a:xfrm>
          <a:prstGeom prst="rect">
            <a:avLst/>
          </a:prstGeom>
          <a:noFill/>
          <a:ln/>
        </p:spPr>
        <p:txBody>
          <a:bodyPr wrap="square" lIns="0" tIns="0" rIns="0" bIns="0" rtlCol="0" anchor="t"/>
          <a:lstStyle/>
          <a:p>
            <a:pPr indent="0" marL="0">
              <a:buNone/>
            </a:pPr>
            <a:r>
              <a:rPr lang="en-US" sz="1800" b="1" dirty="0">
                <a:solidFill>
                  <a:schemeClr val="tx2"/>
                </a:solidFill>
              </a:rPr>
              <a:t>Agentes com LLM</a:t>
            </a:r>
            <a:endParaRPr lang="en-US" sz="1800" dirty="0"/>
          </a:p>
        </p:txBody>
      </p:sp>
      <p:sp>
        <p:nvSpPr>
          <p:cNvPr id="51" name="Text 41"/>
          <p:cNvSpPr txBox="1"/>
          <p:nvPr/>
        </p:nvSpPr>
        <p:spPr>
          <a:xfrm>
            <a:off x="6415430" y="5166360"/>
            <a:ext cx="2148840" cy="457200"/>
          </a:xfrm>
          <a:prstGeom prst="rect">
            <a:avLst/>
          </a:prstGeom>
          <a:noFill/>
          <a:ln/>
        </p:spPr>
        <p:txBody>
          <a:bodyPr wrap="square" lIns="0" tIns="0" rIns="0" bIns="0" rtlCol="0" anchor="t"/>
          <a:lstStyle/>
          <a:p>
            <a:pPr indent="0" marL="0">
              <a:buNone/>
            </a:pPr>
            <a:r>
              <a:rPr lang="en-US" sz="1400" dirty="0">
                <a:solidFill>
                  <a:schemeClr val="tx1"/>
                </a:solidFill>
              </a:rPr>
              <a:t>Atendimento com guardrails</a:t>
            </a:r>
            <a:endParaRPr lang="en-US" sz="1400" dirty="0"/>
          </a:p>
        </p:txBody>
      </p:sp>
      <p:sp>
        <p:nvSpPr>
          <p:cNvPr id="52" name="Text 42"/>
          <p:cNvSpPr txBox="1"/>
          <p:nvPr/>
        </p:nvSpPr>
        <p:spPr>
          <a:xfrm>
            <a:off x="6415430" y="566928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Seção 8</a:t>
            </a:r>
            <a:endParaRPr lang="en-US" sz="1200" dirty="0"/>
          </a:p>
        </p:txBody>
      </p:sp>
      <p:sp>
        <p:nvSpPr>
          <p:cNvPr id="53" name="Shape 43"/>
          <p:cNvSpPr/>
          <p:nvPr/>
        </p:nvSpPr>
        <p:spPr>
          <a:xfrm>
            <a:off x="9005926" y="3794760"/>
            <a:ext cx="2606040" cy="2194560"/>
          </a:xfrm>
          <a:prstGeom prst="roundRect">
            <a:avLst>
              <a:gd name="adj" fmla="val 3333"/>
            </a:avLst>
          </a:prstGeom>
          <a:solidFill>
            <a:schemeClr val="bg2"/>
          </a:solidFill>
          <a:ln/>
        </p:spPr>
      </p:sp>
      <p:sp>
        <p:nvSpPr>
          <p:cNvPr id="54" name="Shape 44"/>
          <p:cNvSpPr/>
          <p:nvPr/>
        </p:nvSpPr>
        <p:spPr>
          <a:xfrm>
            <a:off x="9234526" y="4023360"/>
            <a:ext cx="640080" cy="640080"/>
          </a:xfrm>
          <a:prstGeom prst="ellipse">
            <a:avLst/>
          </a:prstGeom>
          <a:solidFill>
            <a:schemeClr val="accent5"/>
          </a:solidFill>
          <a:ln/>
        </p:spPr>
      </p:sp>
      <p:pic>
        <p:nvPicPr>
          <p:cNvPr id="55" name="Image 7" descr="preencoded.png">    </p:cNvPr>
          <p:cNvPicPr>
            <a:picLocks noChangeAspect="1"/>
          </p:cNvPicPr>
          <p:nvPr/>
        </p:nvPicPr>
        <p:blipFill>
          <a:blip r:embed="rId8"/>
          <a:stretch>
            <a:fillRect/>
          </a:stretch>
        </p:blipFill>
        <p:spPr>
          <a:xfrm>
            <a:off x="9388145" y="4176979"/>
            <a:ext cx="332842" cy="332842"/>
          </a:xfrm>
          <a:prstGeom prst="rect">
            <a:avLst/>
          </a:prstGeom>
        </p:spPr>
      </p:pic>
      <p:sp>
        <p:nvSpPr>
          <p:cNvPr id="56" name="Text 45"/>
          <p:cNvSpPr txBox="1"/>
          <p:nvPr/>
        </p:nvSpPr>
        <p:spPr>
          <a:xfrm>
            <a:off x="10697566" y="4023360"/>
            <a:ext cx="685800" cy="548640"/>
          </a:xfrm>
          <a:prstGeom prst="rect">
            <a:avLst/>
          </a:prstGeom>
          <a:noFill/>
          <a:ln/>
        </p:spPr>
        <p:txBody>
          <a:bodyPr wrap="square" lIns="0" tIns="0" rIns="0" bIns="0" rtlCol="0" anchor="t"/>
          <a:lstStyle/>
          <a:p>
            <a:pPr algn="r" indent="0" marL="0">
              <a:buNone/>
            </a:pPr>
            <a:r>
              <a:rPr lang="en-US" sz="2600" b="1" dirty="0">
                <a:solidFill>
                  <a:schemeClr val="accent6"/>
                </a:solidFill>
              </a:rPr>
              <a:t>08</a:t>
            </a:r>
            <a:endParaRPr lang="en-US" sz="2600" dirty="0"/>
          </a:p>
        </p:txBody>
      </p:sp>
      <p:sp>
        <p:nvSpPr>
          <p:cNvPr id="57" name="Text 46"/>
          <p:cNvSpPr txBox="1"/>
          <p:nvPr/>
        </p:nvSpPr>
        <p:spPr>
          <a:xfrm>
            <a:off x="9234526" y="4800600"/>
            <a:ext cx="2148840" cy="411480"/>
          </a:xfrm>
          <a:prstGeom prst="rect">
            <a:avLst/>
          </a:prstGeom>
          <a:noFill/>
          <a:ln/>
        </p:spPr>
        <p:txBody>
          <a:bodyPr wrap="square" lIns="0" tIns="0" rIns="0" bIns="0" rtlCol="0" anchor="t"/>
          <a:lstStyle/>
          <a:p>
            <a:pPr indent="0" marL="0">
              <a:buNone/>
            </a:pPr>
            <a:r>
              <a:rPr lang="en-US" sz="1800" b="1" dirty="0">
                <a:solidFill>
                  <a:schemeClr val="tx2"/>
                </a:solidFill>
              </a:rPr>
              <a:t>Aplicações</a:t>
            </a:r>
            <a:endParaRPr lang="en-US" sz="1800" dirty="0"/>
          </a:p>
        </p:txBody>
      </p:sp>
      <p:sp>
        <p:nvSpPr>
          <p:cNvPr id="58" name="Text 47"/>
          <p:cNvSpPr txBox="1"/>
          <p:nvPr/>
        </p:nvSpPr>
        <p:spPr>
          <a:xfrm>
            <a:off x="9234526" y="5166360"/>
            <a:ext cx="2148840" cy="457200"/>
          </a:xfrm>
          <a:prstGeom prst="rect">
            <a:avLst/>
          </a:prstGeom>
          <a:noFill/>
          <a:ln/>
        </p:spPr>
        <p:txBody>
          <a:bodyPr wrap="square" lIns="0" tIns="0" rIns="0" bIns="0" rtlCol="0" anchor="t"/>
          <a:lstStyle/>
          <a:p>
            <a:pPr indent="0" marL="0">
              <a:buNone/>
            </a:pPr>
            <a:r>
              <a:rPr lang="en-US" sz="1400" dirty="0">
                <a:solidFill>
                  <a:schemeClr val="tx1"/>
                </a:solidFill>
              </a:rPr>
              <a:t>Casos reais e ferramentas</a:t>
            </a:r>
            <a:endParaRPr lang="en-US" sz="1400" dirty="0"/>
          </a:p>
        </p:txBody>
      </p:sp>
      <p:sp>
        <p:nvSpPr>
          <p:cNvPr id="59" name="Text 48"/>
          <p:cNvSpPr txBox="1"/>
          <p:nvPr/>
        </p:nvSpPr>
        <p:spPr>
          <a:xfrm>
            <a:off x="9234526" y="5669280"/>
            <a:ext cx="2148840" cy="274320"/>
          </a:xfrm>
          <a:prstGeom prst="rect">
            <a:avLst/>
          </a:prstGeom>
          <a:noFill/>
          <a:ln/>
        </p:spPr>
        <p:txBody>
          <a:bodyPr wrap="square" lIns="0" tIns="0" rIns="0" bIns="0" rtlCol="0" anchor="t"/>
          <a:lstStyle/>
          <a:p>
            <a:pPr indent="0" marL="0">
              <a:buNone/>
            </a:pPr>
            <a:r>
              <a:rPr lang="en-US" sz="1200" i="1" dirty="0">
                <a:solidFill>
                  <a:schemeClr val="accent6"/>
                </a:solidFill>
              </a:rPr>
              <a:t>Notebook: Seções 9 e 10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bg1"/>
                </a:solidFill>
              </a:rPr>
              <a:t>Quantos agentes trabalharam para você hoje?</a:t>
            </a:r>
            <a:endParaRPr lang="en-US" sz="3400" dirty="0"/>
          </a:p>
        </p:txBody>
      </p:sp>
      <p:sp>
        <p:nvSpPr>
          <p:cNvPr id="4" name="Shape 1"/>
          <p:cNvSpPr/>
          <p:nvPr/>
        </p:nvSpPr>
        <p:spPr>
          <a:xfrm>
            <a:off x="548640" y="1691640"/>
            <a:ext cx="777240" cy="7772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35178" y="1878178"/>
            <a:ext cx="404165" cy="404165"/>
          </a:xfrm>
          <a:prstGeom prst="rect">
            <a:avLst/>
          </a:prstGeom>
        </p:spPr>
      </p:pic>
      <p:sp>
        <p:nvSpPr>
          <p:cNvPr id="6" name="Text 2"/>
          <p:cNvSpPr txBox="1"/>
          <p:nvPr/>
        </p:nvSpPr>
        <p:spPr>
          <a:xfrm>
            <a:off x="1554480" y="1709928"/>
            <a:ext cx="2560320" cy="457200"/>
          </a:xfrm>
          <a:prstGeom prst="rect">
            <a:avLst/>
          </a:prstGeom>
          <a:noFill/>
          <a:ln/>
        </p:spPr>
        <p:txBody>
          <a:bodyPr wrap="square" lIns="0" tIns="0" rIns="0" bIns="0" rtlCol="0" anchor="t"/>
          <a:lstStyle/>
          <a:p>
            <a:pPr indent="0" marL="0">
              <a:buNone/>
            </a:pPr>
            <a:r>
              <a:rPr lang="en-US" sz="1800" b="1" dirty="0">
                <a:solidFill>
                  <a:schemeClr val="bg1"/>
                </a:solidFill>
              </a:rPr>
              <a:t>Pediu comida ou corrida</a:t>
            </a:r>
            <a:endParaRPr lang="en-US" sz="1800" dirty="0"/>
          </a:p>
        </p:txBody>
      </p:sp>
      <p:sp>
        <p:nvSpPr>
          <p:cNvPr id="7" name="Text 3"/>
          <p:cNvSpPr txBox="1"/>
          <p:nvPr/>
        </p:nvSpPr>
        <p:spPr>
          <a:xfrm>
            <a:off x="1554480" y="2194560"/>
            <a:ext cx="2560320" cy="1097280"/>
          </a:xfrm>
          <a:prstGeom prst="rect">
            <a:avLst/>
          </a:prstGeom>
          <a:noFill/>
          <a:ln/>
        </p:spPr>
        <p:txBody>
          <a:bodyPr wrap="square" lIns="0" tIns="0" rIns="0" bIns="0" rtlCol="0" anchor="t"/>
          <a:lstStyle/>
          <a:p>
            <a:pPr indent="0" marL="0">
              <a:buNone/>
            </a:pPr>
            <a:r>
              <a:rPr lang="en-US" sz="1500" dirty="0">
                <a:solidFill>
                  <a:schemeClr val="bg2"/>
                </a:solidFill>
              </a:rPr>
              <a:t>A plataforma distribui pedidos entre entregadores</a:t>
            </a:r>
            <a:endParaRPr lang="en-US" sz="1500" dirty="0"/>
          </a:p>
        </p:txBody>
      </p:sp>
      <p:sp>
        <p:nvSpPr>
          <p:cNvPr id="8" name="Shape 4"/>
          <p:cNvSpPr/>
          <p:nvPr/>
        </p:nvSpPr>
        <p:spPr>
          <a:xfrm>
            <a:off x="4297680" y="1691640"/>
            <a:ext cx="777240" cy="777240"/>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4484218" y="1878178"/>
            <a:ext cx="404165" cy="404165"/>
          </a:xfrm>
          <a:prstGeom prst="rect">
            <a:avLst/>
          </a:prstGeom>
        </p:spPr>
      </p:pic>
      <p:sp>
        <p:nvSpPr>
          <p:cNvPr id="10" name="Text 5"/>
          <p:cNvSpPr txBox="1"/>
          <p:nvPr/>
        </p:nvSpPr>
        <p:spPr>
          <a:xfrm>
            <a:off x="5303520" y="1709928"/>
            <a:ext cx="2560320" cy="457200"/>
          </a:xfrm>
          <a:prstGeom prst="rect">
            <a:avLst/>
          </a:prstGeom>
          <a:noFill/>
          <a:ln/>
        </p:spPr>
        <p:txBody>
          <a:bodyPr wrap="square" lIns="0" tIns="0" rIns="0" bIns="0" rtlCol="0" anchor="t"/>
          <a:lstStyle/>
          <a:p>
            <a:pPr indent="0" marL="0">
              <a:buNone/>
            </a:pPr>
            <a:r>
              <a:rPr lang="en-US" sz="1800" b="1" dirty="0">
                <a:solidFill>
                  <a:schemeClr val="bg1"/>
                </a:solidFill>
              </a:rPr>
              <a:t>Pesquisou no Google</a:t>
            </a:r>
            <a:endParaRPr lang="en-US" sz="1800" dirty="0"/>
          </a:p>
        </p:txBody>
      </p:sp>
      <p:sp>
        <p:nvSpPr>
          <p:cNvPr id="11" name="Text 6"/>
          <p:cNvSpPr txBox="1"/>
          <p:nvPr/>
        </p:nvSpPr>
        <p:spPr>
          <a:xfrm>
            <a:off x="5303520" y="2194560"/>
            <a:ext cx="2560320" cy="1097280"/>
          </a:xfrm>
          <a:prstGeom prst="rect">
            <a:avLst/>
          </a:prstGeom>
          <a:noFill/>
          <a:ln/>
        </p:spPr>
        <p:txBody>
          <a:bodyPr wrap="square" lIns="0" tIns="0" rIns="0" bIns="0" rtlCol="0" anchor="t"/>
          <a:lstStyle/>
          <a:p>
            <a:pPr indent="0" marL="0">
              <a:buNone/>
            </a:pPr>
            <a:r>
              <a:rPr lang="en-US" sz="1500" dirty="0">
                <a:solidFill>
                  <a:schemeClr val="bg2"/>
                </a:solidFill>
              </a:rPr>
              <a:t>Robôs de anunciantes disputam um leilão a cada busca</a:t>
            </a:r>
            <a:endParaRPr lang="en-US" sz="1500" dirty="0"/>
          </a:p>
        </p:txBody>
      </p:sp>
      <p:sp>
        <p:nvSpPr>
          <p:cNvPr id="12" name="Shape 7"/>
          <p:cNvSpPr/>
          <p:nvPr/>
        </p:nvSpPr>
        <p:spPr>
          <a:xfrm>
            <a:off x="8046720" y="1691640"/>
            <a:ext cx="777240" cy="777240"/>
          </a:xfrm>
          <a:prstGeom prst="ellipse">
            <a:avLst/>
          </a:prstGeom>
          <a:solidFill>
            <a:schemeClr val="accent3"/>
          </a:solidFill>
          <a:ln/>
        </p:spPr>
      </p:sp>
      <p:pic>
        <p:nvPicPr>
          <p:cNvPr id="13" name="Image 2" descr="preencoded.png">    </p:cNvPr>
          <p:cNvPicPr>
            <a:picLocks noChangeAspect="1"/>
          </p:cNvPicPr>
          <p:nvPr/>
        </p:nvPicPr>
        <p:blipFill>
          <a:blip r:embed="rId3"/>
          <a:stretch>
            <a:fillRect/>
          </a:stretch>
        </p:blipFill>
        <p:spPr>
          <a:xfrm>
            <a:off x="8233258" y="1878178"/>
            <a:ext cx="404165" cy="404165"/>
          </a:xfrm>
          <a:prstGeom prst="rect">
            <a:avLst/>
          </a:prstGeom>
        </p:spPr>
      </p:pic>
      <p:sp>
        <p:nvSpPr>
          <p:cNvPr id="14" name="Text 8"/>
          <p:cNvSpPr txBox="1"/>
          <p:nvPr/>
        </p:nvSpPr>
        <p:spPr>
          <a:xfrm>
            <a:off x="9052560" y="1709928"/>
            <a:ext cx="2560320" cy="457200"/>
          </a:xfrm>
          <a:prstGeom prst="rect">
            <a:avLst/>
          </a:prstGeom>
          <a:noFill/>
          <a:ln/>
        </p:spPr>
        <p:txBody>
          <a:bodyPr wrap="square" lIns="0" tIns="0" rIns="0" bIns="0" rtlCol="0" anchor="t"/>
          <a:lstStyle/>
          <a:p>
            <a:pPr indent="0" marL="0">
              <a:buNone/>
            </a:pPr>
            <a:r>
              <a:rPr lang="en-US" sz="1800" b="1" dirty="0">
                <a:solidFill>
                  <a:schemeClr val="bg1"/>
                </a:solidFill>
              </a:rPr>
              <a:t>Usou o Waze no pico</a:t>
            </a:r>
            <a:endParaRPr lang="en-US" sz="1800" dirty="0"/>
          </a:p>
        </p:txBody>
      </p:sp>
      <p:sp>
        <p:nvSpPr>
          <p:cNvPr id="15" name="Text 9"/>
          <p:cNvSpPr txBox="1"/>
          <p:nvPr/>
        </p:nvSpPr>
        <p:spPr>
          <a:xfrm>
            <a:off x="9052560" y="2194560"/>
            <a:ext cx="2560320" cy="1097280"/>
          </a:xfrm>
          <a:prstGeom prst="rect">
            <a:avLst/>
          </a:prstGeom>
          <a:noFill/>
          <a:ln/>
        </p:spPr>
        <p:txBody>
          <a:bodyPr wrap="square" lIns="0" tIns="0" rIns="0" bIns="0" rtlCol="0" anchor="t"/>
          <a:lstStyle/>
          <a:p>
            <a:pPr indent="0" marL="0">
              <a:buNone/>
            </a:pPr>
            <a:r>
              <a:rPr lang="en-US" sz="1500" dirty="0">
                <a:solidFill>
                  <a:schemeClr val="bg2"/>
                </a:solidFill>
              </a:rPr>
              <a:t>Milhões de rotas egoístas somadas (paradoxo de Braess)</a:t>
            </a:r>
            <a:endParaRPr lang="en-US" sz="1500" dirty="0"/>
          </a:p>
        </p:txBody>
      </p:sp>
      <p:sp>
        <p:nvSpPr>
          <p:cNvPr id="16" name="Shape 10"/>
          <p:cNvSpPr/>
          <p:nvPr/>
        </p:nvSpPr>
        <p:spPr>
          <a:xfrm>
            <a:off x="548640" y="3931920"/>
            <a:ext cx="777240" cy="77724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735178" y="4118458"/>
            <a:ext cx="404165" cy="404165"/>
          </a:xfrm>
          <a:prstGeom prst="rect">
            <a:avLst/>
          </a:prstGeom>
        </p:spPr>
      </p:pic>
      <p:sp>
        <p:nvSpPr>
          <p:cNvPr id="18" name="Text 11"/>
          <p:cNvSpPr txBox="1"/>
          <p:nvPr/>
        </p:nvSpPr>
        <p:spPr>
          <a:xfrm>
            <a:off x="1554480" y="3950208"/>
            <a:ext cx="2560320" cy="457200"/>
          </a:xfrm>
          <a:prstGeom prst="rect">
            <a:avLst/>
          </a:prstGeom>
          <a:noFill/>
          <a:ln/>
        </p:spPr>
        <p:txBody>
          <a:bodyPr wrap="square" lIns="0" tIns="0" rIns="0" bIns="0" rtlCol="0" anchor="t"/>
          <a:lstStyle/>
          <a:p>
            <a:pPr indent="0" marL="0">
              <a:buNone/>
            </a:pPr>
            <a:r>
              <a:rPr lang="en-US" sz="1800" b="1" dirty="0">
                <a:solidFill>
                  <a:schemeClr val="bg1"/>
                </a:solidFill>
              </a:rPr>
              <a:t>Comprou online</a:t>
            </a:r>
            <a:endParaRPr lang="en-US" sz="1800" dirty="0"/>
          </a:p>
        </p:txBody>
      </p:sp>
      <p:sp>
        <p:nvSpPr>
          <p:cNvPr id="19" name="Text 12"/>
          <p:cNvSpPr txBox="1"/>
          <p:nvPr/>
        </p:nvSpPr>
        <p:spPr>
          <a:xfrm>
            <a:off x="1554480" y="4434840"/>
            <a:ext cx="2560320" cy="1097280"/>
          </a:xfrm>
          <a:prstGeom prst="rect">
            <a:avLst/>
          </a:prstGeom>
          <a:noFill/>
          <a:ln/>
        </p:spPr>
        <p:txBody>
          <a:bodyPr wrap="square" lIns="0" tIns="0" rIns="0" bIns="0" rtlCol="0" anchor="t"/>
          <a:lstStyle/>
          <a:p>
            <a:pPr indent="0" marL="0">
              <a:buNone/>
            </a:pPr>
            <a:r>
              <a:rPr lang="en-US" sz="1500" dirty="0">
                <a:solidFill>
                  <a:schemeClr val="bg2"/>
                </a:solidFill>
              </a:rPr>
              <a:t>Robôs de preço de vendedores reagem uns aos outros</a:t>
            </a:r>
            <a:endParaRPr lang="en-US" sz="1500" dirty="0"/>
          </a:p>
        </p:txBody>
      </p:sp>
      <p:sp>
        <p:nvSpPr>
          <p:cNvPr id="20" name="Shape 13"/>
          <p:cNvSpPr/>
          <p:nvPr/>
        </p:nvSpPr>
        <p:spPr>
          <a:xfrm>
            <a:off x="4297680" y="3931920"/>
            <a:ext cx="777240" cy="777240"/>
          </a:xfrm>
          <a:prstGeom prst="ellipse">
            <a:avLst/>
          </a:prstGeom>
          <a:solidFill>
            <a:schemeClr val="accent2"/>
          </a:solidFill>
          <a:ln/>
        </p:spPr>
      </p:sp>
      <p:pic>
        <p:nvPicPr>
          <p:cNvPr id="21" name="Image 4" descr="preencoded.png">    </p:cNvPr>
          <p:cNvPicPr>
            <a:picLocks noChangeAspect="1"/>
          </p:cNvPicPr>
          <p:nvPr/>
        </p:nvPicPr>
        <p:blipFill>
          <a:blip r:embed="rId5"/>
          <a:stretch>
            <a:fillRect/>
          </a:stretch>
        </p:blipFill>
        <p:spPr>
          <a:xfrm>
            <a:off x="4484218" y="4118458"/>
            <a:ext cx="404165" cy="404165"/>
          </a:xfrm>
          <a:prstGeom prst="rect">
            <a:avLst/>
          </a:prstGeom>
        </p:spPr>
      </p:pic>
      <p:sp>
        <p:nvSpPr>
          <p:cNvPr id="22" name="Text 14"/>
          <p:cNvSpPr txBox="1"/>
          <p:nvPr/>
        </p:nvSpPr>
        <p:spPr>
          <a:xfrm>
            <a:off x="5303520" y="3950208"/>
            <a:ext cx="2560320" cy="457200"/>
          </a:xfrm>
          <a:prstGeom prst="rect">
            <a:avLst/>
          </a:prstGeom>
          <a:noFill/>
          <a:ln/>
        </p:spPr>
        <p:txBody>
          <a:bodyPr wrap="square" lIns="0" tIns="0" rIns="0" bIns="0" rtlCol="0" anchor="t"/>
          <a:lstStyle/>
          <a:p>
            <a:pPr indent="0" marL="0">
              <a:buNone/>
            </a:pPr>
            <a:r>
              <a:rPr lang="en-US" sz="1800" b="1" dirty="0">
                <a:solidFill>
                  <a:schemeClr val="bg1"/>
                </a:solidFill>
              </a:rPr>
              <a:t>Recebeu um pacote</a:t>
            </a:r>
            <a:endParaRPr lang="en-US" sz="1800" dirty="0"/>
          </a:p>
        </p:txBody>
      </p:sp>
      <p:sp>
        <p:nvSpPr>
          <p:cNvPr id="23" name="Text 15"/>
          <p:cNvSpPr txBox="1"/>
          <p:nvPr/>
        </p:nvSpPr>
        <p:spPr>
          <a:xfrm>
            <a:off x="5303520" y="4434840"/>
            <a:ext cx="2560320" cy="1097280"/>
          </a:xfrm>
          <a:prstGeom prst="rect">
            <a:avLst/>
          </a:prstGeom>
          <a:noFill/>
          <a:ln/>
        </p:spPr>
        <p:txBody>
          <a:bodyPr wrap="square" lIns="0" tIns="0" rIns="0" bIns="0" rtlCol="0" anchor="t"/>
          <a:lstStyle/>
          <a:p>
            <a:pPr indent="0" marL="0">
              <a:buNone/>
            </a:pPr>
            <a:r>
              <a:rPr lang="en-US" sz="1500" dirty="0">
                <a:solidFill>
                  <a:schemeClr val="bg2"/>
                </a:solidFill>
              </a:rPr>
              <a:t>Centenas de robôs coordenados no armazém</a:t>
            </a:r>
            <a:endParaRPr lang="en-US" sz="1500" dirty="0"/>
          </a:p>
        </p:txBody>
      </p:sp>
      <p:sp>
        <p:nvSpPr>
          <p:cNvPr id="24" name="Shape 16"/>
          <p:cNvSpPr/>
          <p:nvPr/>
        </p:nvSpPr>
        <p:spPr>
          <a:xfrm>
            <a:off x="8046720" y="3931920"/>
            <a:ext cx="777240" cy="777240"/>
          </a:xfrm>
          <a:prstGeom prst="ellipse">
            <a:avLst/>
          </a:prstGeom>
          <a:solidFill>
            <a:schemeClr val="accent3"/>
          </a:solidFill>
          <a:ln/>
        </p:spPr>
      </p:sp>
      <p:pic>
        <p:nvPicPr>
          <p:cNvPr id="25" name="Image 5" descr="preencoded.png">    </p:cNvPr>
          <p:cNvPicPr>
            <a:picLocks noChangeAspect="1"/>
          </p:cNvPicPr>
          <p:nvPr/>
        </p:nvPicPr>
        <p:blipFill>
          <a:blip r:embed="rId6"/>
          <a:stretch>
            <a:fillRect/>
          </a:stretch>
        </p:blipFill>
        <p:spPr>
          <a:xfrm>
            <a:off x="8233258" y="4118458"/>
            <a:ext cx="404165" cy="404165"/>
          </a:xfrm>
          <a:prstGeom prst="rect">
            <a:avLst/>
          </a:prstGeom>
        </p:spPr>
      </p:pic>
      <p:sp>
        <p:nvSpPr>
          <p:cNvPr id="26" name="Text 17"/>
          <p:cNvSpPr txBox="1"/>
          <p:nvPr/>
        </p:nvSpPr>
        <p:spPr>
          <a:xfrm>
            <a:off x="9052560" y="3950208"/>
            <a:ext cx="2560320" cy="457200"/>
          </a:xfrm>
          <a:prstGeom prst="rect">
            <a:avLst/>
          </a:prstGeom>
          <a:noFill/>
          <a:ln/>
        </p:spPr>
        <p:txBody>
          <a:bodyPr wrap="square" lIns="0" tIns="0" rIns="0" bIns="0" rtlCol="0" anchor="t"/>
          <a:lstStyle/>
          <a:p>
            <a:pPr indent="0" marL="0">
              <a:buNone/>
            </a:pPr>
            <a:r>
              <a:rPr lang="en-US" sz="1800" b="1" dirty="0">
                <a:solidFill>
                  <a:schemeClr val="bg1"/>
                </a:solidFill>
              </a:rPr>
              <a:t>Usou um assistente de IA</a:t>
            </a:r>
            <a:endParaRPr lang="en-US" sz="1800" dirty="0"/>
          </a:p>
        </p:txBody>
      </p:sp>
      <p:sp>
        <p:nvSpPr>
          <p:cNvPr id="27" name="Text 18"/>
          <p:cNvSpPr txBox="1"/>
          <p:nvPr/>
        </p:nvSpPr>
        <p:spPr>
          <a:xfrm>
            <a:off x="9052560" y="4434840"/>
            <a:ext cx="2560320" cy="1097280"/>
          </a:xfrm>
          <a:prstGeom prst="rect">
            <a:avLst/>
          </a:prstGeom>
          <a:noFill/>
          <a:ln/>
        </p:spPr>
        <p:txBody>
          <a:bodyPr wrap="square" lIns="0" tIns="0" rIns="0" bIns="0" rtlCol="0" anchor="t"/>
          <a:lstStyle/>
          <a:p>
            <a:pPr indent="0" marL="0">
              <a:buNone/>
            </a:pPr>
            <a:r>
              <a:rPr lang="en-US" sz="1500" dirty="0">
                <a:solidFill>
                  <a:schemeClr val="bg2"/>
                </a:solidFill>
              </a:rPr>
              <a:t>Um orquestrador delega tarefas a vários subagentes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01</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O que são sistemas multiagentes</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Agentes, PEAS, ambientes e um pouco de história · Notebook, Seção 1</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Agente: perceber, decidir, agir</a:t>
            </a:r>
            <a:endParaRPr lang="en-US" sz="3400" dirty="0"/>
          </a:p>
        </p:txBody>
      </p:sp>
      <p:sp>
        <p:nvSpPr>
          <p:cNvPr id="4" name="Shape 1"/>
          <p:cNvSpPr/>
          <p:nvPr/>
        </p:nvSpPr>
        <p:spPr>
          <a:xfrm>
            <a:off x="548640" y="1645920"/>
            <a:ext cx="2377440" cy="3383280"/>
          </a:xfrm>
          <a:prstGeom prst="roundRect">
            <a:avLst>
              <a:gd name="adj" fmla="val 3077"/>
            </a:avLst>
          </a:prstGeom>
          <a:solidFill>
            <a:schemeClr val="bg2"/>
          </a:solidFill>
          <a:ln/>
        </p:spPr>
      </p:sp>
      <p:sp>
        <p:nvSpPr>
          <p:cNvPr id="5" name="Shape 2"/>
          <p:cNvSpPr/>
          <p:nvPr/>
        </p:nvSpPr>
        <p:spPr>
          <a:xfrm>
            <a:off x="1325880" y="1874520"/>
            <a:ext cx="822960" cy="82296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1523390" y="2072030"/>
            <a:ext cx="427939" cy="427939"/>
          </a:xfrm>
          <a:prstGeom prst="rect">
            <a:avLst/>
          </a:prstGeom>
        </p:spPr>
      </p:pic>
      <p:sp>
        <p:nvSpPr>
          <p:cNvPr id="7" name="Text 3"/>
          <p:cNvSpPr txBox="1"/>
          <p:nvPr/>
        </p:nvSpPr>
        <p:spPr>
          <a:xfrm>
            <a:off x="731520" y="2834640"/>
            <a:ext cx="2011680" cy="411480"/>
          </a:xfrm>
          <a:prstGeom prst="rect">
            <a:avLst/>
          </a:prstGeom>
          <a:noFill/>
          <a:ln/>
        </p:spPr>
        <p:txBody>
          <a:bodyPr wrap="square" lIns="0" tIns="0" rIns="0" bIns="0" rtlCol="0" anchor="t"/>
          <a:lstStyle/>
          <a:p>
            <a:pPr algn="ctr" indent="0" marL="0">
              <a:buNone/>
            </a:pPr>
            <a:r>
              <a:rPr lang="en-US" sz="2000" b="1" dirty="0">
                <a:solidFill>
                  <a:schemeClr val="tx2"/>
                </a:solidFill>
              </a:rPr>
              <a:t>Ambiente</a:t>
            </a:r>
            <a:endParaRPr lang="en-US" sz="2000" dirty="0"/>
          </a:p>
        </p:txBody>
      </p:sp>
      <p:sp>
        <p:nvSpPr>
          <p:cNvPr id="8" name="Text 4"/>
          <p:cNvSpPr txBox="1"/>
          <p:nvPr/>
        </p:nvSpPr>
        <p:spPr>
          <a:xfrm>
            <a:off x="731520" y="3291840"/>
            <a:ext cx="2011680" cy="1097280"/>
          </a:xfrm>
          <a:prstGeom prst="rect">
            <a:avLst/>
          </a:prstGeom>
          <a:noFill/>
          <a:ln/>
        </p:spPr>
        <p:txBody>
          <a:bodyPr wrap="square" lIns="0" tIns="0" rIns="0" bIns="0" rtlCol="0" anchor="t"/>
          <a:lstStyle/>
          <a:p>
            <a:pPr algn="ctr" indent="0" marL="0">
              <a:buNone/>
            </a:pPr>
            <a:r>
              <a:rPr lang="en-US" sz="1400" dirty="0">
                <a:solidFill>
                  <a:schemeClr val="tx1"/>
                </a:solidFill>
              </a:rPr>
              <a:t>outros agentes, pessoas, mundo físico ou digital</a:t>
            </a:r>
            <a:endParaRPr lang="en-US" sz="1400" dirty="0"/>
          </a:p>
        </p:txBody>
      </p:sp>
      <p:sp>
        <p:nvSpPr>
          <p:cNvPr id="9" name="Shape 5"/>
          <p:cNvSpPr/>
          <p:nvPr/>
        </p:nvSpPr>
        <p:spPr>
          <a:xfrm>
            <a:off x="4023360" y="1645920"/>
            <a:ext cx="2377440" cy="3383280"/>
          </a:xfrm>
          <a:prstGeom prst="roundRect">
            <a:avLst>
              <a:gd name="adj" fmla="val 3077"/>
            </a:avLst>
          </a:prstGeom>
          <a:solidFill>
            <a:schemeClr val="accent4"/>
          </a:solidFill>
          <a:ln/>
        </p:spPr>
      </p:sp>
      <p:sp>
        <p:nvSpPr>
          <p:cNvPr id="10" name="Shape 6"/>
          <p:cNvSpPr/>
          <p:nvPr/>
        </p:nvSpPr>
        <p:spPr>
          <a:xfrm>
            <a:off x="4800600" y="1874520"/>
            <a:ext cx="822960" cy="8229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998110" y="2072030"/>
            <a:ext cx="427939" cy="427939"/>
          </a:xfrm>
          <a:prstGeom prst="rect">
            <a:avLst/>
          </a:prstGeom>
        </p:spPr>
      </p:pic>
      <p:sp>
        <p:nvSpPr>
          <p:cNvPr id="12" name="Text 7"/>
          <p:cNvSpPr txBox="1"/>
          <p:nvPr/>
        </p:nvSpPr>
        <p:spPr>
          <a:xfrm>
            <a:off x="4206240" y="2834640"/>
            <a:ext cx="2011680" cy="411480"/>
          </a:xfrm>
          <a:prstGeom prst="rect">
            <a:avLst/>
          </a:prstGeom>
          <a:noFill/>
          <a:ln/>
        </p:spPr>
        <p:txBody>
          <a:bodyPr wrap="square" lIns="0" tIns="0" rIns="0" bIns="0" rtlCol="0" anchor="t"/>
          <a:lstStyle/>
          <a:p>
            <a:pPr algn="ctr" indent="0" marL="0">
              <a:buNone/>
            </a:pPr>
            <a:r>
              <a:rPr lang="en-US" sz="2000" b="1" dirty="0">
                <a:solidFill>
                  <a:schemeClr val="bg1"/>
                </a:solidFill>
              </a:rPr>
              <a:t>Agente</a:t>
            </a:r>
            <a:endParaRPr lang="en-US" sz="2000" dirty="0"/>
          </a:p>
        </p:txBody>
      </p:sp>
      <p:sp>
        <p:nvSpPr>
          <p:cNvPr id="13" name="Text 8"/>
          <p:cNvSpPr txBox="1"/>
          <p:nvPr/>
        </p:nvSpPr>
        <p:spPr>
          <a:xfrm>
            <a:off x="4206240" y="3291840"/>
            <a:ext cx="2011680" cy="1097280"/>
          </a:xfrm>
          <a:prstGeom prst="rect">
            <a:avLst/>
          </a:prstGeom>
          <a:noFill/>
          <a:ln/>
        </p:spPr>
        <p:txBody>
          <a:bodyPr wrap="square" lIns="0" tIns="0" rIns="0" bIns="0" rtlCol="0" anchor="t"/>
          <a:lstStyle/>
          <a:p>
            <a:pPr algn="ctr" indent="0" marL="0">
              <a:buNone/>
            </a:pPr>
            <a:r>
              <a:rPr lang="en-US" sz="1400" dirty="0">
                <a:solidFill>
                  <a:schemeClr val="bg1"/>
                </a:solidFill>
              </a:rPr>
              <a:t>decide o que fazer, segundo a própria agenda</a:t>
            </a:r>
            <a:endParaRPr lang="en-US" sz="1400" dirty="0"/>
          </a:p>
        </p:txBody>
      </p:sp>
      <p:sp>
        <p:nvSpPr>
          <p:cNvPr id="14" name="Shape 9"/>
          <p:cNvSpPr/>
          <p:nvPr/>
        </p:nvSpPr>
        <p:spPr>
          <a:xfrm>
            <a:off x="2971800" y="2240280"/>
            <a:ext cx="1005840" cy="0"/>
          </a:xfrm>
          <a:prstGeom prst="line">
            <a:avLst/>
          </a:prstGeom>
          <a:noFill/>
          <a:ln w="31750">
            <a:solidFill>
              <a:schemeClr val="accent2"/>
            </a:solidFill>
            <a:prstDash val="solid"/>
            <a:tailEnd type="triangle"/>
          </a:ln>
        </p:spPr>
      </p:sp>
      <p:sp>
        <p:nvSpPr>
          <p:cNvPr id="15" name="Text 10"/>
          <p:cNvSpPr txBox="1"/>
          <p:nvPr/>
        </p:nvSpPr>
        <p:spPr>
          <a:xfrm>
            <a:off x="2926080" y="1828800"/>
            <a:ext cx="1097280" cy="320040"/>
          </a:xfrm>
          <a:prstGeom prst="rect">
            <a:avLst/>
          </a:prstGeom>
          <a:noFill/>
          <a:ln/>
        </p:spPr>
        <p:txBody>
          <a:bodyPr wrap="square" lIns="0" tIns="0" rIns="0" bIns="0" rtlCol="0" anchor="t"/>
          <a:lstStyle/>
          <a:p>
            <a:pPr algn="ctr" indent="0" marL="0">
              <a:buNone/>
            </a:pPr>
            <a:r>
              <a:rPr lang="en-US" sz="1200" dirty="0">
                <a:solidFill>
                  <a:schemeClr val="accent6"/>
                </a:solidFill>
              </a:rPr>
              <a:t>percepções</a:t>
            </a:r>
            <a:endParaRPr lang="en-US" sz="1200" dirty="0"/>
          </a:p>
        </p:txBody>
      </p:sp>
      <p:sp>
        <p:nvSpPr>
          <p:cNvPr id="16" name="Text 11"/>
          <p:cNvSpPr txBox="1"/>
          <p:nvPr/>
        </p:nvSpPr>
        <p:spPr>
          <a:xfrm>
            <a:off x="2926080" y="2331720"/>
            <a:ext cx="1097280" cy="274320"/>
          </a:xfrm>
          <a:prstGeom prst="rect">
            <a:avLst/>
          </a:prstGeom>
          <a:noFill/>
          <a:ln/>
        </p:spPr>
        <p:txBody>
          <a:bodyPr wrap="square" lIns="0" tIns="0" rIns="0" bIns="0" rtlCol="0" anchor="t"/>
          <a:lstStyle/>
          <a:p>
            <a:pPr algn="ctr" indent="0" marL="0">
              <a:buNone/>
            </a:pPr>
            <a:r>
              <a:rPr lang="en-US" sz="1200" i="1" dirty="0">
                <a:solidFill>
                  <a:schemeClr val="accent6"/>
                </a:solidFill>
              </a:rPr>
              <a:t>sensores</a:t>
            </a:r>
            <a:endParaRPr lang="en-US" sz="1200" dirty="0"/>
          </a:p>
        </p:txBody>
      </p:sp>
      <p:sp>
        <p:nvSpPr>
          <p:cNvPr id="17" name="Shape 12"/>
          <p:cNvSpPr/>
          <p:nvPr/>
        </p:nvSpPr>
        <p:spPr>
          <a:xfrm flipH="1">
            <a:off x="2971800" y="4434840"/>
            <a:ext cx="1005840" cy="0"/>
          </a:xfrm>
          <a:prstGeom prst="line">
            <a:avLst/>
          </a:prstGeom>
          <a:noFill/>
          <a:ln w="31750">
            <a:solidFill>
              <a:schemeClr val="accent1"/>
            </a:solidFill>
            <a:prstDash val="solid"/>
            <a:tailEnd type="triangle"/>
          </a:ln>
        </p:spPr>
      </p:sp>
      <p:sp>
        <p:nvSpPr>
          <p:cNvPr id="18" name="Text 13"/>
          <p:cNvSpPr txBox="1"/>
          <p:nvPr/>
        </p:nvSpPr>
        <p:spPr>
          <a:xfrm>
            <a:off x="2926080" y="4023360"/>
            <a:ext cx="1097280" cy="320040"/>
          </a:xfrm>
          <a:prstGeom prst="rect">
            <a:avLst/>
          </a:prstGeom>
          <a:noFill/>
          <a:ln/>
        </p:spPr>
        <p:txBody>
          <a:bodyPr wrap="square" lIns="0" tIns="0" rIns="0" bIns="0" rtlCol="0" anchor="t"/>
          <a:lstStyle/>
          <a:p>
            <a:pPr algn="ctr" indent="0" marL="0">
              <a:buNone/>
            </a:pPr>
            <a:r>
              <a:rPr lang="en-US" sz="1200" dirty="0">
                <a:solidFill>
                  <a:schemeClr val="accent6"/>
                </a:solidFill>
              </a:rPr>
              <a:t>ações</a:t>
            </a:r>
            <a:endParaRPr lang="en-US" sz="1200" dirty="0"/>
          </a:p>
        </p:txBody>
      </p:sp>
      <p:sp>
        <p:nvSpPr>
          <p:cNvPr id="19" name="Text 14"/>
          <p:cNvSpPr txBox="1"/>
          <p:nvPr/>
        </p:nvSpPr>
        <p:spPr>
          <a:xfrm>
            <a:off x="2926080" y="4526280"/>
            <a:ext cx="1097280" cy="274320"/>
          </a:xfrm>
          <a:prstGeom prst="rect">
            <a:avLst/>
          </a:prstGeom>
          <a:noFill/>
          <a:ln/>
        </p:spPr>
        <p:txBody>
          <a:bodyPr wrap="square" lIns="0" tIns="0" rIns="0" bIns="0" rtlCol="0" anchor="t"/>
          <a:lstStyle/>
          <a:p>
            <a:pPr algn="ctr" indent="0" marL="0">
              <a:buNone/>
            </a:pPr>
            <a:r>
              <a:rPr lang="en-US" sz="1200" i="1" dirty="0">
                <a:solidFill>
                  <a:schemeClr val="accent6"/>
                </a:solidFill>
              </a:rPr>
              <a:t>atuadores</a:t>
            </a:r>
            <a:endParaRPr lang="en-US" sz="1200" dirty="0"/>
          </a:p>
        </p:txBody>
      </p:sp>
      <p:sp>
        <p:nvSpPr>
          <p:cNvPr id="20" name="Text 15"/>
          <p:cNvSpPr txBox="1"/>
          <p:nvPr/>
        </p:nvSpPr>
        <p:spPr>
          <a:xfrm>
            <a:off x="548640" y="5257800"/>
            <a:ext cx="5852160" cy="731520"/>
          </a:xfrm>
          <a:prstGeom prst="rect">
            <a:avLst/>
          </a:prstGeom>
          <a:noFill/>
          <a:ln/>
        </p:spPr>
        <p:txBody>
          <a:bodyPr wrap="square" lIns="0" tIns="0" rIns="0" bIns="0" rtlCol="0" anchor="t"/>
          <a:lstStyle/>
          <a:p>
            <a:pPr indent="0" marL="0">
              <a:buNone/>
            </a:pPr>
            <a:r>
              <a:rPr lang="en-US" sz="1400" i="1" dirty="0">
                <a:solidFill>
                  <a:schemeClr val="accent6"/>
                </a:solidFill>
              </a:rPr>
              <a:t>Franklin e Graesser (1996): situado no ambiente, age ao longo do tempo e com a própria agenda.</a:t>
            </a:r>
            <a:endParaRPr lang="en-US" sz="1400" dirty="0"/>
          </a:p>
        </p:txBody>
      </p:sp>
      <p:sp>
        <p:nvSpPr>
          <p:cNvPr id="21" name="Shape 16"/>
          <p:cNvSpPr/>
          <p:nvPr/>
        </p:nvSpPr>
        <p:spPr>
          <a:xfrm>
            <a:off x="6858000" y="1645920"/>
            <a:ext cx="4754880" cy="2057400"/>
          </a:xfrm>
          <a:prstGeom prst="roundRect">
            <a:avLst>
              <a:gd name="adj" fmla="val 3556"/>
            </a:avLst>
          </a:prstGeom>
          <a:solidFill>
            <a:schemeClr val="bg2"/>
          </a:solidFill>
          <a:ln/>
        </p:spPr>
      </p:sp>
      <p:sp>
        <p:nvSpPr>
          <p:cNvPr id="22" name="Text 17"/>
          <p:cNvSpPr txBox="1"/>
          <p:nvPr/>
        </p:nvSpPr>
        <p:spPr>
          <a:xfrm>
            <a:off x="7132320" y="1828800"/>
            <a:ext cx="420624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AGENTE</a:t>
            </a:r>
            <a:endParaRPr lang="en-US" sz="1300" dirty="0"/>
          </a:p>
        </p:txBody>
      </p:sp>
      <p:sp>
        <p:nvSpPr>
          <p:cNvPr id="23" name="Text 18"/>
          <p:cNvSpPr txBox="1"/>
          <p:nvPr/>
        </p:nvSpPr>
        <p:spPr>
          <a:xfrm>
            <a:off x="7132320" y="2148840"/>
            <a:ext cx="4206240" cy="1005840"/>
          </a:xfrm>
          <a:prstGeom prst="rect">
            <a:avLst/>
          </a:prstGeom>
          <a:noFill/>
          <a:ln/>
        </p:spPr>
        <p:txBody>
          <a:bodyPr wrap="square" lIns="0" tIns="0" rIns="0" bIns="0" rtlCol="0" anchor="t"/>
          <a:lstStyle/>
          <a:p>
            <a:pPr indent="0" marL="0">
              <a:buNone/>
            </a:pPr>
            <a:r>
              <a:rPr lang="en-US" sz="1700" dirty="0">
                <a:solidFill>
                  <a:schemeClr val="tx1"/>
                </a:solidFill>
              </a:rPr>
              <a:t>Tudo o que percebe o ambiente por meio de sensores e age sobre ele por meio de atuadores.</a:t>
            </a:r>
            <a:endParaRPr lang="en-US" sz="1700" dirty="0"/>
          </a:p>
        </p:txBody>
      </p:sp>
      <p:sp>
        <p:nvSpPr>
          <p:cNvPr id="24" name="Text 19"/>
          <p:cNvSpPr txBox="1"/>
          <p:nvPr/>
        </p:nvSpPr>
        <p:spPr>
          <a:xfrm>
            <a:off x="7132320" y="3246120"/>
            <a:ext cx="4206240" cy="274320"/>
          </a:xfrm>
          <a:prstGeom prst="rect">
            <a:avLst/>
          </a:prstGeom>
          <a:noFill/>
          <a:ln/>
        </p:spPr>
        <p:txBody>
          <a:bodyPr wrap="square" lIns="0" tIns="0" rIns="0" bIns="0" rtlCol="0" anchor="t"/>
          <a:lstStyle/>
          <a:p>
            <a:pPr indent="0" marL="0">
              <a:buNone/>
            </a:pPr>
            <a:r>
              <a:rPr lang="en-US" sz="1300" i="1" dirty="0">
                <a:solidFill>
                  <a:schemeClr val="accent6"/>
                </a:solidFill>
              </a:rPr>
              <a:t>Russell e Norvig (2020, cap. 2)</a:t>
            </a:r>
            <a:endParaRPr lang="en-US" sz="1300" dirty="0"/>
          </a:p>
        </p:txBody>
      </p:sp>
      <p:sp>
        <p:nvSpPr>
          <p:cNvPr id="25" name="Shape 20"/>
          <p:cNvSpPr/>
          <p:nvPr/>
        </p:nvSpPr>
        <p:spPr>
          <a:xfrm>
            <a:off x="6858000" y="3886200"/>
            <a:ext cx="4754880" cy="2103120"/>
          </a:xfrm>
          <a:prstGeom prst="roundRect">
            <a:avLst>
              <a:gd name="adj" fmla="val 3478"/>
            </a:avLst>
          </a:prstGeom>
          <a:solidFill>
            <a:schemeClr val="bg2"/>
          </a:solidFill>
          <a:ln/>
        </p:spPr>
      </p:sp>
      <p:sp>
        <p:nvSpPr>
          <p:cNvPr id="26" name="Text 21"/>
          <p:cNvSpPr txBox="1"/>
          <p:nvPr/>
        </p:nvSpPr>
        <p:spPr>
          <a:xfrm>
            <a:off x="7132320" y="4069080"/>
            <a:ext cx="420624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SISTEMA MULTIAGENTE</a:t>
            </a:r>
            <a:endParaRPr lang="en-US" sz="1300" dirty="0"/>
          </a:p>
        </p:txBody>
      </p:sp>
      <p:sp>
        <p:nvSpPr>
          <p:cNvPr id="27" name="Text 22"/>
          <p:cNvSpPr txBox="1"/>
          <p:nvPr/>
        </p:nvSpPr>
        <p:spPr>
          <a:xfrm>
            <a:off x="7132320" y="4389120"/>
            <a:ext cx="4206240" cy="1051560"/>
          </a:xfrm>
          <a:prstGeom prst="rect">
            <a:avLst/>
          </a:prstGeom>
          <a:noFill/>
          <a:ln/>
        </p:spPr>
        <p:txBody>
          <a:bodyPr wrap="square" lIns="0" tIns="0" rIns="0" bIns="0" rtlCol="0" anchor="t"/>
          <a:lstStyle/>
          <a:p>
            <a:pPr indent="0" marL="0">
              <a:buNone/>
            </a:pPr>
            <a:r>
              <a:rPr lang="en-US" sz="1700" dirty="0">
                <a:solidFill>
                  <a:schemeClr val="tx1"/>
                </a:solidFill>
              </a:rPr>
              <a:t>Vários agentes que interagem uns com os outros, tipicamente trocando mensagens por alguma infraestrutura de comunicação.</a:t>
            </a:r>
            <a:endParaRPr lang="en-US" sz="1700" dirty="0"/>
          </a:p>
        </p:txBody>
      </p:sp>
      <p:sp>
        <p:nvSpPr>
          <p:cNvPr id="28" name="Text 23"/>
          <p:cNvSpPr txBox="1"/>
          <p:nvPr/>
        </p:nvSpPr>
        <p:spPr>
          <a:xfrm>
            <a:off x="7132320" y="5532120"/>
            <a:ext cx="4206240" cy="274320"/>
          </a:xfrm>
          <a:prstGeom prst="rect">
            <a:avLst/>
          </a:prstGeom>
          <a:noFill/>
          <a:ln/>
        </p:spPr>
        <p:txBody>
          <a:bodyPr wrap="square" lIns="0" tIns="0" rIns="0" bIns="0" rtlCol="0" anchor="t"/>
          <a:lstStyle/>
          <a:p>
            <a:pPr indent="0" marL="0">
              <a:buNone/>
            </a:pPr>
            <a:r>
              <a:rPr lang="en-US" sz="1300" i="1" dirty="0">
                <a:solidFill>
                  <a:schemeClr val="accent6"/>
                </a:solidFill>
              </a:rPr>
              <a:t>Wooldridge (2009)</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As quatro propriedades de um agente</a:t>
            </a:r>
            <a:endParaRPr lang="en-US" sz="3400" dirty="0"/>
          </a:p>
        </p:txBody>
      </p:sp>
      <p:sp>
        <p:nvSpPr>
          <p:cNvPr id="4" name="Shape 1"/>
          <p:cNvSpPr/>
          <p:nvPr/>
        </p:nvSpPr>
        <p:spPr>
          <a:xfrm>
            <a:off x="548640" y="1417320"/>
            <a:ext cx="2651760" cy="3520440"/>
          </a:xfrm>
          <a:prstGeom prst="roundRect">
            <a:avLst>
              <a:gd name="adj" fmla="val 2759"/>
            </a:avLst>
          </a:prstGeom>
          <a:solidFill>
            <a:schemeClr val="bg2"/>
          </a:solidFill>
          <a:ln/>
        </p:spPr>
      </p:sp>
      <p:sp>
        <p:nvSpPr>
          <p:cNvPr id="5" name="Shape 2"/>
          <p:cNvSpPr/>
          <p:nvPr/>
        </p:nvSpPr>
        <p:spPr>
          <a:xfrm>
            <a:off x="777240" y="1645920"/>
            <a:ext cx="640080" cy="64008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3"/>
          <p:cNvSpPr txBox="1"/>
          <p:nvPr/>
        </p:nvSpPr>
        <p:spPr>
          <a:xfrm>
            <a:off x="777240"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Autonomia</a:t>
            </a:r>
            <a:endParaRPr lang="en-US" sz="2000" dirty="0"/>
          </a:p>
        </p:txBody>
      </p:sp>
      <p:sp>
        <p:nvSpPr>
          <p:cNvPr id="8" name="Text 4"/>
          <p:cNvSpPr txBox="1"/>
          <p:nvPr/>
        </p:nvSpPr>
        <p:spPr>
          <a:xfrm>
            <a:off x="777240" y="2834640"/>
            <a:ext cx="219456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Age sem intervenção direta e controla as próprias ações.</a:t>
            </a:r>
            <a:endParaRPr lang="en-US" sz="1600" dirty="0"/>
          </a:p>
          <a:p>
            <a:pPr indent="0" marL="0">
              <a:spcAft>
                <a:spcPts val="600"/>
              </a:spcAft>
              <a:buNone/>
            </a:pPr>
            <a:r>
              <a:rPr lang="en-US" sz="1400" i="1" dirty="0">
                <a:solidFill>
                  <a:schemeClr val="accent4"/>
                </a:solidFill>
              </a:rPr>
              <a:t>Ex.: O aspirador decide sozinho para onde ir.</a:t>
            </a:r>
            <a:endParaRPr lang="en-US" sz="1600" dirty="0"/>
          </a:p>
        </p:txBody>
      </p:sp>
      <p:sp>
        <p:nvSpPr>
          <p:cNvPr id="9" name="Shape 5"/>
          <p:cNvSpPr/>
          <p:nvPr/>
        </p:nvSpPr>
        <p:spPr>
          <a:xfrm>
            <a:off x="3353105" y="1417320"/>
            <a:ext cx="2651760" cy="3520440"/>
          </a:xfrm>
          <a:prstGeom prst="roundRect">
            <a:avLst>
              <a:gd name="adj" fmla="val 2759"/>
            </a:avLst>
          </a:prstGeom>
          <a:solidFill>
            <a:schemeClr val="bg2"/>
          </a:solidFill>
          <a:ln/>
        </p:spPr>
      </p:sp>
      <p:sp>
        <p:nvSpPr>
          <p:cNvPr id="10" name="Shape 6"/>
          <p:cNvSpPr/>
          <p:nvPr/>
        </p:nvSpPr>
        <p:spPr>
          <a:xfrm>
            <a:off x="3581705" y="1645920"/>
            <a:ext cx="640080" cy="64008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735324" y="1799539"/>
            <a:ext cx="332842" cy="332842"/>
          </a:xfrm>
          <a:prstGeom prst="rect">
            <a:avLst/>
          </a:prstGeom>
        </p:spPr>
      </p:pic>
      <p:sp>
        <p:nvSpPr>
          <p:cNvPr id="12" name="Text 7"/>
          <p:cNvSpPr txBox="1"/>
          <p:nvPr/>
        </p:nvSpPr>
        <p:spPr>
          <a:xfrm>
            <a:off x="3581705"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Reatividade</a:t>
            </a:r>
            <a:endParaRPr lang="en-US" sz="2000" dirty="0"/>
          </a:p>
        </p:txBody>
      </p:sp>
      <p:sp>
        <p:nvSpPr>
          <p:cNvPr id="13" name="Text 8"/>
          <p:cNvSpPr txBox="1"/>
          <p:nvPr/>
        </p:nvSpPr>
        <p:spPr>
          <a:xfrm>
            <a:off x="3581705" y="2834640"/>
            <a:ext cx="219456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Percebe o ambiente e responde a tempo às mudanças.</a:t>
            </a:r>
            <a:endParaRPr lang="en-US" sz="1600" dirty="0"/>
          </a:p>
          <a:p>
            <a:pPr indent="0" marL="0">
              <a:spcAft>
                <a:spcPts val="600"/>
              </a:spcAft>
              <a:buNone/>
            </a:pPr>
            <a:r>
              <a:rPr lang="en-US" sz="1400" i="1" dirty="0">
                <a:solidFill>
                  <a:schemeClr val="accent4"/>
                </a:solidFill>
              </a:rPr>
              <a:t>Ex.: Freia ao detectar um degrau.</a:t>
            </a:r>
            <a:endParaRPr lang="en-US" sz="1600" dirty="0"/>
          </a:p>
        </p:txBody>
      </p:sp>
      <p:sp>
        <p:nvSpPr>
          <p:cNvPr id="14" name="Shape 9"/>
          <p:cNvSpPr/>
          <p:nvPr/>
        </p:nvSpPr>
        <p:spPr>
          <a:xfrm>
            <a:off x="6157570" y="1417320"/>
            <a:ext cx="2651760" cy="3520440"/>
          </a:xfrm>
          <a:prstGeom prst="roundRect">
            <a:avLst>
              <a:gd name="adj" fmla="val 2759"/>
            </a:avLst>
          </a:prstGeom>
          <a:solidFill>
            <a:schemeClr val="bg2"/>
          </a:solidFill>
          <a:ln/>
        </p:spPr>
      </p:sp>
      <p:sp>
        <p:nvSpPr>
          <p:cNvPr id="15" name="Shape 10"/>
          <p:cNvSpPr/>
          <p:nvPr/>
        </p:nvSpPr>
        <p:spPr>
          <a:xfrm>
            <a:off x="6386170" y="1645920"/>
            <a:ext cx="640080" cy="640080"/>
          </a:xfrm>
          <a:prstGeom prst="ellipse">
            <a:avLst/>
          </a:prstGeom>
          <a:solidFill>
            <a:schemeClr val="accent4"/>
          </a:solidFill>
          <a:ln/>
        </p:spPr>
      </p:sp>
      <p:pic>
        <p:nvPicPr>
          <p:cNvPr id="16" name="Image 2" descr="preencoded.png">    </p:cNvPr>
          <p:cNvPicPr>
            <a:picLocks noChangeAspect="1"/>
          </p:cNvPicPr>
          <p:nvPr/>
        </p:nvPicPr>
        <p:blipFill>
          <a:blip r:embed="rId3"/>
          <a:stretch>
            <a:fillRect/>
          </a:stretch>
        </p:blipFill>
        <p:spPr>
          <a:xfrm>
            <a:off x="6539789" y="1799539"/>
            <a:ext cx="332842" cy="332842"/>
          </a:xfrm>
          <a:prstGeom prst="rect">
            <a:avLst/>
          </a:prstGeom>
        </p:spPr>
      </p:pic>
      <p:sp>
        <p:nvSpPr>
          <p:cNvPr id="17" name="Text 11"/>
          <p:cNvSpPr txBox="1"/>
          <p:nvPr/>
        </p:nvSpPr>
        <p:spPr>
          <a:xfrm>
            <a:off x="6386170"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Proatividade</a:t>
            </a:r>
            <a:endParaRPr lang="en-US" sz="2000" dirty="0"/>
          </a:p>
        </p:txBody>
      </p:sp>
      <p:sp>
        <p:nvSpPr>
          <p:cNvPr id="18" name="Text 12"/>
          <p:cNvSpPr txBox="1"/>
          <p:nvPr/>
        </p:nvSpPr>
        <p:spPr>
          <a:xfrm>
            <a:off x="6386170" y="2834640"/>
            <a:ext cx="219456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Toma a iniciativa para cumprir objetivos.</a:t>
            </a:r>
            <a:endParaRPr lang="en-US" sz="1600" dirty="0"/>
          </a:p>
          <a:p>
            <a:pPr indent="0" marL="0">
              <a:spcAft>
                <a:spcPts val="600"/>
              </a:spcAft>
              <a:buNone/>
            </a:pPr>
            <a:r>
              <a:rPr lang="en-US" sz="1400" i="1" dirty="0">
                <a:solidFill>
                  <a:schemeClr val="accent4"/>
                </a:solidFill>
              </a:rPr>
              <a:t>Ex.: Volta à base antes de a bateria acabar.</a:t>
            </a:r>
            <a:endParaRPr lang="en-US" sz="1600" dirty="0"/>
          </a:p>
        </p:txBody>
      </p:sp>
      <p:sp>
        <p:nvSpPr>
          <p:cNvPr id="19" name="Shape 13"/>
          <p:cNvSpPr/>
          <p:nvPr/>
        </p:nvSpPr>
        <p:spPr>
          <a:xfrm>
            <a:off x="8962034" y="1417320"/>
            <a:ext cx="2651760" cy="3520440"/>
          </a:xfrm>
          <a:prstGeom prst="roundRect">
            <a:avLst>
              <a:gd name="adj" fmla="val 2759"/>
            </a:avLst>
          </a:prstGeom>
          <a:solidFill>
            <a:schemeClr val="bg2"/>
          </a:solidFill>
          <a:ln/>
        </p:spPr>
      </p:sp>
      <p:sp>
        <p:nvSpPr>
          <p:cNvPr id="20" name="Shape 14"/>
          <p:cNvSpPr/>
          <p:nvPr/>
        </p:nvSpPr>
        <p:spPr>
          <a:xfrm>
            <a:off x="9190634" y="1645920"/>
            <a:ext cx="640080" cy="640080"/>
          </a:xfrm>
          <a:prstGeom prst="ellipse">
            <a:avLst/>
          </a:prstGeom>
          <a:solidFill>
            <a:schemeClr val="accent5"/>
          </a:solidFill>
          <a:ln/>
        </p:spPr>
      </p:sp>
      <p:pic>
        <p:nvPicPr>
          <p:cNvPr id="21" name="Image 3" descr="preencoded.png">    </p:cNvPr>
          <p:cNvPicPr>
            <a:picLocks noChangeAspect="1"/>
          </p:cNvPicPr>
          <p:nvPr/>
        </p:nvPicPr>
        <p:blipFill>
          <a:blip r:embed="rId4"/>
          <a:stretch>
            <a:fillRect/>
          </a:stretch>
        </p:blipFill>
        <p:spPr>
          <a:xfrm>
            <a:off x="9344254" y="1799539"/>
            <a:ext cx="332842" cy="332842"/>
          </a:xfrm>
          <a:prstGeom prst="rect">
            <a:avLst/>
          </a:prstGeom>
        </p:spPr>
      </p:pic>
      <p:sp>
        <p:nvSpPr>
          <p:cNvPr id="22" name="Text 15"/>
          <p:cNvSpPr txBox="1"/>
          <p:nvPr/>
        </p:nvSpPr>
        <p:spPr>
          <a:xfrm>
            <a:off x="9190634"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Sociabilidade</a:t>
            </a:r>
            <a:endParaRPr lang="en-US" sz="2000" dirty="0"/>
          </a:p>
        </p:txBody>
      </p:sp>
      <p:sp>
        <p:nvSpPr>
          <p:cNvPr id="23" name="Text 16"/>
          <p:cNvSpPr txBox="1"/>
          <p:nvPr/>
        </p:nvSpPr>
        <p:spPr>
          <a:xfrm>
            <a:off x="9190634" y="2834640"/>
            <a:ext cx="2194560" cy="19202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Interage com outros agentes e com humanos por mensagens.</a:t>
            </a:r>
            <a:endParaRPr lang="en-US" sz="1600" dirty="0"/>
          </a:p>
          <a:p>
            <a:pPr indent="0" marL="0">
              <a:spcAft>
                <a:spcPts val="600"/>
              </a:spcAft>
              <a:buNone/>
            </a:pPr>
            <a:r>
              <a:rPr lang="en-US" sz="1400" i="1" dirty="0">
                <a:solidFill>
                  <a:schemeClr val="accent4"/>
                </a:solidFill>
              </a:rPr>
              <a:t>Ex.: O entregador aceita ou recusa um pedido.</a:t>
            </a:r>
            <a:endParaRPr lang="en-US" sz="1600" dirty="0"/>
          </a:p>
        </p:txBody>
      </p:sp>
      <p:sp>
        <p:nvSpPr>
          <p:cNvPr id="24" name="Shape 17"/>
          <p:cNvSpPr/>
          <p:nvPr/>
        </p:nvSpPr>
        <p:spPr>
          <a:xfrm>
            <a:off x="548640" y="5166360"/>
            <a:ext cx="11064240" cy="868680"/>
          </a:xfrm>
          <a:prstGeom prst="roundRect">
            <a:avLst>
              <a:gd name="adj" fmla="val 8421"/>
            </a:avLst>
          </a:prstGeom>
          <a:solidFill>
            <a:schemeClr val="tx2"/>
          </a:solidFill>
          <a:ln/>
        </p:spPr>
      </p:sp>
      <p:sp>
        <p:nvSpPr>
          <p:cNvPr id="25" name="Shape 18"/>
          <p:cNvSpPr/>
          <p:nvPr/>
        </p:nvSpPr>
        <p:spPr>
          <a:xfrm>
            <a:off x="731520" y="5303520"/>
            <a:ext cx="594360" cy="59436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874166" y="5446166"/>
            <a:ext cx="309067" cy="309067"/>
          </a:xfrm>
          <a:prstGeom prst="rect">
            <a:avLst/>
          </a:prstGeom>
        </p:spPr>
      </p:pic>
      <p:sp>
        <p:nvSpPr>
          <p:cNvPr id="27" name="Text 19"/>
          <p:cNvSpPr txBox="1"/>
          <p:nvPr/>
        </p:nvSpPr>
        <p:spPr>
          <a:xfrm>
            <a:off x="1508760" y="5303520"/>
            <a:ext cx="9875520" cy="594360"/>
          </a:xfrm>
          <a:prstGeom prst="rect">
            <a:avLst/>
          </a:prstGeom>
          <a:noFill/>
          <a:ln/>
        </p:spPr>
        <p:txBody>
          <a:bodyPr wrap="square" lIns="0" tIns="0" rIns="0" bIns="0" rtlCol="0" anchor="ctr"/>
          <a:lstStyle/>
          <a:p>
            <a:pPr indent="0" marL="0">
              <a:buNone/>
            </a:pPr>
            <a:r>
              <a:rPr lang="en-US" sz="1600" b="1" dirty="0">
                <a:solidFill>
                  <a:schemeClr val="accent3"/>
                </a:solidFill>
              </a:rPr>
              <a:t>Noção forte de agência: </a:t>
            </a:r>
            <a:pPr indent="0" marL="0">
              <a:buNone/>
            </a:pPr>
            <a:r>
              <a:rPr lang="en-US" sz="1600" dirty="0">
                <a:solidFill>
                  <a:schemeClr val="bg1"/>
                </a:solidFill>
              </a:rPr>
              <a:t>o agente descrito com estados mentais (crenças, desejos, intenções). É a origem da arquitetura BDI.</a:t>
            </a:r>
            <a:endParaRPr lang="en-US" sz="1600" dirty="0"/>
          </a:p>
        </p:txBody>
      </p:sp>
      <p:sp>
        <p:nvSpPr>
          <p:cNvPr id="28" name="Text 20"/>
          <p:cNvSpPr txBox="1"/>
          <p:nvPr/>
        </p:nvSpPr>
        <p:spPr>
          <a:xfrm>
            <a:off x="548640" y="6108192"/>
            <a:ext cx="5486400" cy="228600"/>
          </a:xfrm>
          <a:prstGeom prst="rect">
            <a:avLst/>
          </a:prstGeom>
          <a:noFill/>
          <a:ln/>
        </p:spPr>
        <p:txBody>
          <a:bodyPr wrap="square" lIns="0" tIns="0" rIns="0" bIns="0" rtlCol="0" anchor="t"/>
          <a:lstStyle/>
          <a:p>
            <a:pPr indent="0" marL="0">
              <a:buNone/>
            </a:pPr>
            <a:r>
              <a:rPr lang="en-US" sz="1100" i="1" dirty="0">
                <a:solidFill>
                  <a:schemeClr val="accent6"/>
                </a:solidFill>
              </a:rPr>
              <a:t>Wooldridge e Jennings (1995)</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Agente × objeto: quem decide?</a:t>
            </a:r>
            <a:endParaRPr lang="en-US" sz="3400" dirty="0"/>
          </a:p>
        </p:txBody>
      </p:sp>
      <p:sp>
        <p:nvSpPr>
          <p:cNvPr id="4" name="Text 1"/>
          <p:cNvSpPr txBox="1"/>
          <p:nvPr/>
        </p:nvSpPr>
        <p:spPr>
          <a:xfrm>
            <a:off x="548640" y="1325880"/>
            <a:ext cx="11064240" cy="502920"/>
          </a:xfrm>
          <a:prstGeom prst="rect">
            <a:avLst/>
          </a:prstGeom>
          <a:noFill/>
          <a:ln/>
        </p:spPr>
        <p:txBody>
          <a:bodyPr wrap="square" lIns="0" tIns="0" rIns="0" bIns="0" rtlCol="0" anchor="t"/>
          <a:lstStyle/>
          <a:p>
            <a:pPr indent="0" marL="0">
              <a:buNone/>
            </a:pPr>
            <a:r>
              <a:rPr lang="en-US" sz="2200" i="1" dirty="0">
                <a:solidFill>
                  <a:schemeClr val="accent4"/>
                </a:solidFill>
              </a:rPr>
              <a:t>“Objetos fazem de graça; agentes fazem porque querem.”  — Wooldridge (2009)</a:t>
            </a:r>
            <a:endParaRPr lang="en-US" sz="2200" dirty="0"/>
          </a:p>
        </p:txBody>
      </p:sp>
      <p:sp>
        <p:nvSpPr>
          <p:cNvPr id="5" name="Shape 2"/>
          <p:cNvSpPr/>
          <p:nvPr/>
        </p:nvSpPr>
        <p:spPr>
          <a:xfrm>
            <a:off x="548640" y="2011680"/>
            <a:ext cx="5394960" cy="4069080"/>
          </a:xfrm>
          <a:prstGeom prst="roundRect">
            <a:avLst>
              <a:gd name="adj" fmla="val 1798"/>
            </a:avLst>
          </a:prstGeom>
          <a:solidFill>
            <a:schemeClr val="bg2"/>
          </a:solidFill>
          <a:ln/>
        </p:spPr>
      </p:sp>
      <p:sp>
        <p:nvSpPr>
          <p:cNvPr id="6" name="Shape 3"/>
          <p:cNvSpPr/>
          <p:nvPr/>
        </p:nvSpPr>
        <p:spPr>
          <a:xfrm>
            <a:off x="822960" y="2194560"/>
            <a:ext cx="594360" cy="594360"/>
          </a:xfrm>
          <a:prstGeom prst="ellipse">
            <a:avLst/>
          </a:prstGeom>
          <a:solidFill>
            <a:schemeClr val="accent6"/>
          </a:solidFill>
          <a:ln/>
        </p:spPr>
      </p:sp>
      <p:pic>
        <p:nvPicPr>
          <p:cNvPr id="7" name="Image 0" descr="preencoded.png">    </p:cNvPr>
          <p:cNvPicPr>
            <a:picLocks noChangeAspect="1"/>
          </p:cNvPicPr>
          <p:nvPr/>
        </p:nvPicPr>
        <p:blipFill>
          <a:blip r:embed="rId1"/>
          <a:stretch>
            <a:fillRect/>
          </a:stretch>
        </p:blipFill>
        <p:spPr>
          <a:xfrm>
            <a:off x="965606" y="2337206"/>
            <a:ext cx="309067" cy="309067"/>
          </a:xfrm>
          <a:prstGeom prst="rect">
            <a:avLst/>
          </a:prstGeom>
        </p:spPr>
      </p:pic>
      <p:sp>
        <p:nvSpPr>
          <p:cNvPr id="8" name="Text 4"/>
          <p:cNvSpPr txBox="1"/>
          <p:nvPr/>
        </p:nvSpPr>
        <p:spPr>
          <a:xfrm>
            <a:off x="1600200" y="2267712"/>
            <a:ext cx="4114800" cy="457200"/>
          </a:xfrm>
          <a:prstGeom prst="rect">
            <a:avLst/>
          </a:prstGeom>
          <a:noFill/>
          <a:ln/>
        </p:spPr>
        <p:txBody>
          <a:bodyPr wrap="square" lIns="0" tIns="0" rIns="0" bIns="0" rtlCol="0" anchor="t"/>
          <a:lstStyle/>
          <a:p>
            <a:pPr indent="0" marL="0">
              <a:buNone/>
            </a:pPr>
            <a:r>
              <a:rPr lang="en-US" sz="2200" b="1" dirty="0">
                <a:solidFill>
                  <a:schemeClr val="tx2"/>
                </a:solidFill>
              </a:rPr>
              <a:t>Objeto (POO)</a:t>
            </a:r>
            <a:endParaRPr lang="en-US" sz="2200" dirty="0"/>
          </a:p>
        </p:txBody>
      </p:sp>
      <p:sp>
        <p:nvSpPr>
          <p:cNvPr id="9" name="Shape 5"/>
          <p:cNvSpPr/>
          <p:nvPr/>
        </p:nvSpPr>
        <p:spPr>
          <a:xfrm>
            <a:off x="822960" y="2971800"/>
            <a:ext cx="4846320" cy="1143000"/>
          </a:xfrm>
          <a:prstGeom prst="roundRect">
            <a:avLst>
              <a:gd name="adj" fmla="val 6400"/>
            </a:avLst>
          </a:prstGeom>
          <a:solidFill>
            <a:schemeClr val="tx2"/>
          </a:solidFill>
          <a:ln/>
        </p:spPr>
      </p:sp>
      <p:sp>
        <p:nvSpPr>
          <p:cNvPr id="10" name="Text 6"/>
          <p:cNvSpPr txBox="1"/>
          <p:nvPr/>
        </p:nvSpPr>
        <p:spPr>
          <a:xfrm>
            <a:off x="1005840" y="3063240"/>
            <a:ext cx="4480560" cy="96012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estoque.reservar("notebook", 1)</a:t>
            </a:r>
            <a:endParaRPr lang="en-US" sz="1400" dirty="0"/>
          </a:p>
        </p:txBody>
      </p:sp>
      <p:sp>
        <p:nvSpPr>
          <p:cNvPr id="11" name="Text 7"/>
          <p:cNvSpPr txBox="1"/>
          <p:nvPr/>
        </p:nvSpPr>
        <p:spPr>
          <a:xfrm>
            <a:off x="822960" y="4206240"/>
            <a:ext cx="4846320" cy="411480"/>
          </a:xfrm>
          <a:prstGeom prst="rect">
            <a:avLst/>
          </a:prstGeom>
          <a:noFill/>
          <a:ln/>
        </p:spPr>
        <p:txBody>
          <a:bodyPr wrap="square" lIns="0" tIns="0" rIns="0" bIns="0" rtlCol="0" anchor="t"/>
          <a:lstStyle/>
          <a:p>
            <a:pPr indent="0" marL="0">
              <a:buNone/>
            </a:pPr>
            <a:r>
              <a:rPr lang="en-US" sz="1500" b="1" dirty="0">
                <a:solidFill>
                  <a:schemeClr val="tx1"/>
                </a:solidFill>
              </a:rPr>
              <a:t>Executa sempre, porque foi chamado.</a:t>
            </a:r>
            <a:endParaRPr lang="en-US" sz="1500" dirty="0"/>
          </a:p>
        </p:txBody>
      </p:sp>
      <p:sp>
        <p:nvSpPr>
          <p:cNvPr id="12" name="Text 8"/>
          <p:cNvSpPr txBox="1"/>
          <p:nvPr/>
        </p:nvSpPr>
        <p:spPr>
          <a:xfrm>
            <a:off x="822960" y="4663440"/>
            <a:ext cx="4846320" cy="13258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Quem decide: quem chama o método</a:t>
            </a:r>
            <a:endParaRPr lang="en-US" sz="1500" dirty="0"/>
          </a:p>
          <a:p>
            <a:pPr marL="342900" indent="-342900">
              <a:spcAft>
                <a:spcPts val="400"/>
              </a:spcAft>
              <a:buSzPct val="100000"/>
              <a:buChar char="•"/>
            </a:pPr>
            <a:r>
              <a:rPr lang="en-US" sz="1500" dirty="0">
                <a:solidFill>
                  <a:schemeClr val="tx1"/>
                </a:solidFill>
              </a:rPr>
              <a:t>Um só fluxo de controle, de fora</a:t>
            </a:r>
            <a:endParaRPr lang="en-US" sz="1500" dirty="0"/>
          </a:p>
          <a:p>
            <a:pPr marL="342900" indent="-342900">
              <a:spcAft>
                <a:spcPts val="400"/>
              </a:spcAft>
              <a:buSzPct val="100000"/>
              <a:buChar char="•"/>
            </a:pPr>
            <a:r>
              <a:rPr lang="en-US" sz="1500" dirty="0">
                <a:solidFill>
                  <a:schemeClr val="tx1"/>
                </a:solidFill>
              </a:rPr>
              <a:t>Interesses: os do programa</a:t>
            </a:r>
            <a:endParaRPr lang="en-US" sz="1500" dirty="0"/>
          </a:p>
        </p:txBody>
      </p:sp>
      <p:sp>
        <p:nvSpPr>
          <p:cNvPr id="13" name="Shape 9"/>
          <p:cNvSpPr/>
          <p:nvPr/>
        </p:nvSpPr>
        <p:spPr>
          <a:xfrm>
            <a:off x="6217920" y="2011680"/>
            <a:ext cx="5394960" cy="4069080"/>
          </a:xfrm>
          <a:prstGeom prst="roundRect">
            <a:avLst>
              <a:gd name="adj" fmla="val 1798"/>
            </a:avLst>
          </a:prstGeom>
          <a:solidFill>
            <a:schemeClr val="bg2"/>
          </a:solidFill>
          <a:ln/>
        </p:spPr>
      </p:sp>
      <p:sp>
        <p:nvSpPr>
          <p:cNvPr id="14" name="Shape 10"/>
          <p:cNvSpPr/>
          <p:nvPr/>
        </p:nvSpPr>
        <p:spPr>
          <a:xfrm>
            <a:off x="6492240" y="2194560"/>
            <a:ext cx="594360" cy="59436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6634886" y="2337206"/>
            <a:ext cx="309067" cy="309067"/>
          </a:xfrm>
          <a:prstGeom prst="rect">
            <a:avLst/>
          </a:prstGeom>
        </p:spPr>
      </p:pic>
      <p:sp>
        <p:nvSpPr>
          <p:cNvPr id="16" name="Text 11"/>
          <p:cNvSpPr txBox="1"/>
          <p:nvPr/>
        </p:nvSpPr>
        <p:spPr>
          <a:xfrm>
            <a:off x="7269480" y="2267712"/>
            <a:ext cx="4114800" cy="457200"/>
          </a:xfrm>
          <a:prstGeom prst="rect">
            <a:avLst/>
          </a:prstGeom>
          <a:noFill/>
          <a:ln/>
        </p:spPr>
        <p:txBody>
          <a:bodyPr wrap="square" lIns="0" tIns="0" rIns="0" bIns="0" rtlCol="0" anchor="t"/>
          <a:lstStyle/>
          <a:p>
            <a:pPr indent="0" marL="0">
              <a:buNone/>
            </a:pPr>
            <a:r>
              <a:rPr lang="en-US" sz="2200" b="1" dirty="0">
                <a:solidFill>
                  <a:schemeClr val="tx2"/>
                </a:solidFill>
              </a:rPr>
              <a:t>Agente</a:t>
            </a:r>
            <a:endParaRPr lang="en-US" sz="2200" dirty="0"/>
          </a:p>
        </p:txBody>
      </p:sp>
      <p:sp>
        <p:nvSpPr>
          <p:cNvPr id="17" name="Shape 12"/>
          <p:cNvSpPr/>
          <p:nvPr/>
        </p:nvSpPr>
        <p:spPr>
          <a:xfrm>
            <a:off x="6492240" y="2971800"/>
            <a:ext cx="4846320" cy="1143000"/>
          </a:xfrm>
          <a:prstGeom prst="roundRect">
            <a:avLst>
              <a:gd name="adj" fmla="val 6400"/>
            </a:avLst>
          </a:prstGeom>
          <a:solidFill>
            <a:schemeClr val="tx2"/>
          </a:solidFill>
          <a:ln/>
        </p:spPr>
      </p:sp>
      <p:sp>
        <p:nvSpPr>
          <p:cNvPr id="18" name="Text 13"/>
          <p:cNvSpPr txBox="1"/>
          <p:nvPr/>
        </p:nvSpPr>
        <p:spPr>
          <a:xfrm>
            <a:off x="6675120" y="3063240"/>
            <a:ext cx="4480560" cy="96012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pedido: "reserve 1 notebook"</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"Recuso: a última unidade está prometida."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"Proponho: o modelo superior, mesmo preço."</a:t>
            </a:r>
            <a:endParaRPr lang="en-US" sz="1400" dirty="0"/>
          </a:p>
        </p:txBody>
      </p:sp>
      <p:sp>
        <p:nvSpPr>
          <p:cNvPr id="19" name="Text 14"/>
          <p:cNvSpPr txBox="1"/>
          <p:nvPr/>
        </p:nvSpPr>
        <p:spPr>
          <a:xfrm>
            <a:off x="6492240" y="4206240"/>
            <a:ext cx="4846320" cy="411480"/>
          </a:xfrm>
          <a:prstGeom prst="rect">
            <a:avLst/>
          </a:prstGeom>
          <a:noFill/>
          <a:ln/>
        </p:spPr>
        <p:txBody>
          <a:bodyPr wrap="square" lIns="0" tIns="0" rIns="0" bIns="0" rtlCol="0" anchor="t"/>
          <a:lstStyle/>
          <a:p>
            <a:pPr indent="0" marL="0">
              <a:buNone/>
            </a:pPr>
            <a:r>
              <a:rPr lang="en-US" sz="1500" b="1" dirty="0">
                <a:solidFill>
                  <a:schemeClr val="accent1"/>
                </a:solidFill>
              </a:rPr>
              <a:t>Decide se executa, recusa ou negocia.</a:t>
            </a:r>
            <a:endParaRPr lang="en-US" sz="1500" dirty="0"/>
          </a:p>
        </p:txBody>
      </p:sp>
      <p:sp>
        <p:nvSpPr>
          <p:cNvPr id="20" name="Text 15"/>
          <p:cNvSpPr txBox="1"/>
          <p:nvPr/>
        </p:nvSpPr>
        <p:spPr>
          <a:xfrm>
            <a:off x="6492240" y="4663440"/>
            <a:ext cx="4846320" cy="13258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Quem decide: o próprio agente</a:t>
            </a:r>
            <a:endParaRPr lang="en-US" sz="1500" dirty="0"/>
          </a:p>
          <a:p>
            <a:pPr marL="342900" indent="-342900">
              <a:spcAft>
                <a:spcPts val="400"/>
              </a:spcAft>
              <a:buSzPct val="100000"/>
              <a:buChar char="•"/>
            </a:pPr>
            <a:r>
              <a:rPr lang="en-US" sz="1500" dirty="0">
                <a:solidFill>
                  <a:schemeClr val="tx1"/>
                </a:solidFill>
              </a:rPr>
              <a:t>Laço próprio: perceber → decidir → agir</a:t>
            </a:r>
            <a:endParaRPr lang="en-US" sz="1500" dirty="0"/>
          </a:p>
          <a:p>
            <a:pPr marL="342900" indent="-342900">
              <a:spcAft>
                <a:spcPts val="400"/>
              </a:spcAft>
              <a:buSzPct val="100000"/>
              <a:buChar char="•"/>
            </a:pPr>
            <a:r>
              <a:rPr lang="en-US" sz="1500" dirty="0">
                <a:solidFill>
                  <a:schemeClr val="tx1"/>
                </a:solidFill>
              </a:rPr>
              <a:t>Interesses próprios, que podem conflitar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PEAS: descreva o agente antes de programar</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2331720"/>
                <a:gridCol w="2331720"/>
                <a:gridCol w="2103120"/>
                <a:gridCol w="2194560"/>
              </a:tblGrid>
              <a:tr h="713232">
                <a:tc>
                  <a:txBody>
                    <a:bodyPr/>
                    <a:lstStyle/>
                    <a:p>
                      <a:pPr indent="0" marL="0">
                        <a:buNone/>
                      </a:pPr>
                      <a:r>
                        <a:rPr lang="en-US" sz="1400" b="1" dirty="0">
                          <a:solidFill>
                            <a:schemeClr val="bg1"/>
                          </a:solidFill>
                        </a:rPr>
                        <a:t>Agente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Desempenho (P)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Ambiente (E)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Atuadores (A)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Sensores (S)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713232">
                <a:tc>
                  <a:txBody>
                    <a:bodyPr/>
                    <a:lstStyle/>
                    <a:p>
                      <a:pPr indent="0" marL="0">
                        <a:buNone/>
                      </a:pPr>
                      <a:r>
                        <a:rPr lang="en-US" sz="1400" b="1" dirty="0">
                          <a:solidFill>
                            <a:schemeClr val="tx1"/>
                          </a:solidFill>
                        </a:rPr>
                        <a:t>Robô aspirador</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do piso limpo, tempo, bateria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Casa, móveis, pessoas, animais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Rodas, escovas, aspirador</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Para-choque, sujeira, câmera, desnível</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1"/>
                          </a:solidFill>
                        </a:rPr>
                        <a:t>Entregador de app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Entregas no prazo, km, avaliação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Cidade, trânsito, restaurantes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Moto, mensagens no app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GPS, notificações de pedidos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Robô de preços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Lucro, vendas, posição na busca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Marketplace e concorrentes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Alterar o preço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Preços dos concorrentes, vendas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1"/>
                          </a:solidFill>
                        </a:rPr>
                        <a:t>Atendimento com LLM</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Problemas resolvidos, custo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Clientes, sistemas da empresa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Responder, chamar APIs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Mensagens, respostas das APIs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1"/>
                          </a:solidFill>
                        </a:rPr>
                        <a:t>Carro autônomo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Segurança, tempo, conforto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Ruas, veículos, pedestres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Volante, acelerador, freio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Câmeras, LiDAR, radar, GPS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989320"/>
            <a:ext cx="5486400" cy="274320"/>
          </a:xfrm>
          <a:prstGeom prst="rect">
            <a:avLst/>
          </a:prstGeom>
          <a:noFill/>
          <a:ln/>
        </p:spPr>
        <p:txBody>
          <a:bodyPr wrap="square" lIns="0" tIns="0" rIns="0" bIns="0" rtlCol="0" anchor="t"/>
          <a:lstStyle/>
          <a:p>
            <a:pPr indent="0" marL="0">
              <a:buNone/>
            </a:pPr>
            <a:r>
              <a:rPr lang="en-US" sz="1100" i="1" dirty="0">
                <a:solidFill>
                  <a:schemeClr val="accent6"/>
                </a:solidFill>
              </a:rPr>
              <a:t>Russell e Norvig (2020, cap. 2)</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O ambiente define a dificuldade</a:t>
            </a:r>
            <a:endParaRPr lang="en-US" sz="3400" dirty="0"/>
          </a:p>
        </p:txBody>
      </p:sp>
      <p:sp>
        <p:nvSpPr>
          <p:cNvPr id="4" name="Text 1"/>
          <p:cNvSpPr txBox="1"/>
          <p:nvPr/>
        </p:nvSpPr>
        <p:spPr>
          <a:xfrm>
            <a:off x="2560320" y="1371600"/>
            <a:ext cx="2377440" cy="320040"/>
          </a:xfrm>
          <a:prstGeom prst="rect">
            <a:avLst/>
          </a:prstGeom>
          <a:noFill/>
          <a:ln/>
        </p:spPr>
        <p:txBody>
          <a:bodyPr wrap="square" lIns="0" tIns="0" rIns="0" bIns="0" rtlCol="0" anchor="t"/>
          <a:lstStyle/>
          <a:p>
            <a:pPr algn="ctr" indent="0" marL="0">
              <a:buNone/>
            </a:pPr>
            <a:r>
              <a:rPr lang="en-US" sz="1300" b="1" dirty="0">
                <a:solidFill>
                  <a:schemeClr val="accent6"/>
                </a:solidFill>
              </a:rPr>
              <a:t>Mais fácil</a:t>
            </a:r>
            <a:endParaRPr lang="en-US" sz="1300" dirty="0"/>
          </a:p>
        </p:txBody>
      </p:sp>
      <p:sp>
        <p:nvSpPr>
          <p:cNvPr id="5" name="Text 2"/>
          <p:cNvSpPr txBox="1"/>
          <p:nvPr/>
        </p:nvSpPr>
        <p:spPr>
          <a:xfrm>
            <a:off x="5486400" y="1371600"/>
            <a:ext cx="2377440" cy="320040"/>
          </a:xfrm>
          <a:prstGeom prst="rect">
            <a:avLst/>
          </a:prstGeom>
          <a:noFill/>
          <a:ln/>
        </p:spPr>
        <p:txBody>
          <a:bodyPr wrap="square" lIns="0" tIns="0" rIns="0" bIns="0" rtlCol="0" anchor="t"/>
          <a:lstStyle/>
          <a:p>
            <a:pPr algn="ctr" indent="0" marL="0">
              <a:buNone/>
            </a:pPr>
            <a:r>
              <a:rPr lang="en-US" sz="1300" b="1" dirty="0">
                <a:solidFill>
                  <a:schemeClr val="accent1"/>
                </a:solidFill>
              </a:rPr>
              <a:t>Mais difícil</a:t>
            </a:r>
            <a:endParaRPr lang="en-US" sz="1300" dirty="0"/>
          </a:p>
        </p:txBody>
      </p:sp>
      <p:sp>
        <p:nvSpPr>
          <p:cNvPr id="6" name="Text 3"/>
          <p:cNvSpPr txBox="1"/>
          <p:nvPr/>
        </p:nvSpPr>
        <p:spPr>
          <a:xfrm>
            <a:off x="8138160" y="1371600"/>
            <a:ext cx="3474720" cy="320040"/>
          </a:xfrm>
          <a:prstGeom prst="rect">
            <a:avLst/>
          </a:prstGeom>
          <a:noFill/>
          <a:ln/>
        </p:spPr>
        <p:txBody>
          <a:bodyPr wrap="square" lIns="0" tIns="0" rIns="0" bIns="0" rtlCol="0" anchor="t"/>
          <a:lstStyle/>
          <a:p>
            <a:pPr indent="0" marL="0">
              <a:buNone/>
            </a:pPr>
            <a:r>
              <a:rPr lang="en-US" sz="1300" b="1" dirty="0">
                <a:solidFill>
                  <a:schemeClr val="accent6"/>
                </a:solidFill>
              </a:rPr>
              <a:t>Exemplo prático</a:t>
            </a:r>
            <a:endParaRPr lang="en-US" sz="1300" dirty="0"/>
          </a:p>
        </p:txBody>
      </p:sp>
      <p:sp>
        <p:nvSpPr>
          <p:cNvPr id="7" name="Text 4"/>
          <p:cNvSpPr txBox="1"/>
          <p:nvPr/>
        </p:nvSpPr>
        <p:spPr>
          <a:xfrm>
            <a:off x="548640" y="173736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Observabilidade</a:t>
            </a:r>
            <a:endParaRPr lang="en-US" sz="1600" dirty="0"/>
          </a:p>
        </p:txBody>
      </p:sp>
      <p:sp>
        <p:nvSpPr>
          <p:cNvPr id="8" name="Text 5"/>
          <p:cNvSpPr/>
          <p:nvPr/>
        </p:nvSpPr>
        <p:spPr>
          <a:xfrm>
            <a:off x="2560320" y="173736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Totalmente observável</a:t>
            </a:r>
            <a:endParaRPr lang="en-US" sz="1400" dirty="0"/>
          </a:p>
        </p:txBody>
      </p:sp>
      <p:sp>
        <p:nvSpPr>
          <p:cNvPr id="9" name="Shape 6"/>
          <p:cNvSpPr/>
          <p:nvPr/>
        </p:nvSpPr>
        <p:spPr>
          <a:xfrm>
            <a:off x="5029200" y="1993392"/>
            <a:ext cx="365760" cy="0"/>
          </a:xfrm>
          <a:prstGeom prst="line">
            <a:avLst/>
          </a:prstGeom>
          <a:noFill/>
          <a:ln w="22225">
            <a:solidFill>
              <a:schemeClr val="accent6"/>
            </a:solidFill>
            <a:prstDash val="solid"/>
            <a:tailEnd type="triangle"/>
          </a:ln>
        </p:spPr>
      </p:sp>
      <p:sp>
        <p:nvSpPr>
          <p:cNvPr id="10" name="Text 7"/>
          <p:cNvSpPr/>
          <p:nvPr/>
        </p:nvSpPr>
        <p:spPr>
          <a:xfrm>
            <a:off x="5486400" y="173736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dirty="0">
                <a:solidFill>
                  <a:schemeClr val="tx1"/>
                </a:solidFill>
              </a:rPr>
              <a:t>Parcialmente observável</a:t>
            </a:r>
            <a:endParaRPr lang="en-US" sz="1400" dirty="0"/>
          </a:p>
        </p:txBody>
      </p:sp>
      <p:sp>
        <p:nvSpPr>
          <p:cNvPr id="11" name="Text 8"/>
          <p:cNvSpPr txBox="1"/>
          <p:nvPr/>
        </p:nvSpPr>
        <p:spPr>
          <a:xfrm>
            <a:off x="8138160" y="1737360"/>
            <a:ext cx="3474720" cy="512064"/>
          </a:xfrm>
          <a:prstGeom prst="rect">
            <a:avLst/>
          </a:prstGeom>
          <a:noFill/>
          <a:ln/>
        </p:spPr>
        <p:txBody>
          <a:bodyPr wrap="square" lIns="0" tIns="0" rIns="0" bIns="0" rtlCol="0" anchor="ctr"/>
          <a:lstStyle/>
          <a:p>
            <a:pPr indent="0" marL="0">
              <a:buNone/>
            </a:pPr>
            <a:r>
              <a:rPr lang="en-US" sz="1400" dirty="0">
                <a:solidFill>
                  <a:schemeClr val="tx1"/>
                </a:solidFill>
              </a:rPr>
              <a:t>O aspirador não vê a casa toda</a:t>
            </a:r>
            <a:endParaRPr lang="en-US" sz="1400" dirty="0"/>
          </a:p>
        </p:txBody>
      </p:sp>
      <p:sp>
        <p:nvSpPr>
          <p:cNvPr id="12" name="Text 9"/>
          <p:cNvSpPr txBox="1"/>
          <p:nvPr/>
        </p:nvSpPr>
        <p:spPr>
          <a:xfrm>
            <a:off x="548640" y="237744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Nº de agentes</a:t>
            </a:r>
            <a:endParaRPr lang="en-US" sz="1600" dirty="0"/>
          </a:p>
        </p:txBody>
      </p:sp>
      <p:sp>
        <p:nvSpPr>
          <p:cNvPr id="13" name="Text 10"/>
          <p:cNvSpPr/>
          <p:nvPr/>
        </p:nvSpPr>
        <p:spPr>
          <a:xfrm>
            <a:off x="2560320" y="237744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Agente único</a:t>
            </a:r>
            <a:endParaRPr lang="en-US" sz="1400" dirty="0"/>
          </a:p>
        </p:txBody>
      </p:sp>
      <p:sp>
        <p:nvSpPr>
          <p:cNvPr id="14" name="Shape 11"/>
          <p:cNvSpPr/>
          <p:nvPr/>
        </p:nvSpPr>
        <p:spPr>
          <a:xfrm>
            <a:off x="5029200" y="2633472"/>
            <a:ext cx="365760" cy="0"/>
          </a:xfrm>
          <a:prstGeom prst="line">
            <a:avLst/>
          </a:prstGeom>
          <a:noFill/>
          <a:ln w="22225">
            <a:solidFill>
              <a:schemeClr val="accent6"/>
            </a:solidFill>
            <a:prstDash val="solid"/>
            <a:tailEnd type="triangle"/>
          </a:ln>
        </p:spPr>
      </p:sp>
      <p:sp>
        <p:nvSpPr>
          <p:cNvPr id="15" name="Text 12"/>
          <p:cNvSpPr/>
          <p:nvPr/>
        </p:nvSpPr>
        <p:spPr>
          <a:xfrm>
            <a:off x="5486400" y="237744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b="1" dirty="0">
                <a:solidFill>
                  <a:schemeClr val="tx1"/>
                </a:solidFill>
              </a:rPr>
              <a:t>Multiagente</a:t>
            </a:r>
            <a:endParaRPr lang="en-US" sz="1400" dirty="0"/>
          </a:p>
        </p:txBody>
      </p:sp>
      <p:sp>
        <p:nvSpPr>
          <p:cNvPr id="16" name="Text 13"/>
          <p:cNvSpPr txBox="1"/>
          <p:nvPr/>
        </p:nvSpPr>
        <p:spPr>
          <a:xfrm>
            <a:off x="8138160" y="2377440"/>
            <a:ext cx="3474720" cy="512064"/>
          </a:xfrm>
          <a:prstGeom prst="rect">
            <a:avLst/>
          </a:prstGeom>
          <a:noFill/>
          <a:ln/>
        </p:spPr>
        <p:txBody>
          <a:bodyPr wrap="square" lIns="0" tIns="0" rIns="0" bIns="0" rtlCol="0" anchor="ctr"/>
          <a:lstStyle/>
          <a:p>
            <a:pPr indent="0" marL="0">
              <a:buNone/>
            </a:pPr>
            <a:r>
              <a:rPr lang="en-US" sz="1400" dirty="0">
                <a:solidFill>
                  <a:schemeClr val="tx1"/>
                </a:solidFill>
              </a:rPr>
              <a:t>Robôs de armazém cooperam; no xadrez, competem</a:t>
            </a:r>
            <a:endParaRPr lang="en-US" sz="1400" dirty="0"/>
          </a:p>
        </p:txBody>
      </p:sp>
      <p:sp>
        <p:nvSpPr>
          <p:cNvPr id="17" name="Text 14"/>
          <p:cNvSpPr txBox="1"/>
          <p:nvPr/>
        </p:nvSpPr>
        <p:spPr>
          <a:xfrm>
            <a:off x="548640" y="301752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Determinismo</a:t>
            </a:r>
            <a:endParaRPr lang="en-US" sz="1600" dirty="0"/>
          </a:p>
        </p:txBody>
      </p:sp>
      <p:sp>
        <p:nvSpPr>
          <p:cNvPr id="18" name="Text 15"/>
          <p:cNvSpPr/>
          <p:nvPr/>
        </p:nvSpPr>
        <p:spPr>
          <a:xfrm>
            <a:off x="2560320" y="301752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Determinístico</a:t>
            </a:r>
            <a:endParaRPr lang="en-US" sz="1400" dirty="0"/>
          </a:p>
        </p:txBody>
      </p:sp>
      <p:sp>
        <p:nvSpPr>
          <p:cNvPr id="19" name="Shape 16"/>
          <p:cNvSpPr/>
          <p:nvPr/>
        </p:nvSpPr>
        <p:spPr>
          <a:xfrm>
            <a:off x="5029200" y="3273552"/>
            <a:ext cx="365760" cy="0"/>
          </a:xfrm>
          <a:prstGeom prst="line">
            <a:avLst/>
          </a:prstGeom>
          <a:noFill/>
          <a:ln w="22225">
            <a:solidFill>
              <a:schemeClr val="accent6"/>
            </a:solidFill>
            <a:prstDash val="solid"/>
            <a:tailEnd type="triangle"/>
          </a:ln>
        </p:spPr>
      </p:sp>
      <p:sp>
        <p:nvSpPr>
          <p:cNvPr id="20" name="Text 17"/>
          <p:cNvSpPr/>
          <p:nvPr/>
        </p:nvSpPr>
        <p:spPr>
          <a:xfrm>
            <a:off x="5486400" y="301752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dirty="0">
                <a:solidFill>
                  <a:schemeClr val="tx1"/>
                </a:solidFill>
              </a:rPr>
              <a:t>Estocástico</a:t>
            </a:r>
            <a:endParaRPr lang="en-US" sz="1400" dirty="0"/>
          </a:p>
        </p:txBody>
      </p:sp>
      <p:sp>
        <p:nvSpPr>
          <p:cNvPr id="21" name="Text 18"/>
          <p:cNvSpPr txBox="1"/>
          <p:nvPr/>
        </p:nvSpPr>
        <p:spPr>
          <a:xfrm>
            <a:off x="8138160" y="3017520"/>
            <a:ext cx="3474720" cy="512064"/>
          </a:xfrm>
          <a:prstGeom prst="rect">
            <a:avLst/>
          </a:prstGeom>
          <a:noFill/>
          <a:ln/>
        </p:spPr>
        <p:txBody>
          <a:bodyPr wrap="square" lIns="0" tIns="0" rIns="0" bIns="0" rtlCol="0" anchor="ctr"/>
          <a:lstStyle/>
          <a:p>
            <a:pPr indent="0" marL="0">
              <a:buNone/>
            </a:pPr>
            <a:r>
              <a:rPr lang="en-US" sz="1400" dirty="0">
                <a:solidFill>
                  <a:schemeClr val="tx1"/>
                </a:solidFill>
              </a:rPr>
              <a:t>O mesmo trajeto leva 15 ou 40 minutos</a:t>
            </a:r>
            <a:endParaRPr lang="en-US" sz="1400" dirty="0"/>
          </a:p>
        </p:txBody>
      </p:sp>
      <p:sp>
        <p:nvSpPr>
          <p:cNvPr id="22" name="Text 19"/>
          <p:cNvSpPr txBox="1"/>
          <p:nvPr/>
        </p:nvSpPr>
        <p:spPr>
          <a:xfrm>
            <a:off x="548640" y="365760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Episódios</a:t>
            </a:r>
            <a:endParaRPr lang="en-US" sz="1600" dirty="0"/>
          </a:p>
        </p:txBody>
      </p:sp>
      <p:sp>
        <p:nvSpPr>
          <p:cNvPr id="23" name="Text 20"/>
          <p:cNvSpPr/>
          <p:nvPr/>
        </p:nvSpPr>
        <p:spPr>
          <a:xfrm>
            <a:off x="2560320" y="365760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Episódico</a:t>
            </a:r>
            <a:endParaRPr lang="en-US" sz="1400" dirty="0"/>
          </a:p>
        </p:txBody>
      </p:sp>
      <p:sp>
        <p:nvSpPr>
          <p:cNvPr id="24" name="Shape 21"/>
          <p:cNvSpPr/>
          <p:nvPr/>
        </p:nvSpPr>
        <p:spPr>
          <a:xfrm>
            <a:off x="5029200" y="3913632"/>
            <a:ext cx="365760" cy="0"/>
          </a:xfrm>
          <a:prstGeom prst="line">
            <a:avLst/>
          </a:prstGeom>
          <a:noFill/>
          <a:ln w="22225">
            <a:solidFill>
              <a:schemeClr val="accent6"/>
            </a:solidFill>
            <a:prstDash val="solid"/>
            <a:tailEnd type="triangle"/>
          </a:ln>
        </p:spPr>
      </p:sp>
      <p:sp>
        <p:nvSpPr>
          <p:cNvPr id="25" name="Text 22"/>
          <p:cNvSpPr/>
          <p:nvPr/>
        </p:nvSpPr>
        <p:spPr>
          <a:xfrm>
            <a:off x="5486400" y="365760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dirty="0">
                <a:solidFill>
                  <a:schemeClr val="tx1"/>
                </a:solidFill>
              </a:rPr>
              <a:t>Sequencial</a:t>
            </a:r>
            <a:endParaRPr lang="en-US" sz="1400" dirty="0"/>
          </a:p>
        </p:txBody>
      </p:sp>
      <p:sp>
        <p:nvSpPr>
          <p:cNvPr id="26" name="Text 23"/>
          <p:cNvSpPr txBox="1"/>
          <p:nvPr/>
        </p:nvSpPr>
        <p:spPr>
          <a:xfrm>
            <a:off x="8138160" y="3657600"/>
            <a:ext cx="3474720" cy="512064"/>
          </a:xfrm>
          <a:prstGeom prst="rect">
            <a:avLst/>
          </a:prstGeom>
          <a:noFill/>
          <a:ln/>
        </p:spPr>
        <p:txBody>
          <a:bodyPr wrap="square" lIns="0" tIns="0" rIns="0" bIns="0" rtlCol="0" anchor="ctr"/>
          <a:lstStyle/>
          <a:p>
            <a:pPr indent="0" marL="0">
              <a:buNone/>
            </a:pPr>
            <a:r>
              <a:rPr lang="en-US" sz="1400" dirty="0">
                <a:solidFill>
                  <a:schemeClr val="tx1"/>
                </a:solidFill>
              </a:rPr>
              <a:t>Filtrar spam é episódico; dirigir é sequencial</a:t>
            </a:r>
            <a:endParaRPr lang="en-US" sz="1400" dirty="0"/>
          </a:p>
        </p:txBody>
      </p:sp>
      <p:sp>
        <p:nvSpPr>
          <p:cNvPr id="27" name="Text 24"/>
          <p:cNvSpPr txBox="1"/>
          <p:nvPr/>
        </p:nvSpPr>
        <p:spPr>
          <a:xfrm>
            <a:off x="548640" y="429768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Dinâmica</a:t>
            </a:r>
            <a:endParaRPr lang="en-US" sz="1600" dirty="0"/>
          </a:p>
        </p:txBody>
      </p:sp>
      <p:sp>
        <p:nvSpPr>
          <p:cNvPr id="28" name="Text 25"/>
          <p:cNvSpPr/>
          <p:nvPr/>
        </p:nvSpPr>
        <p:spPr>
          <a:xfrm>
            <a:off x="2560320" y="429768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Estático</a:t>
            </a:r>
            <a:endParaRPr lang="en-US" sz="1400" dirty="0"/>
          </a:p>
        </p:txBody>
      </p:sp>
      <p:sp>
        <p:nvSpPr>
          <p:cNvPr id="29" name="Shape 26"/>
          <p:cNvSpPr/>
          <p:nvPr/>
        </p:nvSpPr>
        <p:spPr>
          <a:xfrm>
            <a:off x="5029200" y="4553712"/>
            <a:ext cx="365760" cy="0"/>
          </a:xfrm>
          <a:prstGeom prst="line">
            <a:avLst/>
          </a:prstGeom>
          <a:noFill/>
          <a:ln w="22225">
            <a:solidFill>
              <a:schemeClr val="accent6"/>
            </a:solidFill>
            <a:prstDash val="solid"/>
            <a:tailEnd type="triangle"/>
          </a:ln>
        </p:spPr>
      </p:sp>
      <p:sp>
        <p:nvSpPr>
          <p:cNvPr id="30" name="Text 27"/>
          <p:cNvSpPr/>
          <p:nvPr/>
        </p:nvSpPr>
        <p:spPr>
          <a:xfrm>
            <a:off x="5486400" y="429768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dirty="0">
                <a:solidFill>
                  <a:schemeClr val="tx1"/>
                </a:solidFill>
              </a:rPr>
              <a:t>Dinâmico</a:t>
            </a:r>
            <a:endParaRPr lang="en-US" sz="1400" dirty="0"/>
          </a:p>
        </p:txBody>
      </p:sp>
      <p:sp>
        <p:nvSpPr>
          <p:cNvPr id="31" name="Text 28"/>
          <p:cNvSpPr txBox="1"/>
          <p:nvPr/>
        </p:nvSpPr>
        <p:spPr>
          <a:xfrm>
            <a:off x="8138160" y="4297680"/>
            <a:ext cx="3474720" cy="512064"/>
          </a:xfrm>
          <a:prstGeom prst="rect">
            <a:avLst/>
          </a:prstGeom>
          <a:noFill/>
          <a:ln/>
        </p:spPr>
        <p:txBody>
          <a:bodyPr wrap="square" lIns="0" tIns="0" rIns="0" bIns="0" rtlCol="0" anchor="ctr"/>
          <a:lstStyle/>
          <a:p>
            <a:pPr indent="0" marL="0">
              <a:buNone/>
            </a:pPr>
            <a:r>
              <a:rPr lang="en-US" sz="1400" dirty="0">
                <a:solidFill>
                  <a:schemeClr val="tx1"/>
                </a:solidFill>
              </a:rPr>
              <a:t>Pedidos são cancelados enquanto o entregador decide</a:t>
            </a:r>
            <a:endParaRPr lang="en-US" sz="1400" dirty="0"/>
          </a:p>
        </p:txBody>
      </p:sp>
      <p:sp>
        <p:nvSpPr>
          <p:cNvPr id="32" name="Text 29"/>
          <p:cNvSpPr txBox="1"/>
          <p:nvPr/>
        </p:nvSpPr>
        <p:spPr>
          <a:xfrm>
            <a:off x="548640" y="4937760"/>
            <a:ext cx="1920240" cy="512064"/>
          </a:xfrm>
          <a:prstGeom prst="rect">
            <a:avLst/>
          </a:prstGeom>
          <a:noFill/>
          <a:ln/>
        </p:spPr>
        <p:txBody>
          <a:bodyPr wrap="square" lIns="0" tIns="0" rIns="0" bIns="0" rtlCol="0" anchor="ctr"/>
          <a:lstStyle/>
          <a:p>
            <a:pPr indent="0" marL="0">
              <a:buNone/>
            </a:pPr>
            <a:r>
              <a:rPr lang="en-US" sz="1600" b="1" dirty="0">
                <a:solidFill>
                  <a:schemeClr val="tx2"/>
                </a:solidFill>
              </a:rPr>
              <a:t>Estados</a:t>
            </a:r>
            <a:endParaRPr lang="en-US" sz="1600" dirty="0"/>
          </a:p>
        </p:txBody>
      </p:sp>
      <p:sp>
        <p:nvSpPr>
          <p:cNvPr id="33" name="Text 30"/>
          <p:cNvSpPr/>
          <p:nvPr/>
        </p:nvSpPr>
        <p:spPr>
          <a:xfrm>
            <a:off x="2560320" y="4937760"/>
            <a:ext cx="2377440" cy="512064"/>
          </a:xfrm>
          <a:prstGeom prst="roundRect">
            <a:avLst>
              <a:gd name="adj" fmla="val 14286"/>
            </a:avLst>
          </a:prstGeom>
          <a:solidFill>
            <a:schemeClr val="bg2"/>
          </a:solidFill>
          <a:ln/>
        </p:spPr>
        <p:txBody>
          <a:bodyPr wrap="square" lIns="0" tIns="0" rIns="0" bIns="0" rtlCol="0" anchor="ctr"/>
          <a:lstStyle/>
          <a:p>
            <a:pPr algn="ctr" indent="0" marL="0">
              <a:buNone/>
            </a:pPr>
            <a:r>
              <a:rPr lang="en-US" sz="1400" dirty="0">
                <a:solidFill>
                  <a:schemeClr val="tx1"/>
                </a:solidFill>
              </a:rPr>
              <a:t>Discreto</a:t>
            </a:r>
            <a:endParaRPr lang="en-US" sz="1400" dirty="0"/>
          </a:p>
        </p:txBody>
      </p:sp>
      <p:sp>
        <p:nvSpPr>
          <p:cNvPr id="34" name="Shape 31"/>
          <p:cNvSpPr/>
          <p:nvPr/>
        </p:nvSpPr>
        <p:spPr>
          <a:xfrm>
            <a:off x="5029200" y="5193792"/>
            <a:ext cx="365760" cy="0"/>
          </a:xfrm>
          <a:prstGeom prst="line">
            <a:avLst/>
          </a:prstGeom>
          <a:noFill/>
          <a:ln w="22225">
            <a:solidFill>
              <a:schemeClr val="accent6"/>
            </a:solidFill>
            <a:prstDash val="solid"/>
            <a:tailEnd type="triangle"/>
          </a:ln>
        </p:spPr>
      </p:sp>
      <p:sp>
        <p:nvSpPr>
          <p:cNvPr id="35" name="Text 32"/>
          <p:cNvSpPr/>
          <p:nvPr/>
        </p:nvSpPr>
        <p:spPr>
          <a:xfrm>
            <a:off x="5486400" y="4937760"/>
            <a:ext cx="2377440" cy="512064"/>
          </a:xfrm>
          <a:prstGeom prst="roundRect">
            <a:avLst>
              <a:gd name="adj" fmla="val 14286"/>
            </a:avLst>
          </a:prstGeom>
          <a:solidFill>
            <a:schemeClr val="accent1">
              <a:alpha val="22000"/>
            </a:schemeClr>
          </a:solidFill>
          <a:ln/>
        </p:spPr>
        <p:txBody>
          <a:bodyPr wrap="square" lIns="0" tIns="0" rIns="0" bIns="0" rtlCol="0" anchor="ctr"/>
          <a:lstStyle/>
          <a:p>
            <a:pPr algn="ctr" indent="0" marL="0">
              <a:buNone/>
            </a:pPr>
            <a:r>
              <a:rPr lang="en-US" sz="1400" dirty="0">
                <a:solidFill>
                  <a:schemeClr val="tx1"/>
                </a:solidFill>
              </a:rPr>
              <a:t>Contínuo</a:t>
            </a:r>
            <a:endParaRPr lang="en-US" sz="1400" dirty="0"/>
          </a:p>
        </p:txBody>
      </p:sp>
      <p:sp>
        <p:nvSpPr>
          <p:cNvPr id="36" name="Text 33"/>
          <p:cNvSpPr txBox="1"/>
          <p:nvPr/>
        </p:nvSpPr>
        <p:spPr>
          <a:xfrm>
            <a:off x="8138160" y="4937760"/>
            <a:ext cx="3474720" cy="512064"/>
          </a:xfrm>
          <a:prstGeom prst="rect">
            <a:avLst/>
          </a:prstGeom>
          <a:noFill/>
          <a:ln/>
        </p:spPr>
        <p:txBody>
          <a:bodyPr wrap="square" lIns="0" tIns="0" rIns="0" bIns="0" rtlCol="0" anchor="ctr"/>
          <a:lstStyle/>
          <a:p>
            <a:pPr indent="0" marL="0">
              <a:buNone/>
            </a:pPr>
            <a:r>
              <a:rPr lang="en-US" sz="1400" dirty="0">
                <a:solidFill>
                  <a:schemeClr val="tx1"/>
                </a:solidFill>
              </a:rPr>
              <a:t>Jogo da velha × dirigir</a:t>
            </a:r>
            <a:endParaRPr lang="en-US" sz="1400" dirty="0"/>
          </a:p>
        </p:txBody>
      </p:sp>
      <p:sp>
        <p:nvSpPr>
          <p:cNvPr id="37" name="Text 34"/>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i="1" dirty="0">
                <a:solidFill>
                  <a:schemeClr val="accent4"/>
                </a:solidFill>
              </a:rPr>
              <a:t>Outros agentes aprendem, se adaptam e às vezes tentam enganar você: é isso que torna o ambiente imprevisível.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De 1973 aos agentes com LLM</a:t>
            </a:r>
            <a:endParaRPr lang="en-US" sz="3400" dirty="0"/>
          </a:p>
        </p:txBody>
      </p:sp>
      <p:sp>
        <p:nvSpPr>
          <p:cNvPr id="4" name="Shape 1"/>
          <p:cNvSpPr/>
          <p:nvPr/>
        </p:nvSpPr>
        <p:spPr>
          <a:xfrm>
            <a:off x="822960" y="3703320"/>
            <a:ext cx="10561320" cy="0"/>
          </a:xfrm>
          <a:prstGeom prst="line">
            <a:avLst/>
          </a:prstGeom>
          <a:noFill/>
          <a:ln w="25400">
            <a:solidFill>
              <a:schemeClr val="accent6"/>
            </a:solidFill>
            <a:prstDash val="solid"/>
          </a:ln>
        </p:spPr>
      </p:sp>
      <p:sp>
        <p:nvSpPr>
          <p:cNvPr id="5" name="Shape 2"/>
          <p:cNvSpPr/>
          <p:nvPr/>
        </p:nvSpPr>
        <p:spPr>
          <a:xfrm>
            <a:off x="1371600" y="3566160"/>
            <a:ext cx="274320" cy="274320"/>
          </a:xfrm>
          <a:prstGeom prst="ellipse">
            <a:avLst/>
          </a:prstGeom>
          <a:solidFill>
            <a:schemeClr val="accent1"/>
          </a:solidFill>
          <a:ln w="25400">
            <a:solidFill>
              <a:schemeClr val="bg1"/>
            </a:solidFill>
            <a:prstDash val="solid"/>
          </a:ln>
        </p:spPr>
      </p:sp>
      <p:sp>
        <p:nvSpPr>
          <p:cNvPr id="6" name="Shape 3"/>
          <p:cNvSpPr/>
          <p:nvPr/>
        </p:nvSpPr>
        <p:spPr>
          <a:xfrm>
            <a:off x="1508760" y="3200400"/>
            <a:ext cx="0" cy="365760"/>
          </a:xfrm>
          <a:prstGeom prst="line">
            <a:avLst/>
          </a:prstGeom>
          <a:noFill/>
          <a:ln w="12700">
            <a:solidFill>
              <a:schemeClr val="accent6"/>
            </a:solidFill>
            <a:prstDash val="solid"/>
          </a:ln>
        </p:spPr>
      </p:sp>
      <p:sp>
        <p:nvSpPr>
          <p:cNvPr id="7" name="Text 4"/>
          <p:cNvSpPr txBox="1"/>
          <p:nvPr/>
        </p:nvSpPr>
        <p:spPr>
          <a:xfrm>
            <a:off x="548640" y="1600200"/>
            <a:ext cx="1920240" cy="1554480"/>
          </a:xfrm>
          <a:prstGeom prst="rect">
            <a:avLst/>
          </a:prstGeom>
          <a:noFill/>
          <a:ln/>
        </p:spPr>
        <p:txBody>
          <a:bodyPr wrap="square" lIns="0" tIns="0" rIns="0" bIns="0" rtlCol="0" anchor="b"/>
          <a:lstStyle/>
          <a:p>
            <a:pPr algn="ctr" indent="0" marL="0">
              <a:buNone/>
            </a:pPr>
            <a:r>
              <a:rPr lang="en-US" sz="2000" b="1" dirty="0">
                <a:solidFill>
                  <a:schemeClr val="accent1"/>
                </a:solidFill>
              </a:rPr>
              <a:t>1973</a:t>
            </a:r>
            <a:endParaRPr lang="en-US" sz="1600" dirty="0"/>
          </a:p>
          <a:p>
            <a:pPr algn="ctr" indent="0" marL="0">
              <a:buNone/>
            </a:pPr>
            <a:r>
              <a:rPr lang="en-US" sz="1400" dirty="0">
                <a:solidFill>
                  <a:schemeClr val="tx1"/>
                </a:solidFill>
              </a:rPr>
              <a:t>Actor Model (Hewitt, Bishop e Steiger)</a:t>
            </a:r>
            <a:endParaRPr lang="en-US" sz="1600" dirty="0"/>
          </a:p>
        </p:txBody>
      </p:sp>
      <p:sp>
        <p:nvSpPr>
          <p:cNvPr id="8" name="Shape 5"/>
          <p:cNvSpPr/>
          <p:nvPr/>
        </p:nvSpPr>
        <p:spPr>
          <a:xfrm>
            <a:off x="2392680" y="3566160"/>
            <a:ext cx="274320" cy="274320"/>
          </a:xfrm>
          <a:prstGeom prst="ellipse">
            <a:avLst/>
          </a:prstGeom>
          <a:solidFill>
            <a:schemeClr val="accent2"/>
          </a:solidFill>
          <a:ln w="25400">
            <a:solidFill>
              <a:schemeClr val="bg1"/>
            </a:solidFill>
            <a:prstDash val="solid"/>
          </a:ln>
        </p:spPr>
      </p:sp>
      <p:sp>
        <p:nvSpPr>
          <p:cNvPr id="9" name="Shape 6"/>
          <p:cNvSpPr/>
          <p:nvPr/>
        </p:nvSpPr>
        <p:spPr>
          <a:xfrm>
            <a:off x="2529840" y="3840480"/>
            <a:ext cx="0" cy="365760"/>
          </a:xfrm>
          <a:prstGeom prst="line">
            <a:avLst/>
          </a:prstGeom>
          <a:noFill/>
          <a:ln w="12700">
            <a:solidFill>
              <a:schemeClr val="accent6"/>
            </a:solidFill>
            <a:prstDash val="solid"/>
          </a:ln>
        </p:spPr>
      </p:sp>
      <p:sp>
        <p:nvSpPr>
          <p:cNvPr id="10" name="Text 7"/>
          <p:cNvSpPr txBox="1"/>
          <p:nvPr/>
        </p:nvSpPr>
        <p:spPr>
          <a:xfrm>
            <a:off x="1569720" y="4251960"/>
            <a:ext cx="1920240" cy="1554480"/>
          </a:xfrm>
          <a:prstGeom prst="rect">
            <a:avLst/>
          </a:prstGeom>
          <a:noFill/>
          <a:ln/>
        </p:spPr>
        <p:txBody>
          <a:bodyPr wrap="square" lIns="0" tIns="0" rIns="0" bIns="0" rtlCol="0" anchor="t"/>
          <a:lstStyle/>
          <a:p>
            <a:pPr algn="ctr" indent="0" marL="0">
              <a:buNone/>
            </a:pPr>
            <a:r>
              <a:rPr lang="en-US" sz="2000" b="1" dirty="0">
                <a:solidFill>
                  <a:schemeClr val="accent2"/>
                </a:solidFill>
              </a:rPr>
              <a:t>1980</a:t>
            </a:r>
            <a:endParaRPr lang="en-US" sz="1600" dirty="0"/>
          </a:p>
          <a:p>
            <a:pPr algn="ctr" indent="0" marL="0">
              <a:buNone/>
            </a:pPr>
            <a:r>
              <a:rPr lang="en-US" sz="1400" dirty="0">
                <a:solidFill>
                  <a:schemeClr val="tx1"/>
                </a:solidFill>
              </a:rPr>
              <a:t>Contract Net Protocol (Reid G. Smith)</a:t>
            </a:r>
            <a:endParaRPr lang="en-US" sz="1600" dirty="0"/>
          </a:p>
        </p:txBody>
      </p:sp>
      <p:sp>
        <p:nvSpPr>
          <p:cNvPr id="11" name="Shape 8"/>
          <p:cNvSpPr/>
          <p:nvPr/>
        </p:nvSpPr>
        <p:spPr>
          <a:xfrm>
            <a:off x="3413760" y="3566160"/>
            <a:ext cx="274320" cy="274320"/>
          </a:xfrm>
          <a:prstGeom prst="ellipse">
            <a:avLst/>
          </a:prstGeom>
          <a:solidFill>
            <a:schemeClr val="accent1"/>
          </a:solidFill>
          <a:ln w="25400">
            <a:solidFill>
              <a:schemeClr val="bg1"/>
            </a:solidFill>
            <a:prstDash val="solid"/>
          </a:ln>
        </p:spPr>
      </p:sp>
      <p:sp>
        <p:nvSpPr>
          <p:cNvPr id="12" name="Shape 9"/>
          <p:cNvSpPr/>
          <p:nvPr/>
        </p:nvSpPr>
        <p:spPr>
          <a:xfrm>
            <a:off x="3550920" y="3200400"/>
            <a:ext cx="0" cy="365760"/>
          </a:xfrm>
          <a:prstGeom prst="line">
            <a:avLst/>
          </a:prstGeom>
          <a:noFill/>
          <a:ln w="12700">
            <a:solidFill>
              <a:schemeClr val="accent6"/>
            </a:solidFill>
            <a:prstDash val="solid"/>
          </a:ln>
        </p:spPr>
      </p:sp>
      <p:sp>
        <p:nvSpPr>
          <p:cNvPr id="13" name="Text 10"/>
          <p:cNvSpPr txBox="1"/>
          <p:nvPr/>
        </p:nvSpPr>
        <p:spPr>
          <a:xfrm>
            <a:off x="2590800" y="1600200"/>
            <a:ext cx="1920240" cy="1554480"/>
          </a:xfrm>
          <a:prstGeom prst="rect">
            <a:avLst/>
          </a:prstGeom>
          <a:noFill/>
          <a:ln/>
        </p:spPr>
        <p:txBody>
          <a:bodyPr wrap="square" lIns="0" tIns="0" rIns="0" bIns="0" rtlCol="0" anchor="b"/>
          <a:lstStyle/>
          <a:p>
            <a:pPr algn="ctr" indent="0" marL="0">
              <a:buNone/>
            </a:pPr>
            <a:r>
              <a:rPr lang="en-US" sz="2000" b="1" dirty="0">
                <a:solidFill>
                  <a:schemeClr val="accent1"/>
                </a:solidFill>
              </a:rPr>
              <a:t>1984</a:t>
            </a:r>
            <a:endParaRPr lang="en-US" sz="1600" dirty="0"/>
          </a:p>
          <a:p>
            <a:pPr algn="ctr" indent="0" marL="0">
              <a:buNone/>
            </a:pPr>
            <a:r>
              <a:rPr lang="en-US" sz="1400" dirty="0">
                <a:solidFill>
                  <a:schemeClr val="tx1"/>
                </a:solidFill>
              </a:rPr>
              <a:t>A evolução da cooperação (Axelrod)</a:t>
            </a:r>
            <a:endParaRPr lang="en-US" sz="1600" dirty="0"/>
          </a:p>
        </p:txBody>
      </p:sp>
      <p:sp>
        <p:nvSpPr>
          <p:cNvPr id="14" name="Shape 11"/>
          <p:cNvSpPr/>
          <p:nvPr/>
        </p:nvSpPr>
        <p:spPr>
          <a:xfrm>
            <a:off x="4434840" y="3566160"/>
            <a:ext cx="274320" cy="274320"/>
          </a:xfrm>
          <a:prstGeom prst="ellipse">
            <a:avLst/>
          </a:prstGeom>
          <a:solidFill>
            <a:schemeClr val="accent2"/>
          </a:solidFill>
          <a:ln w="25400">
            <a:solidFill>
              <a:schemeClr val="bg1"/>
            </a:solidFill>
            <a:prstDash val="solid"/>
          </a:ln>
        </p:spPr>
      </p:sp>
      <p:sp>
        <p:nvSpPr>
          <p:cNvPr id="15" name="Shape 12"/>
          <p:cNvSpPr/>
          <p:nvPr/>
        </p:nvSpPr>
        <p:spPr>
          <a:xfrm>
            <a:off x="4572000" y="3840480"/>
            <a:ext cx="0" cy="365760"/>
          </a:xfrm>
          <a:prstGeom prst="line">
            <a:avLst/>
          </a:prstGeom>
          <a:noFill/>
          <a:ln w="12700">
            <a:solidFill>
              <a:schemeClr val="accent6"/>
            </a:solidFill>
            <a:prstDash val="solid"/>
          </a:ln>
        </p:spPr>
      </p:sp>
      <p:sp>
        <p:nvSpPr>
          <p:cNvPr id="16" name="Text 13"/>
          <p:cNvSpPr txBox="1"/>
          <p:nvPr/>
        </p:nvSpPr>
        <p:spPr>
          <a:xfrm>
            <a:off x="3611880" y="4251960"/>
            <a:ext cx="1920240" cy="1554480"/>
          </a:xfrm>
          <a:prstGeom prst="rect">
            <a:avLst/>
          </a:prstGeom>
          <a:noFill/>
          <a:ln/>
        </p:spPr>
        <p:txBody>
          <a:bodyPr wrap="square" lIns="0" tIns="0" rIns="0" bIns="0" rtlCol="0" anchor="t"/>
          <a:lstStyle/>
          <a:p>
            <a:pPr algn="ctr" indent="0" marL="0">
              <a:buNone/>
            </a:pPr>
            <a:r>
              <a:rPr lang="en-US" sz="2000" b="1" dirty="0">
                <a:solidFill>
                  <a:schemeClr val="accent2"/>
                </a:solidFill>
              </a:rPr>
              <a:t>1986</a:t>
            </a:r>
            <a:endParaRPr lang="en-US" sz="1600" dirty="0"/>
          </a:p>
          <a:p>
            <a:pPr algn="ctr" indent="0" marL="0">
              <a:buNone/>
            </a:pPr>
            <a:r>
              <a:rPr lang="en-US" sz="1400" dirty="0">
                <a:solidFill>
                  <a:schemeClr val="tx1"/>
                </a:solidFill>
              </a:rPr>
              <a:t>Arquitetura de subsunção (Brooks)</a:t>
            </a:r>
            <a:endParaRPr lang="en-US" sz="1600" dirty="0"/>
          </a:p>
        </p:txBody>
      </p:sp>
      <p:sp>
        <p:nvSpPr>
          <p:cNvPr id="17" name="Shape 14"/>
          <p:cNvSpPr/>
          <p:nvPr/>
        </p:nvSpPr>
        <p:spPr>
          <a:xfrm>
            <a:off x="5455920" y="3566160"/>
            <a:ext cx="274320" cy="274320"/>
          </a:xfrm>
          <a:prstGeom prst="ellipse">
            <a:avLst/>
          </a:prstGeom>
          <a:solidFill>
            <a:schemeClr val="accent1"/>
          </a:solidFill>
          <a:ln w="25400">
            <a:solidFill>
              <a:schemeClr val="bg1"/>
            </a:solidFill>
            <a:prstDash val="solid"/>
          </a:ln>
        </p:spPr>
      </p:sp>
      <p:sp>
        <p:nvSpPr>
          <p:cNvPr id="18" name="Shape 15"/>
          <p:cNvSpPr/>
          <p:nvPr/>
        </p:nvSpPr>
        <p:spPr>
          <a:xfrm>
            <a:off x="5593080" y="3200400"/>
            <a:ext cx="0" cy="365760"/>
          </a:xfrm>
          <a:prstGeom prst="line">
            <a:avLst/>
          </a:prstGeom>
          <a:noFill/>
          <a:ln w="12700">
            <a:solidFill>
              <a:schemeClr val="accent6"/>
            </a:solidFill>
            <a:prstDash val="solid"/>
          </a:ln>
        </p:spPr>
      </p:sp>
      <p:sp>
        <p:nvSpPr>
          <p:cNvPr id="19" name="Text 16"/>
          <p:cNvSpPr txBox="1"/>
          <p:nvPr/>
        </p:nvSpPr>
        <p:spPr>
          <a:xfrm>
            <a:off x="4632960" y="1600200"/>
            <a:ext cx="1920240" cy="1554480"/>
          </a:xfrm>
          <a:prstGeom prst="rect">
            <a:avLst/>
          </a:prstGeom>
          <a:noFill/>
          <a:ln/>
        </p:spPr>
        <p:txBody>
          <a:bodyPr wrap="square" lIns="0" tIns="0" rIns="0" bIns="0" rtlCol="0" anchor="b"/>
          <a:lstStyle/>
          <a:p>
            <a:pPr algn="ctr" indent="0" marL="0">
              <a:buNone/>
            </a:pPr>
            <a:r>
              <a:rPr lang="en-US" sz="2000" b="1" dirty="0">
                <a:solidFill>
                  <a:schemeClr val="accent1"/>
                </a:solidFill>
              </a:rPr>
              <a:t>1991</a:t>
            </a:r>
            <a:endParaRPr lang="en-US" sz="1600" dirty="0"/>
          </a:p>
          <a:p>
            <a:pPr algn="ctr" indent="0" marL="0">
              <a:buNone/>
            </a:pPr>
            <a:r>
              <a:rPr lang="en-US" sz="1400" dirty="0">
                <a:solidFill>
                  <a:schemeClr val="tx1"/>
                </a:solidFill>
              </a:rPr>
              <a:t>Arquitetura BDI (Rao e Georgeff)</a:t>
            </a:r>
            <a:endParaRPr lang="en-US" sz="1600" dirty="0"/>
          </a:p>
        </p:txBody>
      </p:sp>
      <p:sp>
        <p:nvSpPr>
          <p:cNvPr id="20" name="Shape 17"/>
          <p:cNvSpPr/>
          <p:nvPr/>
        </p:nvSpPr>
        <p:spPr>
          <a:xfrm>
            <a:off x="6477000" y="3566160"/>
            <a:ext cx="274320" cy="274320"/>
          </a:xfrm>
          <a:prstGeom prst="ellipse">
            <a:avLst/>
          </a:prstGeom>
          <a:solidFill>
            <a:schemeClr val="accent2"/>
          </a:solidFill>
          <a:ln w="25400">
            <a:solidFill>
              <a:schemeClr val="bg1"/>
            </a:solidFill>
            <a:prstDash val="solid"/>
          </a:ln>
        </p:spPr>
      </p:sp>
      <p:sp>
        <p:nvSpPr>
          <p:cNvPr id="21" name="Shape 18"/>
          <p:cNvSpPr/>
          <p:nvPr/>
        </p:nvSpPr>
        <p:spPr>
          <a:xfrm>
            <a:off x="6614160" y="3840480"/>
            <a:ext cx="0" cy="365760"/>
          </a:xfrm>
          <a:prstGeom prst="line">
            <a:avLst/>
          </a:prstGeom>
          <a:noFill/>
          <a:ln w="12700">
            <a:solidFill>
              <a:schemeClr val="accent6"/>
            </a:solidFill>
            <a:prstDash val="solid"/>
          </a:ln>
        </p:spPr>
      </p:sp>
      <p:sp>
        <p:nvSpPr>
          <p:cNvPr id="22" name="Text 19"/>
          <p:cNvSpPr txBox="1"/>
          <p:nvPr/>
        </p:nvSpPr>
        <p:spPr>
          <a:xfrm>
            <a:off x="5654040" y="4251960"/>
            <a:ext cx="1920240" cy="1554480"/>
          </a:xfrm>
          <a:prstGeom prst="rect">
            <a:avLst/>
          </a:prstGeom>
          <a:noFill/>
          <a:ln/>
        </p:spPr>
        <p:txBody>
          <a:bodyPr wrap="square" lIns="0" tIns="0" rIns="0" bIns="0" rtlCol="0" anchor="t"/>
          <a:lstStyle/>
          <a:p>
            <a:pPr algn="ctr" indent="0" marL="0">
              <a:buNone/>
            </a:pPr>
            <a:r>
              <a:rPr lang="en-US" sz="2000" b="1" dirty="0">
                <a:solidFill>
                  <a:schemeClr val="accent2"/>
                </a:solidFill>
              </a:rPr>
              <a:t>1996</a:t>
            </a:r>
            <a:endParaRPr lang="en-US" sz="1600" dirty="0"/>
          </a:p>
          <a:p>
            <a:pPr algn="ctr" indent="0" marL="0">
              <a:buNone/>
            </a:pPr>
            <a:r>
              <a:rPr lang="en-US" sz="1400" dirty="0">
                <a:solidFill>
                  <a:schemeClr val="tx1"/>
                </a:solidFill>
              </a:rPr>
              <a:t>FIPA padroniza a comunicação</a:t>
            </a:r>
            <a:endParaRPr lang="en-US" sz="1600" dirty="0"/>
          </a:p>
        </p:txBody>
      </p:sp>
      <p:sp>
        <p:nvSpPr>
          <p:cNvPr id="23" name="Shape 20"/>
          <p:cNvSpPr/>
          <p:nvPr/>
        </p:nvSpPr>
        <p:spPr>
          <a:xfrm>
            <a:off x="7498080" y="3566160"/>
            <a:ext cx="274320" cy="274320"/>
          </a:xfrm>
          <a:prstGeom prst="ellipse">
            <a:avLst/>
          </a:prstGeom>
          <a:solidFill>
            <a:schemeClr val="accent1"/>
          </a:solidFill>
          <a:ln w="25400">
            <a:solidFill>
              <a:schemeClr val="bg1"/>
            </a:solidFill>
            <a:prstDash val="solid"/>
          </a:ln>
        </p:spPr>
      </p:sp>
      <p:sp>
        <p:nvSpPr>
          <p:cNvPr id="24" name="Shape 21"/>
          <p:cNvSpPr/>
          <p:nvPr/>
        </p:nvSpPr>
        <p:spPr>
          <a:xfrm>
            <a:off x="7635240" y="3200400"/>
            <a:ext cx="0" cy="365760"/>
          </a:xfrm>
          <a:prstGeom prst="line">
            <a:avLst/>
          </a:prstGeom>
          <a:noFill/>
          <a:ln w="12700">
            <a:solidFill>
              <a:schemeClr val="accent6"/>
            </a:solidFill>
            <a:prstDash val="solid"/>
          </a:ln>
        </p:spPr>
      </p:sp>
      <p:sp>
        <p:nvSpPr>
          <p:cNvPr id="25" name="Text 22"/>
          <p:cNvSpPr txBox="1"/>
          <p:nvPr/>
        </p:nvSpPr>
        <p:spPr>
          <a:xfrm>
            <a:off x="6675120" y="1600200"/>
            <a:ext cx="1920240" cy="1554480"/>
          </a:xfrm>
          <a:prstGeom prst="rect">
            <a:avLst/>
          </a:prstGeom>
          <a:noFill/>
          <a:ln/>
        </p:spPr>
        <p:txBody>
          <a:bodyPr wrap="square" lIns="0" tIns="0" rIns="0" bIns="0" rtlCol="0" anchor="b"/>
          <a:lstStyle/>
          <a:p>
            <a:pPr algn="ctr" indent="0" marL="0">
              <a:buNone/>
            </a:pPr>
            <a:r>
              <a:rPr lang="en-US" sz="2000" b="1" dirty="0">
                <a:solidFill>
                  <a:schemeClr val="accent1"/>
                </a:solidFill>
              </a:rPr>
              <a:t>2002</a:t>
            </a:r>
            <a:endParaRPr lang="en-US" sz="1600" dirty="0"/>
          </a:p>
          <a:p>
            <a:pPr algn="ctr" indent="0" marL="0">
              <a:buNone/>
            </a:pPr>
            <a:r>
              <a:rPr lang="en-US" sz="1400" dirty="0">
                <a:solidFill>
                  <a:schemeClr val="tx1"/>
                </a:solidFill>
              </a:rPr>
              <a:t>Roomba nas casas; 1ª conferência AAMAS</a:t>
            </a:r>
            <a:endParaRPr lang="en-US" sz="1600" dirty="0"/>
          </a:p>
        </p:txBody>
      </p:sp>
      <p:sp>
        <p:nvSpPr>
          <p:cNvPr id="26" name="Shape 23"/>
          <p:cNvSpPr/>
          <p:nvPr/>
        </p:nvSpPr>
        <p:spPr>
          <a:xfrm>
            <a:off x="8519160" y="3566160"/>
            <a:ext cx="274320" cy="274320"/>
          </a:xfrm>
          <a:prstGeom prst="ellipse">
            <a:avLst/>
          </a:prstGeom>
          <a:solidFill>
            <a:schemeClr val="accent2"/>
          </a:solidFill>
          <a:ln w="25400">
            <a:solidFill>
              <a:schemeClr val="bg1"/>
            </a:solidFill>
            <a:prstDash val="solid"/>
          </a:ln>
        </p:spPr>
      </p:sp>
      <p:sp>
        <p:nvSpPr>
          <p:cNvPr id="27" name="Shape 24"/>
          <p:cNvSpPr/>
          <p:nvPr/>
        </p:nvSpPr>
        <p:spPr>
          <a:xfrm>
            <a:off x="8656320" y="3840480"/>
            <a:ext cx="0" cy="365760"/>
          </a:xfrm>
          <a:prstGeom prst="line">
            <a:avLst/>
          </a:prstGeom>
          <a:noFill/>
          <a:ln w="12700">
            <a:solidFill>
              <a:schemeClr val="accent6"/>
            </a:solidFill>
            <a:prstDash val="solid"/>
          </a:ln>
        </p:spPr>
      </p:sp>
      <p:sp>
        <p:nvSpPr>
          <p:cNvPr id="28" name="Text 25"/>
          <p:cNvSpPr txBox="1"/>
          <p:nvPr/>
        </p:nvSpPr>
        <p:spPr>
          <a:xfrm>
            <a:off x="7696200" y="4251960"/>
            <a:ext cx="1920240" cy="1554480"/>
          </a:xfrm>
          <a:prstGeom prst="rect">
            <a:avLst/>
          </a:prstGeom>
          <a:noFill/>
          <a:ln/>
        </p:spPr>
        <p:txBody>
          <a:bodyPr wrap="square" lIns="0" tIns="0" rIns="0" bIns="0" rtlCol="0" anchor="t"/>
          <a:lstStyle/>
          <a:p>
            <a:pPr algn="ctr" indent="0" marL="0">
              <a:buNone/>
            </a:pPr>
            <a:r>
              <a:rPr lang="en-US" sz="2000" b="1" dirty="0">
                <a:solidFill>
                  <a:schemeClr val="accent2"/>
                </a:solidFill>
              </a:rPr>
              <a:t>2012</a:t>
            </a:r>
            <a:endParaRPr lang="en-US" sz="1600" dirty="0"/>
          </a:p>
          <a:p>
            <a:pPr algn="ctr" indent="0" marL="0">
              <a:buNone/>
            </a:pPr>
            <a:r>
              <a:rPr lang="en-US" sz="1400" dirty="0">
                <a:solidFill>
                  <a:schemeClr val="tx1"/>
                </a:solidFill>
              </a:rPr>
              <a:t>Amazon compra a Kiva (robôs de armazém)</a:t>
            </a:r>
            <a:endParaRPr lang="en-US" sz="1600" dirty="0"/>
          </a:p>
        </p:txBody>
      </p:sp>
      <p:sp>
        <p:nvSpPr>
          <p:cNvPr id="29" name="Shape 26"/>
          <p:cNvSpPr/>
          <p:nvPr/>
        </p:nvSpPr>
        <p:spPr>
          <a:xfrm>
            <a:off x="9540240" y="3566160"/>
            <a:ext cx="274320" cy="274320"/>
          </a:xfrm>
          <a:prstGeom prst="ellipse">
            <a:avLst/>
          </a:prstGeom>
          <a:solidFill>
            <a:schemeClr val="accent1"/>
          </a:solidFill>
          <a:ln w="25400">
            <a:solidFill>
              <a:schemeClr val="bg1"/>
            </a:solidFill>
            <a:prstDash val="solid"/>
          </a:ln>
        </p:spPr>
      </p:sp>
      <p:sp>
        <p:nvSpPr>
          <p:cNvPr id="30" name="Shape 27"/>
          <p:cNvSpPr/>
          <p:nvPr/>
        </p:nvSpPr>
        <p:spPr>
          <a:xfrm>
            <a:off x="9677400" y="3200400"/>
            <a:ext cx="0" cy="365760"/>
          </a:xfrm>
          <a:prstGeom prst="line">
            <a:avLst/>
          </a:prstGeom>
          <a:noFill/>
          <a:ln w="12700">
            <a:solidFill>
              <a:schemeClr val="accent6"/>
            </a:solidFill>
            <a:prstDash val="solid"/>
          </a:ln>
        </p:spPr>
      </p:sp>
      <p:sp>
        <p:nvSpPr>
          <p:cNvPr id="31" name="Text 28"/>
          <p:cNvSpPr txBox="1"/>
          <p:nvPr/>
        </p:nvSpPr>
        <p:spPr>
          <a:xfrm>
            <a:off x="8717280" y="1600200"/>
            <a:ext cx="1920240" cy="1554480"/>
          </a:xfrm>
          <a:prstGeom prst="rect">
            <a:avLst/>
          </a:prstGeom>
          <a:noFill/>
          <a:ln/>
        </p:spPr>
        <p:txBody>
          <a:bodyPr wrap="square" lIns="0" tIns="0" rIns="0" bIns="0" rtlCol="0" anchor="b"/>
          <a:lstStyle/>
          <a:p>
            <a:pPr algn="ctr" indent="0" marL="0">
              <a:buNone/>
            </a:pPr>
            <a:r>
              <a:rPr lang="en-US" sz="2000" b="1" dirty="0">
                <a:solidFill>
                  <a:schemeClr val="accent1"/>
                </a:solidFill>
              </a:rPr>
              <a:t>2023</a:t>
            </a:r>
            <a:endParaRPr lang="en-US" sz="1600" dirty="0"/>
          </a:p>
          <a:p>
            <a:pPr algn="ctr" indent="0" marL="0">
              <a:buNone/>
            </a:pPr>
            <a:r>
              <a:rPr lang="en-US" sz="1400" dirty="0">
                <a:solidFill>
                  <a:schemeClr val="tx1"/>
                </a:solidFill>
              </a:rPr>
              <a:t>Generative Agents e agentes com LLM</a:t>
            </a:r>
            <a:endParaRPr lang="en-US" sz="1600" dirty="0"/>
          </a:p>
        </p:txBody>
      </p:sp>
      <p:sp>
        <p:nvSpPr>
          <p:cNvPr id="32" name="Shape 29"/>
          <p:cNvSpPr/>
          <p:nvPr/>
        </p:nvSpPr>
        <p:spPr>
          <a:xfrm>
            <a:off x="10561320" y="3566160"/>
            <a:ext cx="274320" cy="274320"/>
          </a:xfrm>
          <a:prstGeom prst="ellipse">
            <a:avLst/>
          </a:prstGeom>
          <a:solidFill>
            <a:schemeClr val="accent2"/>
          </a:solidFill>
          <a:ln w="25400">
            <a:solidFill>
              <a:schemeClr val="bg1"/>
            </a:solidFill>
            <a:prstDash val="solid"/>
          </a:ln>
        </p:spPr>
      </p:sp>
      <p:sp>
        <p:nvSpPr>
          <p:cNvPr id="33" name="Shape 30"/>
          <p:cNvSpPr/>
          <p:nvPr/>
        </p:nvSpPr>
        <p:spPr>
          <a:xfrm>
            <a:off x="10698480" y="3840480"/>
            <a:ext cx="0" cy="365760"/>
          </a:xfrm>
          <a:prstGeom prst="line">
            <a:avLst/>
          </a:prstGeom>
          <a:noFill/>
          <a:ln w="12700">
            <a:solidFill>
              <a:schemeClr val="accent6"/>
            </a:solidFill>
            <a:prstDash val="solid"/>
          </a:ln>
        </p:spPr>
      </p:sp>
      <p:sp>
        <p:nvSpPr>
          <p:cNvPr id="34" name="Text 31"/>
          <p:cNvSpPr txBox="1"/>
          <p:nvPr/>
        </p:nvSpPr>
        <p:spPr>
          <a:xfrm>
            <a:off x="9738360" y="4251960"/>
            <a:ext cx="1920240" cy="1554480"/>
          </a:xfrm>
          <a:prstGeom prst="rect">
            <a:avLst/>
          </a:prstGeom>
          <a:noFill/>
          <a:ln/>
        </p:spPr>
        <p:txBody>
          <a:bodyPr wrap="square" lIns="0" tIns="0" rIns="0" bIns="0" rtlCol="0" anchor="t"/>
          <a:lstStyle/>
          <a:p>
            <a:pPr algn="ctr" indent="0" marL="0">
              <a:buNone/>
            </a:pPr>
            <a:r>
              <a:rPr lang="en-US" sz="2000" b="1" dirty="0">
                <a:solidFill>
                  <a:schemeClr val="accent2"/>
                </a:solidFill>
              </a:rPr>
              <a:t>2024–25</a:t>
            </a:r>
            <a:endParaRPr lang="en-US" sz="1600" dirty="0"/>
          </a:p>
          <a:p>
            <a:pPr algn="ctr" indent="0" marL="0">
              <a:buNone/>
            </a:pPr>
            <a:r>
              <a:rPr lang="en-US" sz="1400" dirty="0">
                <a:solidFill>
                  <a:schemeClr val="tx1"/>
                </a:solidFill>
              </a:rPr>
              <a:t>MCP (Anthropic) e A2A (Google)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02</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Arquiteturas de agentes</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Do reflexo ao compromisso · Notebook, Seção 2</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Do reflexo ao raciocínio</a:t>
            </a:r>
            <a:endParaRPr lang="en-US" sz="3400" dirty="0"/>
          </a:p>
        </p:txBody>
      </p:sp>
      <p:sp>
        <p:nvSpPr>
          <p:cNvPr id="4" name="Shape 1"/>
          <p:cNvSpPr/>
          <p:nvPr/>
        </p:nvSpPr>
        <p:spPr>
          <a:xfrm>
            <a:off x="548640" y="1417320"/>
            <a:ext cx="3566160" cy="2103120"/>
          </a:xfrm>
          <a:prstGeom prst="roundRect">
            <a:avLst>
              <a:gd name="adj" fmla="val 3478"/>
            </a:avLst>
          </a:prstGeom>
          <a:solidFill>
            <a:schemeClr val="bg2"/>
          </a:solidFill>
          <a:ln/>
        </p:spPr>
      </p:sp>
      <p:sp>
        <p:nvSpPr>
          <p:cNvPr id="5" name="Shape 2"/>
          <p:cNvSpPr/>
          <p:nvPr/>
        </p:nvSpPr>
        <p:spPr>
          <a:xfrm>
            <a:off x="777240" y="164592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3"/>
          <p:cNvSpPr txBox="1"/>
          <p:nvPr/>
        </p:nvSpPr>
        <p:spPr>
          <a:xfrm>
            <a:off x="1600200" y="1737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Reativo simples</a:t>
            </a:r>
            <a:endParaRPr lang="en-US" sz="2000" dirty="0"/>
          </a:p>
        </p:txBody>
      </p:sp>
      <p:sp>
        <p:nvSpPr>
          <p:cNvPr id="8" name="Text 4"/>
          <p:cNvSpPr txBox="1"/>
          <p:nvPr/>
        </p:nvSpPr>
        <p:spPr>
          <a:xfrm>
            <a:off x="777240" y="2441448"/>
            <a:ext cx="3108960" cy="457200"/>
          </a:xfrm>
          <a:prstGeom prst="rect">
            <a:avLst/>
          </a:prstGeom>
          <a:noFill/>
          <a:ln/>
        </p:spPr>
        <p:txBody>
          <a:bodyPr wrap="square" lIns="0" tIns="0" rIns="0" bIns="0" rtlCol="0" anchor="t"/>
          <a:lstStyle/>
          <a:p>
            <a:pPr indent="0" marL="0">
              <a:buNone/>
            </a:pPr>
            <a:r>
              <a:rPr lang="en-US" sz="1500" dirty="0">
                <a:solidFill>
                  <a:schemeClr val="tx1"/>
                </a:solidFill>
              </a:rPr>
              <a:t>Regra condição → ação, sem memória</a:t>
            </a:r>
            <a:endParaRPr lang="en-US" sz="1500" dirty="0"/>
          </a:p>
        </p:txBody>
      </p:sp>
      <p:sp>
        <p:nvSpPr>
          <p:cNvPr id="9" name="Text 5"/>
          <p:cNvSpPr txBox="1"/>
          <p:nvPr/>
        </p:nvSpPr>
        <p:spPr>
          <a:xfrm>
            <a:off x="777240" y="2898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Controle de estabilidade do carro</a:t>
            </a:r>
            <a:endParaRPr lang="en-US" sz="1400" dirty="0"/>
          </a:p>
        </p:txBody>
      </p:sp>
      <p:sp>
        <p:nvSpPr>
          <p:cNvPr id="10" name="Shape 6"/>
          <p:cNvSpPr/>
          <p:nvPr/>
        </p:nvSpPr>
        <p:spPr>
          <a:xfrm>
            <a:off x="4297680" y="1417320"/>
            <a:ext cx="3566160" cy="2103120"/>
          </a:xfrm>
          <a:prstGeom prst="roundRect">
            <a:avLst>
              <a:gd name="adj" fmla="val 3478"/>
            </a:avLst>
          </a:prstGeom>
          <a:solidFill>
            <a:schemeClr val="bg2"/>
          </a:solidFill>
          <a:ln/>
        </p:spPr>
      </p:sp>
      <p:sp>
        <p:nvSpPr>
          <p:cNvPr id="11" name="Shape 7"/>
          <p:cNvSpPr/>
          <p:nvPr/>
        </p:nvSpPr>
        <p:spPr>
          <a:xfrm>
            <a:off x="4526280" y="1645920"/>
            <a:ext cx="640080" cy="64008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679899" y="1799539"/>
            <a:ext cx="332842" cy="332842"/>
          </a:xfrm>
          <a:prstGeom prst="rect">
            <a:avLst/>
          </a:prstGeom>
        </p:spPr>
      </p:pic>
      <p:sp>
        <p:nvSpPr>
          <p:cNvPr id="13" name="Text 8"/>
          <p:cNvSpPr txBox="1"/>
          <p:nvPr/>
        </p:nvSpPr>
        <p:spPr>
          <a:xfrm>
            <a:off x="5349240" y="1737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Com modelo</a:t>
            </a:r>
            <a:endParaRPr lang="en-US" sz="2000" dirty="0"/>
          </a:p>
        </p:txBody>
      </p:sp>
      <p:sp>
        <p:nvSpPr>
          <p:cNvPr id="14" name="Text 9"/>
          <p:cNvSpPr txBox="1"/>
          <p:nvPr/>
        </p:nvSpPr>
        <p:spPr>
          <a:xfrm>
            <a:off x="4526280" y="2441448"/>
            <a:ext cx="3108960" cy="457200"/>
          </a:xfrm>
          <a:prstGeom prst="rect">
            <a:avLst/>
          </a:prstGeom>
          <a:noFill/>
          <a:ln/>
        </p:spPr>
        <p:txBody>
          <a:bodyPr wrap="square" lIns="0" tIns="0" rIns="0" bIns="0" rtlCol="0" anchor="t"/>
          <a:lstStyle/>
          <a:p>
            <a:pPr indent="0" marL="0">
              <a:buNone/>
            </a:pPr>
            <a:r>
              <a:rPr lang="en-US" sz="1500" dirty="0">
                <a:solidFill>
                  <a:schemeClr val="tx1"/>
                </a:solidFill>
              </a:rPr>
              <a:t>Guarda um estado interno do mundo</a:t>
            </a:r>
            <a:endParaRPr lang="en-US" sz="1500" dirty="0"/>
          </a:p>
        </p:txBody>
      </p:sp>
      <p:sp>
        <p:nvSpPr>
          <p:cNvPr id="15" name="Text 10"/>
          <p:cNvSpPr txBox="1"/>
          <p:nvPr/>
        </p:nvSpPr>
        <p:spPr>
          <a:xfrm>
            <a:off x="4526280" y="2898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Aspirador com mapa da casa</a:t>
            </a:r>
            <a:endParaRPr lang="en-US" sz="1400" dirty="0"/>
          </a:p>
        </p:txBody>
      </p:sp>
      <p:sp>
        <p:nvSpPr>
          <p:cNvPr id="16" name="Shape 11"/>
          <p:cNvSpPr/>
          <p:nvPr/>
        </p:nvSpPr>
        <p:spPr>
          <a:xfrm>
            <a:off x="8046720" y="1417320"/>
            <a:ext cx="3566160" cy="2103120"/>
          </a:xfrm>
          <a:prstGeom prst="roundRect">
            <a:avLst>
              <a:gd name="adj" fmla="val 3478"/>
            </a:avLst>
          </a:prstGeom>
          <a:solidFill>
            <a:schemeClr val="bg2"/>
          </a:solidFill>
          <a:ln/>
        </p:spPr>
      </p:sp>
      <p:sp>
        <p:nvSpPr>
          <p:cNvPr id="17" name="Shape 12"/>
          <p:cNvSpPr/>
          <p:nvPr/>
        </p:nvSpPr>
        <p:spPr>
          <a:xfrm>
            <a:off x="8275320" y="1645920"/>
            <a:ext cx="640080" cy="640080"/>
          </a:xfrm>
          <a:prstGeom prst="ellipse">
            <a:avLst/>
          </a:prstGeom>
          <a:solidFill>
            <a:schemeClr val="accent4"/>
          </a:solidFill>
          <a:ln/>
        </p:spPr>
      </p:sp>
      <p:pic>
        <p:nvPicPr>
          <p:cNvPr id="18" name="Image 2" descr="preencoded.png">    </p:cNvPr>
          <p:cNvPicPr>
            <a:picLocks noChangeAspect="1"/>
          </p:cNvPicPr>
          <p:nvPr/>
        </p:nvPicPr>
        <p:blipFill>
          <a:blip r:embed="rId3"/>
          <a:stretch>
            <a:fillRect/>
          </a:stretch>
        </p:blipFill>
        <p:spPr>
          <a:xfrm>
            <a:off x="8428939" y="1799539"/>
            <a:ext cx="332842" cy="332842"/>
          </a:xfrm>
          <a:prstGeom prst="rect">
            <a:avLst/>
          </a:prstGeom>
        </p:spPr>
      </p:pic>
      <p:sp>
        <p:nvSpPr>
          <p:cNvPr id="19" name="Text 13"/>
          <p:cNvSpPr txBox="1"/>
          <p:nvPr/>
        </p:nvSpPr>
        <p:spPr>
          <a:xfrm>
            <a:off x="9098280" y="1737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Com objetivos</a:t>
            </a:r>
            <a:endParaRPr lang="en-US" sz="2000" dirty="0"/>
          </a:p>
        </p:txBody>
      </p:sp>
      <p:sp>
        <p:nvSpPr>
          <p:cNvPr id="20" name="Text 14"/>
          <p:cNvSpPr txBox="1"/>
          <p:nvPr/>
        </p:nvSpPr>
        <p:spPr>
          <a:xfrm>
            <a:off x="8275320" y="2441448"/>
            <a:ext cx="3108960" cy="457200"/>
          </a:xfrm>
          <a:prstGeom prst="rect">
            <a:avLst/>
          </a:prstGeom>
          <a:noFill/>
          <a:ln/>
        </p:spPr>
        <p:txBody>
          <a:bodyPr wrap="square" lIns="0" tIns="0" rIns="0" bIns="0" rtlCol="0" anchor="t"/>
          <a:lstStyle/>
          <a:p>
            <a:pPr indent="0" marL="0">
              <a:buNone/>
            </a:pPr>
            <a:r>
              <a:rPr lang="en-US" sz="1500" dirty="0">
                <a:solidFill>
                  <a:schemeClr val="tx1"/>
                </a:solidFill>
              </a:rPr>
              <a:t>Planeja ações até chegar ao objetivo</a:t>
            </a:r>
            <a:endParaRPr lang="en-US" sz="1500" dirty="0"/>
          </a:p>
        </p:txBody>
      </p:sp>
      <p:sp>
        <p:nvSpPr>
          <p:cNvPr id="21" name="Text 15"/>
          <p:cNvSpPr txBox="1"/>
          <p:nvPr/>
        </p:nvSpPr>
        <p:spPr>
          <a:xfrm>
            <a:off x="8275320" y="2898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GPS planejando a rota</a:t>
            </a:r>
            <a:endParaRPr lang="en-US" sz="1400" dirty="0"/>
          </a:p>
        </p:txBody>
      </p:sp>
      <p:sp>
        <p:nvSpPr>
          <p:cNvPr id="22" name="Shape 16"/>
          <p:cNvSpPr/>
          <p:nvPr/>
        </p:nvSpPr>
        <p:spPr>
          <a:xfrm>
            <a:off x="548640" y="3703320"/>
            <a:ext cx="3566160" cy="2103120"/>
          </a:xfrm>
          <a:prstGeom prst="roundRect">
            <a:avLst>
              <a:gd name="adj" fmla="val 3478"/>
            </a:avLst>
          </a:prstGeom>
          <a:solidFill>
            <a:schemeClr val="bg2"/>
          </a:solidFill>
          <a:ln/>
        </p:spPr>
      </p:sp>
      <p:sp>
        <p:nvSpPr>
          <p:cNvPr id="23" name="Shape 17"/>
          <p:cNvSpPr/>
          <p:nvPr/>
        </p:nvSpPr>
        <p:spPr>
          <a:xfrm>
            <a:off x="777240" y="3931920"/>
            <a:ext cx="640080" cy="640080"/>
          </a:xfrm>
          <a:prstGeom prst="ellipse">
            <a:avLst/>
          </a:prstGeom>
          <a:solidFill>
            <a:schemeClr val="accent5"/>
          </a:solidFill>
          <a:ln/>
        </p:spPr>
      </p:sp>
      <p:pic>
        <p:nvPicPr>
          <p:cNvPr id="24" name="Image 3" descr="preencoded.png">    </p:cNvPr>
          <p:cNvPicPr>
            <a:picLocks noChangeAspect="1"/>
          </p:cNvPicPr>
          <p:nvPr/>
        </p:nvPicPr>
        <p:blipFill>
          <a:blip r:embed="rId4"/>
          <a:stretch>
            <a:fillRect/>
          </a:stretch>
        </p:blipFill>
        <p:spPr>
          <a:xfrm>
            <a:off x="930859" y="4085539"/>
            <a:ext cx="332842" cy="332842"/>
          </a:xfrm>
          <a:prstGeom prst="rect">
            <a:avLst/>
          </a:prstGeom>
        </p:spPr>
      </p:pic>
      <p:sp>
        <p:nvSpPr>
          <p:cNvPr id="25" name="Text 18"/>
          <p:cNvSpPr txBox="1"/>
          <p:nvPr/>
        </p:nvSpPr>
        <p:spPr>
          <a:xfrm>
            <a:off x="1600200" y="4023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Com utilidade</a:t>
            </a:r>
            <a:endParaRPr lang="en-US" sz="2000" dirty="0"/>
          </a:p>
        </p:txBody>
      </p:sp>
      <p:sp>
        <p:nvSpPr>
          <p:cNvPr id="26" name="Text 19"/>
          <p:cNvSpPr txBox="1"/>
          <p:nvPr/>
        </p:nvSpPr>
        <p:spPr>
          <a:xfrm>
            <a:off x="777240" y="4727448"/>
            <a:ext cx="3108960" cy="457200"/>
          </a:xfrm>
          <a:prstGeom prst="rect">
            <a:avLst/>
          </a:prstGeom>
          <a:noFill/>
          <a:ln/>
        </p:spPr>
        <p:txBody>
          <a:bodyPr wrap="square" lIns="0" tIns="0" rIns="0" bIns="0" rtlCol="0" anchor="t"/>
          <a:lstStyle/>
          <a:p>
            <a:pPr indent="0" marL="0">
              <a:buNone/>
            </a:pPr>
            <a:r>
              <a:rPr lang="en-US" sz="1500" dirty="0">
                <a:solidFill>
                  <a:schemeClr val="tx1"/>
                </a:solidFill>
              </a:rPr>
              <a:t>Pondera critérios e incerteza</a:t>
            </a:r>
            <a:endParaRPr lang="en-US" sz="1500" dirty="0"/>
          </a:p>
        </p:txBody>
      </p:sp>
      <p:sp>
        <p:nvSpPr>
          <p:cNvPr id="27" name="Text 20"/>
          <p:cNvSpPr txBox="1"/>
          <p:nvPr/>
        </p:nvSpPr>
        <p:spPr>
          <a:xfrm>
            <a:off x="777240" y="5184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Rota rápida × sem pedágio × segura</a:t>
            </a:r>
            <a:endParaRPr lang="en-US" sz="1400" dirty="0"/>
          </a:p>
        </p:txBody>
      </p:sp>
      <p:sp>
        <p:nvSpPr>
          <p:cNvPr id="28" name="Shape 21"/>
          <p:cNvSpPr/>
          <p:nvPr/>
        </p:nvSpPr>
        <p:spPr>
          <a:xfrm>
            <a:off x="4297680" y="3703320"/>
            <a:ext cx="3566160" cy="2103120"/>
          </a:xfrm>
          <a:prstGeom prst="roundRect">
            <a:avLst>
              <a:gd name="adj" fmla="val 3478"/>
            </a:avLst>
          </a:prstGeom>
          <a:solidFill>
            <a:schemeClr val="bg2"/>
          </a:solidFill>
          <a:ln/>
        </p:spPr>
      </p:sp>
      <p:sp>
        <p:nvSpPr>
          <p:cNvPr id="29" name="Shape 22"/>
          <p:cNvSpPr/>
          <p:nvPr/>
        </p:nvSpPr>
        <p:spPr>
          <a:xfrm>
            <a:off x="4526280" y="3931920"/>
            <a:ext cx="640080" cy="640080"/>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4679899" y="4085539"/>
            <a:ext cx="332842" cy="332842"/>
          </a:xfrm>
          <a:prstGeom prst="rect">
            <a:avLst/>
          </a:prstGeom>
        </p:spPr>
      </p:pic>
      <p:sp>
        <p:nvSpPr>
          <p:cNvPr id="31" name="Text 23"/>
          <p:cNvSpPr txBox="1"/>
          <p:nvPr/>
        </p:nvSpPr>
        <p:spPr>
          <a:xfrm>
            <a:off x="5349240" y="4023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BDI</a:t>
            </a:r>
            <a:endParaRPr lang="en-US" sz="2000" dirty="0"/>
          </a:p>
        </p:txBody>
      </p:sp>
      <p:sp>
        <p:nvSpPr>
          <p:cNvPr id="32" name="Text 24"/>
          <p:cNvSpPr txBox="1"/>
          <p:nvPr/>
        </p:nvSpPr>
        <p:spPr>
          <a:xfrm>
            <a:off x="4526280" y="4727448"/>
            <a:ext cx="3108960" cy="457200"/>
          </a:xfrm>
          <a:prstGeom prst="rect">
            <a:avLst/>
          </a:prstGeom>
          <a:noFill/>
          <a:ln/>
        </p:spPr>
        <p:txBody>
          <a:bodyPr wrap="square" lIns="0" tIns="0" rIns="0" bIns="0" rtlCol="0" anchor="t"/>
          <a:lstStyle/>
          <a:p>
            <a:pPr indent="0" marL="0">
              <a:buNone/>
            </a:pPr>
            <a:r>
              <a:rPr lang="en-US" sz="1500" dirty="0">
                <a:solidFill>
                  <a:schemeClr val="tx1"/>
                </a:solidFill>
              </a:rPr>
              <a:t>Crenças, desejos e intenções</a:t>
            </a:r>
            <a:endParaRPr lang="en-US" sz="1500" dirty="0"/>
          </a:p>
        </p:txBody>
      </p:sp>
      <p:sp>
        <p:nvSpPr>
          <p:cNvPr id="33" name="Text 25"/>
          <p:cNvSpPr txBox="1"/>
          <p:nvPr/>
        </p:nvSpPr>
        <p:spPr>
          <a:xfrm>
            <a:off x="4526280" y="5184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Entregador de aplicativo</a:t>
            </a:r>
            <a:endParaRPr lang="en-US" sz="1400" dirty="0"/>
          </a:p>
        </p:txBody>
      </p:sp>
      <p:sp>
        <p:nvSpPr>
          <p:cNvPr id="34" name="Shape 26"/>
          <p:cNvSpPr/>
          <p:nvPr/>
        </p:nvSpPr>
        <p:spPr>
          <a:xfrm>
            <a:off x="8046720" y="3703320"/>
            <a:ext cx="3566160" cy="2103120"/>
          </a:xfrm>
          <a:prstGeom prst="roundRect">
            <a:avLst>
              <a:gd name="adj" fmla="val 3478"/>
            </a:avLst>
          </a:prstGeom>
          <a:solidFill>
            <a:schemeClr val="bg2"/>
          </a:solidFill>
          <a:ln/>
        </p:spPr>
      </p:sp>
      <p:sp>
        <p:nvSpPr>
          <p:cNvPr id="35" name="Shape 27"/>
          <p:cNvSpPr/>
          <p:nvPr/>
        </p:nvSpPr>
        <p:spPr>
          <a:xfrm>
            <a:off x="8275320" y="3931920"/>
            <a:ext cx="640080" cy="640080"/>
          </a:xfrm>
          <a:prstGeom prst="ellipse">
            <a:avLst/>
          </a:prstGeom>
          <a:solidFill>
            <a:schemeClr val="accent2"/>
          </a:solidFill>
          <a:ln/>
        </p:spPr>
      </p:sp>
      <p:pic>
        <p:nvPicPr>
          <p:cNvPr id="36" name="Image 5" descr="preencoded.png">    </p:cNvPr>
          <p:cNvPicPr>
            <a:picLocks noChangeAspect="1"/>
          </p:cNvPicPr>
          <p:nvPr/>
        </p:nvPicPr>
        <p:blipFill>
          <a:blip r:embed="rId6"/>
          <a:stretch>
            <a:fillRect/>
          </a:stretch>
        </p:blipFill>
        <p:spPr>
          <a:xfrm>
            <a:off x="8428939" y="4085539"/>
            <a:ext cx="332842" cy="332842"/>
          </a:xfrm>
          <a:prstGeom prst="rect">
            <a:avLst/>
          </a:prstGeom>
        </p:spPr>
      </p:pic>
      <p:sp>
        <p:nvSpPr>
          <p:cNvPr id="37" name="Text 28"/>
          <p:cNvSpPr txBox="1"/>
          <p:nvPr/>
        </p:nvSpPr>
        <p:spPr>
          <a:xfrm>
            <a:off x="9098280" y="4023360"/>
            <a:ext cx="2286000" cy="457200"/>
          </a:xfrm>
          <a:prstGeom prst="rect">
            <a:avLst/>
          </a:prstGeom>
          <a:noFill/>
          <a:ln/>
        </p:spPr>
        <p:txBody>
          <a:bodyPr wrap="square" lIns="0" tIns="0" rIns="0" bIns="0" rtlCol="0" anchor="ctr"/>
          <a:lstStyle/>
          <a:p>
            <a:pPr indent="0" marL="0">
              <a:buNone/>
            </a:pPr>
            <a:r>
              <a:rPr lang="en-US" sz="2000" b="1" dirty="0">
                <a:solidFill>
                  <a:schemeClr val="tx2"/>
                </a:solidFill>
              </a:rPr>
              <a:t>Híbrida</a:t>
            </a:r>
            <a:endParaRPr lang="en-US" sz="2000" dirty="0"/>
          </a:p>
        </p:txBody>
      </p:sp>
      <p:sp>
        <p:nvSpPr>
          <p:cNvPr id="38" name="Text 29"/>
          <p:cNvSpPr txBox="1"/>
          <p:nvPr/>
        </p:nvSpPr>
        <p:spPr>
          <a:xfrm>
            <a:off x="8275320" y="4727448"/>
            <a:ext cx="3108960" cy="457200"/>
          </a:xfrm>
          <a:prstGeom prst="rect">
            <a:avLst/>
          </a:prstGeom>
          <a:noFill/>
          <a:ln/>
        </p:spPr>
        <p:txBody>
          <a:bodyPr wrap="square" lIns="0" tIns="0" rIns="0" bIns="0" rtlCol="0" anchor="t"/>
          <a:lstStyle/>
          <a:p>
            <a:pPr indent="0" marL="0">
              <a:buNone/>
            </a:pPr>
            <a:r>
              <a:rPr lang="en-US" sz="1500" dirty="0">
                <a:solidFill>
                  <a:schemeClr val="tx1"/>
                </a:solidFill>
              </a:rPr>
              <a:t>Camadas reativa, deliberativa e social</a:t>
            </a:r>
            <a:endParaRPr lang="en-US" sz="1500" dirty="0"/>
          </a:p>
        </p:txBody>
      </p:sp>
      <p:sp>
        <p:nvSpPr>
          <p:cNvPr id="39" name="Text 30"/>
          <p:cNvSpPr txBox="1"/>
          <p:nvPr/>
        </p:nvSpPr>
        <p:spPr>
          <a:xfrm>
            <a:off x="8275320" y="5184648"/>
            <a:ext cx="3108960" cy="457200"/>
          </a:xfrm>
          <a:prstGeom prst="rect">
            <a:avLst/>
          </a:prstGeom>
          <a:noFill/>
          <a:ln/>
        </p:spPr>
        <p:txBody>
          <a:bodyPr wrap="square" lIns="0" tIns="0" rIns="0" bIns="0" rtlCol="0" anchor="t"/>
          <a:lstStyle/>
          <a:p>
            <a:pPr indent="0" marL="0">
              <a:buNone/>
            </a:pPr>
            <a:r>
              <a:rPr lang="en-US" sz="1400" i="1" dirty="0">
                <a:solidFill>
                  <a:schemeClr val="accent4"/>
                </a:solidFill>
              </a:rPr>
              <a:t>Na prática: Carro autônomo</a:t>
            </a:r>
            <a:endParaRPr lang="en-US" sz="1400" dirty="0"/>
          </a:p>
        </p:txBody>
      </p:sp>
      <p:sp>
        <p:nvSpPr>
          <p:cNvPr id="40" name="Text 31"/>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i="1" dirty="0">
                <a:solidFill>
                  <a:schemeClr val="accent6"/>
                </a:solidFill>
              </a:rPr>
              <a:t>Russell e Norvig (2020, cap. 2); Wooldridge (2009, caps. 3–5)</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Subsunção: o mundo é o seu melhor modelo</a:t>
            </a:r>
            <a:endParaRPr lang="en-US" sz="3400" dirty="0"/>
          </a:p>
        </p:txBody>
      </p:sp>
      <p:sp>
        <p:nvSpPr>
          <p:cNvPr id="4" name="Shape 1"/>
          <p:cNvSpPr/>
          <p:nvPr/>
        </p:nvSpPr>
        <p:spPr>
          <a:xfrm>
            <a:off x="548640" y="2606040"/>
            <a:ext cx="1325880" cy="1554480"/>
          </a:xfrm>
          <a:prstGeom prst="roundRect">
            <a:avLst>
              <a:gd name="adj" fmla="val 5517"/>
            </a:avLst>
          </a:prstGeom>
          <a:solidFill>
            <a:schemeClr val="tx2"/>
          </a:solidFill>
          <a:ln/>
        </p:spPr>
      </p:sp>
      <p:sp>
        <p:nvSpPr>
          <p:cNvPr id="5" name="Text 2"/>
          <p:cNvSpPr txBox="1"/>
          <p:nvPr/>
        </p:nvSpPr>
        <p:spPr>
          <a:xfrm>
            <a:off x="548640" y="2606040"/>
            <a:ext cx="1325880" cy="1554480"/>
          </a:xfrm>
          <a:prstGeom prst="rect">
            <a:avLst/>
          </a:prstGeom>
          <a:noFill/>
          <a:ln/>
        </p:spPr>
        <p:txBody>
          <a:bodyPr wrap="square" lIns="0" tIns="0" rIns="0" bIns="0" rtlCol="0" anchor="ctr"/>
          <a:lstStyle/>
          <a:p>
            <a:pPr algn="ctr" indent="0" marL="0">
              <a:buNone/>
            </a:pPr>
            <a:r>
              <a:rPr lang="en-US" sz="1600" b="1" dirty="0">
                <a:solidFill>
                  <a:schemeClr val="bg1"/>
                </a:solidFill>
              </a:rPr>
              <a:t>Sensores</a:t>
            </a:r>
            <a:endParaRPr lang="en-US" sz="1600" dirty="0"/>
          </a:p>
        </p:txBody>
      </p:sp>
      <p:sp>
        <p:nvSpPr>
          <p:cNvPr id="6" name="Shape 3"/>
          <p:cNvSpPr/>
          <p:nvPr/>
        </p:nvSpPr>
        <p:spPr>
          <a:xfrm>
            <a:off x="2377440" y="1554480"/>
            <a:ext cx="2697480" cy="1051560"/>
          </a:xfrm>
          <a:prstGeom prst="roundRect">
            <a:avLst>
              <a:gd name="adj" fmla="val 6957"/>
            </a:avLst>
          </a:prstGeom>
          <a:solidFill>
            <a:schemeClr val="accent1"/>
          </a:solidFill>
          <a:ln/>
        </p:spPr>
      </p:sp>
      <p:sp>
        <p:nvSpPr>
          <p:cNvPr id="7" name="Text 4"/>
          <p:cNvSpPr txBox="1"/>
          <p:nvPr/>
        </p:nvSpPr>
        <p:spPr>
          <a:xfrm>
            <a:off x="2514600" y="1554480"/>
            <a:ext cx="2423160" cy="1051560"/>
          </a:xfrm>
          <a:prstGeom prst="rect">
            <a:avLst/>
          </a:prstGeom>
          <a:noFill/>
          <a:ln/>
        </p:spPr>
        <p:txBody>
          <a:bodyPr wrap="square" lIns="0" tIns="0" rIns="0" bIns="0" rtlCol="0" anchor="ctr"/>
          <a:lstStyle/>
          <a:p>
            <a:pPr algn="ctr" indent="0" marL="0">
              <a:buNone/>
            </a:pPr>
            <a:r>
              <a:rPr lang="en-US" sz="1600" b="1" dirty="0">
                <a:solidFill>
                  <a:schemeClr val="bg1"/>
                </a:solidFill>
              </a:rPr>
              <a:t>Evitar colisão e degraus</a:t>
            </a:r>
            <a:endParaRPr lang="en-US" sz="1600" dirty="0"/>
          </a:p>
          <a:p>
            <a:pPr algn="ctr" indent="0" marL="0">
              <a:buNone/>
            </a:pPr>
            <a:r>
              <a:rPr lang="en-US" sz="1300" i="1" dirty="0">
                <a:solidFill>
                  <a:schemeClr val="bg1"/>
                </a:solidFill>
              </a:rPr>
              <a:t>prioridade máxima</a:t>
            </a:r>
            <a:endParaRPr lang="en-US" sz="1600" dirty="0"/>
          </a:p>
        </p:txBody>
      </p:sp>
      <p:sp>
        <p:nvSpPr>
          <p:cNvPr id="8" name="Shape 5"/>
          <p:cNvSpPr/>
          <p:nvPr/>
        </p:nvSpPr>
        <p:spPr>
          <a:xfrm flipV="1">
            <a:off x="1874520" y="2080260"/>
            <a:ext cx="457200" cy="1303020"/>
          </a:xfrm>
          <a:prstGeom prst="line">
            <a:avLst/>
          </a:prstGeom>
          <a:noFill/>
          <a:ln w="19050">
            <a:solidFill>
              <a:schemeClr val="accent6"/>
            </a:solidFill>
            <a:prstDash val="solid"/>
            <a:tailEnd type="triangle"/>
          </a:ln>
        </p:spPr>
      </p:sp>
      <p:sp>
        <p:nvSpPr>
          <p:cNvPr id="9" name="Shape 6"/>
          <p:cNvSpPr/>
          <p:nvPr/>
        </p:nvSpPr>
        <p:spPr>
          <a:xfrm>
            <a:off x="5074920" y="2080260"/>
            <a:ext cx="457200" cy="1303020"/>
          </a:xfrm>
          <a:prstGeom prst="line">
            <a:avLst/>
          </a:prstGeom>
          <a:noFill/>
          <a:ln w="19050">
            <a:solidFill>
              <a:schemeClr val="accent6"/>
            </a:solidFill>
            <a:prstDash val="solid"/>
            <a:tailEnd type="triangle"/>
          </a:ln>
        </p:spPr>
      </p:sp>
      <p:sp>
        <p:nvSpPr>
          <p:cNvPr id="10" name="Shape 7"/>
          <p:cNvSpPr/>
          <p:nvPr/>
        </p:nvSpPr>
        <p:spPr>
          <a:xfrm>
            <a:off x="2377440" y="2926080"/>
            <a:ext cx="2697480" cy="1051560"/>
          </a:xfrm>
          <a:prstGeom prst="roundRect">
            <a:avLst>
              <a:gd name="adj" fmla="val 6957"/>
            </a:avLst>
          </a:prstGeom>
          <a:solidFill>
            <a:schemeClr val="accent2"/>
          </a:solidFill>
          <a:ln/>
        </p:spPr>
      </p:sp>
      <p:sp>
        <p:nvSpPr>
          <p:cNvPr id="11" name="Text 8"/>
          <p:cNvSpPr txBox="1"/>
          <p:nvPr/>
        </p:nvSpPr>
        <p:spPr>
          <a:xfrm>
            <a:off x="2514600" y="2926080"/>
            <a:ext cx="2423160" cy="1051560"/>
          </a:xfrm>
          <a:prstGeom prst="rect">
            <a:avLst/>
          </a:prstGeom>
          <a:noFill/>
          <a:ln/>
        </p:spPr>
        <p:txBody>
          <a:bodyPr wrap="square" lIns="0" tIns="0" rIns="0" bIns="0" rtlCol="0" anchor="ctr"/>
          <a:lstStyle/>
          <a:p>
            <a:pPr algn="ctr" indent="0" marL="0">
              <a:buNone/>
            </a:pPr>
            <a:r>
              <a:rPr lang="en-US" sz="1600" b="1" dirty="0">
                <a:solidFill>
                  <a:schemeClr val="bg1"/>
                </a:solidFill>
              </a:rPr>
              <a:t>Seguir paredes</a:t>
            </a:r>
            <a:endParaRPr lang="en-US" sz="1600" dirty="0"/>
          </a:p>
        </p:txBody>
      </p:sp>
      <p:sp>
        <p:nvSpPr>
          <p:cNvPr id="12" name="Shape 9"/>
          <p:cNvSpPr/>
          <p:nvPr/>
        </p:nvSpPr>
        <p:spPr>
          <a:xfrm>
            <a:off x="1874520" y="3383280"/>
            <a:ext cx="457200" cy="68580"/>
          </a:xfrm>
          <a:prstGeom prst="line">
            <a:avLst/>
          </a:prstGeom>
          <a:noFill/>
          <a:ln w="19050">
            <a:solidFill>
              <a:schemeClr val="accent6"/>
            </a:solidFill>
            <a:prstDash val="solid"/>
            <a:tailEnd type="triangle"/>
          </a:ln>
        </p:spPr>
      </p:sp>
      <p:sp>
        <p:nvSpPr>
          <p:cNvPr id="13" name="Shape 10"/>
          <p:cNvSpPr/>
          <p:nvPr/>
        </p:nvSpPr>
        <p:spPr>
          <a:xfrm flipV="1">
            <a:off x="5074920" y="3383280"/>
            <a:ext cx="457200" cy="68580"/>
          </a:xfrm>
          <a:prstGeom prst="line">
            <a:avLst/>
          </a:prstGeom>
          <a:noFill/>
          <a:ln w="19050">
            <a:solidFill>
              <a:schemeClr val="accent6"/>
            </a:solidFill>
            <a:prstDash val="solid"/>
            <a:tailEnd type="triangle"/>
          </a:ln>
        </p:spPr>
      </p:sp>
      <p:sp>
        <p:nvSpPr>
          <p:cNvPr id="14" name="Shape 11"/>
          <p:cNvSpPr/>
          <p:nvPr/>
        </p:nvSpPr>
        <p:spPr>
          <a:xfrm>
            <a:off x="2377440" y="4297680"/>
            <a:ext cx="2697480" cy="1051560"/>
          </a:xfrm>
          <a:prstGeom prst="roundRect">
            <a:avLst>
              <a:gd name="adj" fmla="val 6957"/>
            </a:avLst>
          </a:prstGeom>
          <a:solidFill>
            <a:schemeClr val="accent4"/>
          </a:solidFill>
          <a:ln/>
        </p:spPr>
      </p:sp>
      <p:sp>
        <p:nvSpPr>
          <p:cNvPr id="15" name="Text 12"/>
          <p:cNvSpPr txBox="1"/>
          <p:nvPr/>
        </p:nvSpPr>
        <p:spPr>
          <a:xfrm>
            <a:off x="2514600" y="4297680"/>
            <a:ext cx="2423160" cy="1051560"/>
          </a:xfrm>
          <a:prstGeom prst="rect">
            <a:avLst/>
          </a:prstGeom>
          <a:noFill/>
          <a:ln/>
        </p:spPr>
        <p:txBody>
          <a:bodyPr wrap="square" lIns="0" tIns="0" rIns="0" bIns="0" rtlCol="0" anchor="ctr"/>
          <a:lstStyle/>
          <a:p>
            <a:pPr algn="ctr" indent="0" marL="0">
              <a:buNone/>
            </a:pPr>
            <a:r>
              <a:rPr lang="en-US" sz="1600" b="1" dirty="0">
                <a:solidFill>
                  <a:schemeClr val="bg1"/>
                </a:solidFill>
              </a:rPr>
              <a:t>Andar em espiral e explorar</a:t>
            </a:r>
            <a:endParaRPr lang="en-US" sz="1600" dirty="0"/>
          </a:p>
        </p:txBody>
      </p:sp>
      <p:sp>
        <p:nvSpPr>
          <p:cNvPr id="16" name="Shape 13"/>
          <p:cNvSpPr/>
          <p:nvPr/>
        </p:nvSpPr>
        <p:spPr>
          <a:xfrm>
            <a:off x="1874520" y="3383280"/>
            <a:ext cx="457200" cy="1440180"/>
          </a:xfrm>
          <a:prstGeom prst="line">
            <a:avLst/>
          </a:prstGeom>
          <a:noFill/>
          <a:ln w="19050">
            <a:solidFill>
              <a:schemeClr val="accent6"/>
            </a:solidFill>
            <a:prstDash val="solid"/>
            <a:tailEnd type="triangle"/>
          </a:ln>
        </p:spPr>
      </p:sp>
      <p:sp>
        <p:nvSpPr>
          <p:cNvPr id="17" name="Shape 14"/>
          <p:cNvSpPr/>
          <p:nvPr/>
        </p:nvSpPr>
        <p:spPr>
          <a:xfrm flipV="1">
            <a:off x="5074920" y="3383280"/>
            <a:ext cx="457200" cy="1440180"/>
          </a:xfrm>
          <a:prstGeom prst="line">
            <a:avLst/>
          </a:prstGeom>
          <a:noFill/>
          <a:ln w="19050">
            <a:solidFill>
              <a:schemeClr val="accent6"/>
            </a:solidFill>
            <a:prstDash val="solid"/>
            <a:tailEnd type="triangle"/>
          </a:ln>
        </p:spPr>
      </p:sp>
      <p:sp>
        <p:nvSpPr>
          <p:cNvPr id="18" name="Shape 15"/>
          <p:cNvSpPr/>
          <p:nvPr/>
        </p:nvSpPr>
        <p:spPr>
          <a:xfrm>
            <a:off x="5577840" y="2606040"/>
            <a:ext cx="1143000" cy="1554480"/>
          </a:xfrm>
          <a:prstGeom prst="roundRect">
            <a:avLst>
              <a:gd name="adj" fmla="val 6400"/>
            </a:avLst>
          </a:prstGeom>
          <a:solidFill>
            <a:schemeClr val="tx2"/>
          </a:solidFill>
          <a:ln/>
        </p:spPr>
      </p:sp>
      <p:sp>
        <p:nvSpPr>
          <p:cNvPr id="19" name="Text 16"/>
          <p:cNvSpPr txBox="1"/>
          <p:nvPr/>
        </p:nvSpPr>
        <p:spPr>
          <a:xfrm>
            <a:off x="5577840" y="2606040"/>
            <a:ext cx="1143000" cy="1554480"/>
          </a:xfrm>
          <a:prstGeom prst="rect">
            <a:avLst/>
          </a:prstGeom>
          <a:noFill/>
          <a:ln/>
        </p:spPr>
        <p:txBody>
          <a:bodyPr wrap="square" lIns="0" tIns="0" rIns="0" bIns="0" rtlCol="0" anchor="ctr"/>
          <a:lstStyle/>
          <a:p>
            <a:pPr algn="ctr" indent="0" marL="0">
              <a:buNone/>
            </a:pPr>
            <a:r>
              <a:rPr lang="en-US" sz="1500" b="1" dirty="0">
                <a:solidFill>
                  <a:schemeClr val="bg1"/>
                </a:solidFill>
              </a:rPr>
              <a:t>Rodas e escovas</a:t>
            </a:r>
            <a:endParaRPr lang="en-US" sz="1500" dirty="0"/>
          </a:p>
        </p:txBody>
      </p:sp>
      <p:sp>
        <p:nvSpPr>
          <p:cNvPr id="20" name="Text 17"/>
          <p:cNvSpPr txBox="1"/>
          <p:nvPr/>
        </p:nvSpPr>
        <p:spPr>
          <a:xfrm>
            <a:off x="548640" y="5623560"/>
            <a:ext cx="6217920" cy="457200"/>
          </a:xfrm>
          <a:prstGeom prst="rect">
            <a:avLst/>
          </a:prstGeom>
          <a:noFill/>
          <a:ln/>
        </p:spPr>
        <p:txBody>
          <a:bodyPr wrap="square" lIns="0" tIns="0" rIns="0" bIns="0" rtlCol="0" anchor="t"/>
          <a:lstStyle/>
          <a:p>
            <a:pPr indent="0" marL="0">
              <a:buNone/>
            </a:pPr>
            <a:r>
              <a:rPr lang="en-US" sz="1400" i="1" dirty="0">
                <a:solidFill>
                  <a:schemeClr val="accent6"/>
                </a:solidFill>
              </a:rPr>
              <a:t>Comportamentos de segurança têm a palavra final sobre os de exploração.</a:t>
            </a:r>
            <a:endParaRPr lang="en-US" sz="1400" dirty="0"/>
          </a:p>
        </p:txBody>
      </p:sp>
      <p:sp>
        <p:nvSpPr>
          <p:cNvPr id="21" name="Text 18"/>
          <p:cNvSpPr/>
          <p:nvPr/>
        </p:nvSpPr>
        <p:spPr>
          <a:xfrm>
            <a:off x="7223760" y="146304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2" name="Text 19"/>
          <p:cNvSpPr txBox="1"/>
          <p:nvPr/>
        </p:nvSpPr>
        <p:spPr>
          <a:xfrm>
            <a:off x="7909560" y="1463040"/>
            <a:ext cx="3703320" cy="1371600"/>
          </a:xfrm>
          <a:prstGeom prst="rect">
            <a:avLst/>
          </a:prstGeom>
          <a:noFill/>
          <a:ln/>
        </p:spPr>
        <p:txBody>
          <a:bodyPr wrap="square" lIns="0" tIns="0" rIns="0" bIns="0" rtlCol="0" anchor="t"/>
          <a:lstStyle/>
          <a:p>
            <a:pPr indent="0" marL="0">
              <a:buNone/>
            </a:pPr>
            <a:r>
              <a:rPr lang="en-US" sz="1700" b="1" dirty="0">
                <a:solidFill>
                  <a:schemeClr val="tx2"/>
                </a:solidFill>
              </a:rPr>
              <a:t>Contra o “modelo do mundo”</a:t>
            </a:r>
            <a:endParaRPr lang="en-US" sz="1600" dirty="0"/>
          </a:p>
          <a:p>
            <a:pPr indent="0" marL="0">
              <a:buNone/>
            </a:pPr>
            <a:r>
              <a:rPr lang="en-US" sz="1500" dirty="0">
                <a:solidFill>
                  <a:schemeClr val="tx1"/>
                </a:solidFill>
              </a:rPr>
              <a:t>Modelar tudo antes de agir deixava os robôs lentos e frágeis (Brooks, 1986; 1991).</a:t>
            </a:r>
            <a:endParaRPr lang="en-US" sz="1600" dirty="0"/>
          </a:p>
        </p:txBody>
      </p:sp>
      <p:sp>
        <p:nvSpPr>
          <p:cNvPr id="23" name="Text 20"/>
          <p:cNvSpPr/>
          <p:nvPr/>
        </p:nvSpPr>
        <p:spPr>
          <a:xfrm>
            <a:off x="7223760" y="297180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Text 21"/>
          <p:cNvSpPr txBox="1"/>
          <p:nvPr/>
        </p:nvSpPr>
        <p:spPr>
          <a:xfrm>
            <a:off x="7909560" y="2971800"/>
            <a:ext cx="3703320" cy="1371600"/>
          </a:xfrm>
          <a:prstGeom prst="rect">
            <a:avLst/>
          </a:prstGeom>
          <a:noFill/>
          <a:ln/>
        </p:spPr>
        <p:txBody>
          <a:bodyPr wrap="square" lIns="0" tIns="0" rIns="0" bIns="0" rtlCol="0" anchor="t"/>
          <a:lstStyle/>
          <a:p>
            <a:pPr indent="0" marL="0">
              <a:buNone/>
            </a:pPr>
            <a:r>
              <a:rPr lang="en-US" sz="1700" b="1" dirty="0">
                <a:solidFill>
                  <a:schemeClr val="tx2"/>
                </a:solidFill>
              </a:rPr>
              <a:t>Camadas simples, sem mapa</a:t>
            </a:r>
            <a:endParaRPr lang="en-US" sz="1600" dirty="0"/>
          </a:p>
          <a:p>
            <a:pPr indent="0" marL="0">
              <a:buNone/>
            </a:pPr>
            <a:r>
              <a:rPr lang="en-US" sz="1500" dirty="0">
                <a:solidFill>
                  <a:schemeClr val="tx1"/>
                </a:solidFill>
              </a:rPr>
              <a:t>Cada comportamento liga sensor a atuador. “O mundo é o seu melhor modelo” (Brooks, 1990).</a:t>
            </a:r>
            <a:endParaRPr lang="en-US" sz="1600" dirty="0"/>
          </a:p>
        </p:txBody>
      </p:sp>
      <p:sp>
        <p:nvSpPr>
          <p:cNvPr id="25" name="Text 22"/>
          <p:cNvSpPr/>
          <p:nvPr/>
        </p:nvSpPr>
        <p:spPr>
          <a:xfrm>
            <a:off x="7223760" y="448056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Text 23"/>
          <p:cNvSpPr txBox="1"/>
          <p:nvPr/>
        </p:nvSpPr>
        <p:spPr>
          <a:xfrm>
            <a:off x="7909560" y="4480560"/>
            <a:ext cx="3703320" cy="1371600"/>
          </a:xfrm>
          <a:prstGeom prst="rect">
            <a:avLst/>
          </a:prstGeom>
          <a:noFill/>
          <a:ln/>
        </p:spPr>
        <p:txBody>
          <a:bodyPr wrap="square" lIns="0" tIns="0" rIns="0" bIns="0" rtlCol="0" anchor="t"/>
          <a:lstStyle/>
          <a:p>
            <a:pPr indent="0" marL="0">
              <a:buNone/>
            </a:pPr>
            <a:r>
              <a:rPr lang="en-US" sz="1700" b="1" dirty="0">
                <a:solidFill>
                  <a:schemeClr val="tx2"/>
                </a:solidFill>
              </a:rPr>
              <a:t>Do laboratório para a sala</a:t>
            </a:r>
            <a:endParaRPr lang="en-US" sz="1600" dirty="0"/>
          </a:p>
          <a:p>
            <a:pPr indent="0" marL="0">
              <a:buNone/>
            </a:pPr>
            <a:r>
              <a:rPr lang="en-US" sz="1500" dirty="0">
                <a:solidFill>
                  <a:schemeClr val="tx1"/>
                </a:solidFill>
              </a:rPr>
              <a:t>Brooks cofundou a iRobot (1990). O Roomba (2002) seguia essa ideia; os atuais mapeiam a casa (vSLAM).</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Na prática: aspirador reativo × com mapa</a:t>
            </a:r>
            <a:endParaRPr lang="en-US" sz="3400" dirty="0"/>
          </a:p>
        </p:txBody>
      </p:sp>
      <p:pic>
        <p:nvPicPr>
          <p:cNvPr id="4" name="Image 0" descr="/private/tmp/claude-501/-Users-macbookpro--claude-spares-spare-wdbrp0/739b5760-ca18-40e0-ab06-85dbfcc54c60/scratchpad/deck/img/c11_1.png">    </p:cNvPr>
          <p:cNvPicPr>
            <a:picLocks noChangeAspect="1"/>
          </p:cNvPicPr>
          <p:nvPr/>
        </p:nvPicPr>
        <p:blipFill>
          <a:blip r:embed="rId1"/>
          <a:stretch>
            <a:fillRect/>
          </a:stretch>
        </p:blipFill>
        <p:spPr>
          <a:xfrm>
            <a:off x="548640" y="1417320"/>
            <a:ext cx="7132320" cy="3291840"/>
          </a:xfrm>
          <a:prstGeom prst="rect">
            <a:avLst/>
          </a:prstGeom>
        </p:spPr>
      </p:pic>
      <p:sp>
        <p:nvSpPr>
          <p:cNvPr id="5" name="Text 1"/>
          <p:cNvSpPr txBox="1"/>
          <p:nvPr/>
        </p:nvSpPr>
        <p:spPr>
          <a:xfrm>
            <a:off x="8138160" y="1417320"/>
            <a:ext cx="3474720" cy="822960"/>
          </a:xfrm>
          <a:prstGeom prst="rect">
            <a:avLst/>
          </a:prstGeom>
          <a:noFill/>
          <a:ln/>
        </p:spPr>
        <p:txBody>
          <a:bodyPr wrap="square" lIns="0" tIns="0" rIns="0" bIns="0" rtlCol="0" anchor="t"/>
          <a:lstStyle/>
          <a:p>
            <a:pPr indent="0" marL="0">
              <a:buNone/>
            </a:pPr>
            <a:r>
              <a:rPr lang="en-US" sz="5400" b="1" dirty="0">
                <a:solidFill>
                  <a:schemeClr val="accent2"/>
                </a:solidFill>
              </a:rPr>
              <a:t>100%</a:t>
            </a:r>
            <a:endParaRPr lang="en-US" sz="5400" dirty="0"/>
          </a:p>
        </p:txBody>
      </p:sp>
      <p:sp>
        <p:nvSpPr>
          <p:cNvPr id="6" name="Text 2"/>
          <p:cNvSpPr txBox="1"/>
          <p:nvPr/>
        </p:nvSpPr>
        <p:spPr>
          <a:xfrm>
            <a:off x="8138160" y="2240280"/>
            <a:ext cx="3474720" cy="685800"/>
          </a:xfrm>
          <a:prstGeom prst="rect">
            <a:avLst/>
          </a:prstGeom>
          <a:noFill/>
          <a:ln/>
        </p:spPr>
        <p:txBody>
          <a:bodyPr wrap="square" lIns="0" tIns="0" rIns="0" bIns="0" rtlCol="0" anchor="t"/>
          <a:lstStyle/>
          <a:p>
            <a:pPr indent="0" marL="0">
              <a:buNone/>
            </a:pPr>
            <a:r>
              <a:rPr lang="en-US" sz="1500" dirty="0">
                <a:solidFill>
                  <a:schemeClr val="tx1"/>
                </a:solidFill>
              </a:rPr>
              <a:t>do piso limpo pelo robô com mapa, em cerca de 170 passos</a:t>
            </a:r>
            <a:endParaRPr lang="en-US" sz="1500" dirty="0"/>
          </a:p>
        </p:txBody>
      </p:sp>
      <p:sp>
        <p:nvSpPr>
          <p:cNvPr id="7" name="Text 3"/>
          <p:cNvSpPr txBox="1"/>
          <p:nvPr/>
        </p:nvSpPr>
        <p:spPr>
          <a:xfrm>
            <a:off x="8138160" y="3108960"/>
            <a:ext cx="3474720" cy="822960"/>
          </a:xfrm>
          <a:prstGeom prst="rect">
            <a:avLst/>
          </a:prstGeom>
          <a:noFill/>
          <a:ln/>
        </p:spPr>
        <p:txBody>
          <a:bodyPr wrap="square" lIns="0" tIns="0" rIns="0" bIns="0" rtlCol="0" anchor="t"/>
          <a:lstStyle/>
          <a:p>
            <a:pPr indent="0" marL="0">
              <a:buNone/>
            </a:pPr>
            <a:r>
              <a:rPr lang="en-US" sz="5400" b="1" dirty="0">
                <a:solidFill>
                  <a:schemeClr val="accent1"/>
                </a:solidFill>
              </a:rPr>
              <a:t>69%</a:t>
            </a:r>
            <a:endParaRPr lang="en-US" sz="5400" dirty="0"/>
          </a:p>
        </p:txBody>
      </p:sp>
      <p:sp>
        <p:nvSpPr>
          <p:cNvPr id="8" name="Text 4"/>
          <p:cNvSpPr txBox="1"/>
          <p:nvPr/>
        </p:nvSpPr>
        <p:spPr>
          <a:xfrm>
            <a:off x="8138160" y="3931920"/>
            <a:ext cx="3474720" cy="685800"/>
          </a:xfrm>
          <a:prstGeom prst="rect">
            <a:avLst/>
          </a:prstGeom>
          <a:noFill/>
          <a:ln/>
        </p:spPr>
        <p:txBody>
          <a:bodyPr wrap="square" lIns="0" tIns="0" rIns="0" bIns="0" rtlCol="0" anchor="t"/>
          <a:lstStyle/>
          <a:p>
            <a:pPr indent="0" marL="0">
              <a:buNone/>
            </a:pPr>
            <a:r>
              <a:rPr lang="en-US" sz="1500" dirty="0">
                <a:solidFill>
                  <a:schemeClr val="tx1"/>
                </a:solidFill>
              </a:rPr>
              <a:t>média do robô reativo em 400 passos (de 44% a 85%)</a:t>
            </a:r>
            <a:endParaRPr lang="en-US" sz="1500" dirty="0"/>
          </a:p>
        </p:txBody>
      </p:sp>
      <p:sp>
        <p:nvSpPr>
          <p:cNvPr id="9" name="Shape 5"/>
          <p:cNvSpPr/>
          <p:nvPr/>
        </p:nvSpPr>
        <p:spPr>
          <a:xfrm>
            <a:off x="548640" y="5029200"/>
            <a:ext cx="11064240" cy="1005840"/>
          </a:xfrm>
          <a:prstGeom prst="roundRect">
            <a:avLst>
              <a:gd name="adj" fmla="val 7273"/>
            </a:avLst>
          </a:prstGeom>
          <a:solidFill>
            <a:schemeClr val="bg2"/>
          </a:solidFill>
          <a:ln/>
        </p:spPr>
      </p:sp>
      <p:sp>
        <p:nvSpPr>
          <p:cNvPr id="10" name="Shape 6"/>
          <p:cNvSpPr/>
          <p:nvPr/>
        </p:nvSpPr>
        <p:spPr>
          <a:xfrm>
            <a:off x="777240" y="5193792"/>
            <a:ext cx="685800" cy="68580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941832" y="5358384"/>
            <a:ext cx="356616" cy="356616"/>
          </a:xfrm>
          <a:prstGeom prst="rect">
            <a:avLst/>
          </a:prstGeom>
        </p:spPr>
      </p:pic>
      <p:sp>
        <p:nvSpPr>
          <p:cNvPr id="12" name="Text 7"/>
          <p:cNvSpPr txBox="1"/>
          <p:nvPr/>
        </p:nvSpPr>
        <p:spPr>
          <a:xfrm>
            <a:off x="1691640" y="5074920"/>
            <a:ext cx="9692640" cy="914400"/>
          </a:xfrm>
          <a:prstGeom prst="rect">
            <a:avLst/>
          </a:prstGeom>
          <a:noFill/>
          <a:ln/>
        </p:spPr>
        <p:txBody>
          <a:bodyPr wrap="square" lIns="0" tIns="0" rIns="0" bIns="0" rtlCol="0" anchor="ctr"/>
          <a:lstStyle/>
          <a:p>
            <a:pPr indent="0" marL="0">
              <a:buNone/>
            </a:pPr>
            <a:r>
              <a:rPr lang="en-US" sz="1700" dirty="0">
                <a:solidFill>
                  <a:schemeClr val="tx1"/>
                </a:solidFill>
              </a:rPr>
              <a:t>Memória do ambiente melhora muito o desempenho, mas custa sensores melhores, processamento e manutenção do mapa.</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BDI: o entregador de aplicativo</a:t>
            </a:r>
            <a:endParaRPr lang="en-US" sz="3400" dirty="0"/>
          </a:p>
        </p:txBody>
      </p:sp>
      <p:sp>
        <p:nvSpPr>
          <p:cNvPr id="4" name="Shape 1"/>
          <p:cNvSpPr/>
          <p:nvPr/>
        </p:nvSpPr>
        <p:spPr>
          <a:xfrm>
            <a:off x="548640" y="1417320"/>
            <a:ext cx="3566160" cy="2331720"/>
          </a:xfrm>
          <a:prstGeom prst="roundRect">
            <a:avLst>
              <a:gd name="adj" fmla="val 3137"/>
            </a:avLst>
          </a:prstGeom>
          <a:solidFill>
            <a:schemeClr val="bg2"/>
          </a:solidFill>
          <a:ln/>
        </p:spPr>
      </p:sp>
      <p:sp>
        <p:nvSpPr>
          <p:cNvPr id="5" name="Text 2"/>
          <p:cNvSpPr/>
          <p:nvPr/>
        </p:nvSpPr>
        <p:spPr>
          <a:xfrm>
            <a:off x="777240" y="1645920"/>
            <a:ext cx="777240" cy="777240"/>
          </a:xfrm>
          <a:prstGeom prst="ellipse">
            <a:avLst/>
          </a:prstGeom>
          <a:solidFill>
            <a:schemeClr val="accent2"/>
          </a:solidFill>
          <a:ln/>
        </p:spPr>
        <p:txBody>
          <a:bodyPr wrap="square" lIns="0" tIns="0" rIns="0" bIns="0" rtlCol="0" anchor="ctr"/>
          <a:lstStyle/>
          <a:p>
            <a:pPr algn="ctr" indent="0" marL="0">
              <a:buNone/>
            </a:pPr>
            <a:r>
              <a:rPr lang="en-US" sz="2800" b="1" dirty="0">
                <a:solidFill>
                  <a:schemeClr val="bg1"/>
                </a:solidFill>
              </a:rPr>
              <a:t>B</a:t>
            </a:r>
            <a:endParaRPr lang="en-US" sz="2800" dirty="0"/>
          </a:p>
        </p:txBody>
      </p:sp>
      <p:sp>
        <p:nvSpPr>
          <p:cNvPr id="6" name="Text 3"/>
          <p:cNvSpPr txBox="1"/>
          <p:nvPr/>
        </p:nvSpPr>
        <p:spPr>
          <a:xfrm>
            <a:off x="1737360" y="1783080"/>
            <a:ext cx="2194560" cy="502920"/>
          </a:xfrm>
          <a:prstGeom prst="rect">
            <a:avLst/>
          </a:prstGeom>
          <a:noFill/>
          <a:ln/>
        </p:spPr>
        <p:txBody>
          <a:bodyPr wrap="square" lIns="0" tIns="0" rIns="0" bIns="0" rtlCol="0" anchor="t"/>
          <a:lstStyle/>
          <a:p>
            <a:pPr indent="0" marL="0">
              <a:buNone/>
            </a:pPr>
            <a:r>
              <a:rPr lang="en-US" sz="2200" b="1" dirty="0">
                <a:solidFill>
                  <a:schemeClr val="tx2"/>
                </a:solidFill>
              </a:rPr>
              <a:t>Crenças</a:t>
            </a:r>
            <a:endParaRPr lang="en-US" sz="2200" dirty="0"/>
          </a:p>
        </p:txBody>
      </p:sp>
      <p:sp>
        <p:nvSpPr>
          <p:cNvPr id="7" name="Text 4"/>
          <p:cNvSpPr txBox="1"/>
          <p:nvPr/>
        </p:nvSpPr>
        <p:spPr>
          <a:xfrm>
            <a:off x="777240" y="2606040"/>
            <a:ext cx="3108960" cy="1051560"/>
          </a:xfrm>
          <a:prstGeom prst="rect">
            <a:avLst/>
          </a:prstGeom>
          <a:noFill/>
          <a:ln/>
        </p:spPr>
        <p:txBody>
          <a:bodyPr wrap="square" lIns="0" tIns="0" rIns="0" bIns="0" rtlCol="0" anchor="t"/>
          <a:lstStyle/>
          <a:p>
            <a:pPr indent="0" marL="0">
              <a:buNone/>
            </a:pPr>
            <a:r>
              <a:rPr lang="en-US" sz="1500" dirty="0">
                <a:solidFill>
                  <a:schemeClr val="tx1"/>
                </a:solidFill>
              </a:rPr>
              <a:t>O que ele acha que sabe: os pedidos abertos. Podem estar desatualizadas.</a:t>
            </a:r>
            <a:endParaRPr lang="en-US" sz="1500" dirty="0"/>
          </a:p>
        </p:txBody>
      </p:sp>
      <p:sp>
        <p:nvSpPr>
          <p:cNvPr id="8" name="Shape 5"/>
          <p:cNvSpPr/>
          <p:nvPr/>
        </p:nvSpPr>
        <p:spPr>
          <a:xfrm>
            <a:off x="4297680" y="1417320"/>
            <a:ext cx="3566160" cy="2331720"/>
          </a:xfrm>
          <a:prstGeom prst="roundRect">
            <a:avLst>
              <a:gd name="adj" fmla="val 3137"/>
            </a:avLst>
          </a:prstGeom>
          <a:solidFill>
            <a:schemeClr val="bg2"/>
          </a:solidFill>
          <a:ln/>
        </p:spPr>
      </p:sp>
      <p:sp>
        <p:nvSpPr>
          <p:cNvPr id="9" name="Text 6"/>
          <p:cNvSpPr/>
          <p:nvPr/>
        </p:nvSpPr>
        <p:spPr>
          <a:xfrm>
            <a:off x="4526280" y="1645920"/>
            <a:ext cx="777240" cy="777240"/>
          </a:xfrm>
          <a:prstGeom prst="ellipse">
            <a:avLst/>
          </a:prstGeom>
          <a:solidFill>
            <a:schemeClr val="accent4"/>
          </a:solidFill>
          <a:ln/>
        </p:spPr>
        <p:txBody>
          <a:bodyPr wrap="square" lIns="0" tIns="0" rIns="0" bIns="0" rtlCol="0" anchor="ctr"/>
          <a:lstStyle/>
          <a:p>
            <a:pPr algn="ctr" indent="0" marL="0">
              <a:buNone/>
            </a:pPr>
            <a:r>
              <a:rPr lang="en-US" sz="2800" b="1" dirty="0">
                <a:solidFill>
                  <a:schemeClr val="bg1"/>
                </a:solidFill>
              </a:rPr>
              <a:t>D</a:t>
            </a:r>
            <a:endParaRPr lang="en-US" sz="2800" dirty="0"/>
          </a:p>
        </p:txBody>
      </p:sp>
      <p:sp>
        <p:nvSpPr>
          <p:cNvPr id="10" name="Text 7"/>
          <p:cNvSpPr txBox="1"/>
          <p:nvPr/>
        </p:nvSpPr>
        <p:spPr>
          <a:xfrm>
            <a:off x="5486400" y="1783080"/>
            <a:ext cx="2194560" cy="502920"/>
          </a:xfrm>
          <a:prstGeom prst="rect">
            <a:avLst/>
          </a:prstGeom>
          <a:noFill/>
          <a:ln/>
        </p:spPr>
        <p:txBody>
          <a:bodyPr wrap="square" lIns="0" tIns="0" rIns="0" bIns="0" rtlCol="0" anchor="t"/>
          <a:lstStyle/>
          <a:p>
            <a:pPr indent="0" marL="0">
              <a:buNone/>
            </a:pPr>
            <a:r>
              <a:rPr lang="en-US" sz="2200" b="1" dirty="0">
                <a:solidFill>
                  <a:schemeClr val="tx2"/>
                </a:solidFill>
              </a:rPr>
              <a:t>Desejos</a:t>
            </a:r>
            <a:endParaRPr lang="en-US" sz="2200" dirty="0"/>
          </a:p>
        </p:txBody>
      </p:sp>
      <p:sp>
        <p:nvSpPr>
          <p:cNvPr id="11" name="Text 8"/>
          <p:cNvSpPr txBox="1"/>
          <p:nvPr/>
        </p:nvSpPr>
        <p:spPr>
          <a:xfrm>
            <a:off x="4526280" y="2606040"/>
            <a:ext cx="3108960" cy="1051560"/>
          </a:xfrm>
          <a:prstGeom prst="rect">
            <a:avLst/>
          </a:prstGeom>
          <a:noFill/>
          <a:ln/>
        </p:spPr>
        <p:txBody>
          <a:bodyPr wrap="square" lIns="0" tIns="0" rIns="0" bIns="0" rtlCol="0" anchor="t"/>
          <a:lstStyle/>
          <a:p>
            <a:pPr indent="0" marL="0">
              <a:buNone/>
            </a:pPr>
            <a:r>
              <a:rPr lang="en-US" sz="1500" dirty="0">
                <a:solidFill>
                  <a:schemeClr val="tx1"/>
                </a:solidFill>
              </a:rPr>
              <a:t>Todos os pedidos que gostaria de entregar, do mais perto ao mais longe.</a:t>
            </a:r>
            <a:endParaRPr lang="en-US" sz="1500" dirty="0"/>
          </a:p>
        </p:txBody>
      </p:sp>
      <p:sp>
        <p:nvSpPr>
          <p:cNvPr id="12" name="Shape 9"/>
          <p:cNvSpPr/>
          <p:nvPr/>
        </p:nvSpPr>
        <p:spPr>
          <a:xfrm>
            <a:off x="8046720" y="1417320"/>
            <a:ext cx="3566160" cy="2331720"/>
          </a:xfrm>
          <a:prstGeom prst="roundRect">
            <a:avLst>
              <a:gd name="adj" fmla="val 3137"/>
            </a:avLst>
          </a:prstGeom>
          <a:solidFill>
            <a:schemeClr val="bg2"/>
          </a:solidFill>
          <a:ln/>
        </p:spPr>
      </p:sp>
      <p:sp>
        <p:nvSpPr>
          <p:cNvPr id="13" name="Text 10"/>
          <p:cNvSpPr/>
          <p:nvPr/>
        </p:nvSpPr>
        <p:spPr>
          <a:xfrm>
            <a:off x="8275320" y="1645920"/>
            <a:ext cx="777240" cy="77724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bg1"/>
                </a:solidFill>
              </a:rPr>
              <a:t>I</a:t>
            </a:r>
            <a:endParaRPr lang="en-US" sz="2800" dirty="0"/>
          </a:p>
        </p:txBody>
      </p:sp>
      <p:sp>
        <p:nvSpPr>
          <p:cNvPr id="14" name="Text 11"/>
          <p:cNvSpPr txBox="1"/>
          <p:nvPr/>
        </p:nvSpPr>
        <p:spPr>
          <a:xfrm>
            <a:off x="9235440" y="1783080"/>
            <a:ext cx="2194560" cy="502920"/>
          </a:xfrm>
          <a:prstGeom prst="rect">
            <a:avLst/>
          </a:prstGeom>
          <a:noFill/>
          <a:ln/>
        </p:spPr>
        <p:txBody>
          <a:bodyPr wrap="square" lIns="0" tIns="0" rIns="0" bIns="0" rtlCol="0" anchor="t"/>
          <a:lstStyle/>
          <a:p>
            <a:pPr indent="0" marL="0">
              <a:buNone/>
            </a:pPr>
            <a:r>
              <a:rPr lang="en-US" sz="2200" b="1" dirty="0">
                <a:solidFill>
                  <a:schemeClr val="tx2"/>
                </a:solidFill>
              </a:rPr>
              <a:t>Intenção</a:t>
            </a:r>
            <a:endParaRPr lang="en-US" sz="2200" dirty="0"/>
          </a:p>
        </p:txBody>
      </p:sp>
      <p:sp>
        <p:nvSpPr>
          <p:cNvPr id="15" name="Text 12"/>
          <p:cNvSpPr txBox="1"/>
          <p:nvPr/>
        </p:nvSpPr>
        <p:spPr>
          <a:xfrm>
            <a:off x="8275320" y="2606040"/>
            <a:ext cx="3108960" cy="1051560"/>
          </a:xfrm>
          <a:prstGeom prst="rect">
            <a:avLst/>
          </a:prstGeom>
          <a:noFill/>
          <a:ln/>
        </p:spPr>
        <p:txBody>
          <a:bodyPr wrap="square" lIns="0" tIns="0" rIns="0" bIns="0" rtlCol="0" anchor="t"/>
          <a:lstStyle/>
          <a:p>
            <a:pPr indent="0" marL="0">
              <a:buNone/>
            </a:pPr>
            <a:r>
              <a:rPr lang="en-US" sz="1500" dirty="0">
                <a:solidFill>
                  <a:schemeClr val="tx1"/>
                </a:solidFill>
              </a:rPr>
              <a:t>O pedido com que se comprometeu agora. Não reavalia tudo a cada passo.</a:t>
            </a:r>
            <a:endParaRPr lang="en-US" sz="1500" dirty="0"/>
          </a:p>
        </p:txBody>
      </p:sp>
      <p:sp>
        <p:nvSpPr>
          <p:cNvPr id="16" name="Shape 13"/>
          <p:cNvSpPr/>
          <p:nvPr/>
        </p:nvSpPr>
        <p:spPr>
          <a:xfrm>
            <a:off x="548640" y="3977640"/>
            <a:ext cx="6949440" cy="2057400"/>
          </a:xfrm>
          <a:prstGeom prst="roundRect">
            <a:avLst>
              <a:gd name="adj" fmla="val 3556"/>
            </a:avLst>
          </a:prstGeom>
          <a:solidFill>
            <a:schemeClr val="tx2"/>
          </a:solidFill>
          <a:ln/>
        </p:spPr>
      </p:sp>
      <p:sp>
        <p:nvSpPr>
          <p:cNvPr id="17" name="Text 14"/>
          <p:cNvSpPr txBox="1"/>
          <p:nvPr/>
        </p:nvSpPr>
        <p:spPr>
          <a:xfrm>
            <a:off x="777240" y="4114800"/>
            <a:ext cx="6583680" cy="1783080"/>
          </a:xfrm>
          <a:prstGeom prst="rect">
            <a:avLst/>
          </a:prstGeom>
          <a:noFill/>
          <a:ln/>
        </p:spPr>
        <p:txBody>
          <a:bodyPr wrap="square" lIns="0" tIns="0" rIns="0" bIns="0" rtlCol="0" anchor="ctr"/>
          <a:lstStyle/>
          <a:p>
            <a:pPr indent="0" marL="0">
              <a:lnSpc>
                <a:spcPct val="115000"/>
              </a:lnSpc>
              <a:buNone/>
            </a:pPr>
            <a:r>
              <a:rPr lang="en-US" sz="1500" dirty="0">
                <a:solidFill>
                  <a:schemeClr val="bg1"/>
                </a:solidFill>
                <a:latin typeface="Courier New" pitchFamily="34" charset="0"/>
                <a:ea typeface="Courier New" pitchFamily="34" charset="-122"/>
                <a:cs typeface="Courier New" pitchFamily="34" charset="-120"/>
              </a:rPr>
              <a:t>pos=(11,13)  intenção: (13,10)</a:t>
            </a:r>
            <a:endParaRPr lang="en-US" sz="1500" dirty="0"/>
          </a:p>
          <a:p>
            <a:pPr indent="0" marL="0">
              <a:lnSpc>
                <a:spcPct val="115000"/>
              </a:lnSpc>
              <a:buNone/>
            </a:pPr>
            <a:r>
              <a:rPr lang="en-US" sz="1500" dirty="0">
                <a:solidFill>
                  <a:schemeClr val="accent3"/>
                </a:solidFill>
                <a:latin typeface="Courier New" pitchFamily="34" charset="0"/>
                <a:ea typeface="Courier New" pitchFamily="34" charset="-122"/>
                <a:cs typeface="Courier New" pitchFamily="34" charset="-120"/>
              </a:rPr>
              <a:t>app avisou: pedido em (13,10) cancelado</a:t>
            </a:r>
            <a:endParaRPr lang="en-US" sz="1500" dirty="0"/>
          </a:p>
          <a:p>
            <a:pPr indent="0" marL="0">
              <a:lnSpc>
                <a:spcPct val="115000"/>
              </a:lnSpc>
              <a:buNone/>
            </a:pPr>
            <a:r>
              <a:rPr lang="en-US" sz="1500" dirty="0">
                <a:solidFill>
                  <a:schemeClr val="bg1"/>
                </a:solidFill>
                <a:latin typeface="Courier New" pitchFamily="34" charset="0"/>
                <a:ea typeface="Courier New" pitchFamily="34" charset="-122"/>
                <a:cs typeface="Courier New" pitchFamily="34" charset="-120"/>
              </a:rPr>
              <a:t>pos=(12,13)  nova intenção: (3,11)</a:t>
            </a:r>
            <a:endParaRPr lang="en-US" sz="1500" dirty="0"/>
          </a:p>
          <a:p>
            <a:pPr indent="0" marL="0">
              <a:lnSpc>
                <a:spcPct val="115000"/>
              </a:lnSpc>
              <a:buNone/>
            </a:pPr>
            <a:r>
              <a:rPr lang="en-US" sz="1500" dirty="0">
                <a:solidFill>
                  <a:schemeClr val="accent2"/>
                </a:solidFill>
                <a:latin typeface="Courier New" pitchFamily="34" charset="0"/>
                <a:ea typeface="Courier New" pitchFamily="34" charset="-122"/>
                <a:cs typeface="Courier New" pitchFamily="34" charset="-120"/>
              </a:rPr>
              <a:t>  entregou em (3,11)</a:t>
            </a:r>
            <a:endParaRPr lang="en-US" sz="1500" dirty="0"/>
          </a:p>
        </p:txBody>
      </p:sp>
      <p:sp>
        <p:nvSpPr>
          <p:cNvPr id="18" name="Shape 15"/>
          <p:cNvSpPr/>
          <p:nvPr/>
        </p:nvSpPr>
        <p:spPr>
          <a:xfrm>
            <a:off x="7772400" y="3977640"/>
            <a:ext cx="3840480" cy="2057400"/>
          </a:xfrm>
          <a:prstGeom prst="roundRect">
            <a:avLst>
              <a:gd name="adj" fmla="val 3556"/>
            </a:avLst>
          </a:prstGeom>
          <a:solidFill>
            <a:schemeClr val="bg2"/>
          </a:solidFill>
          <a:ln/>
        </p:spPr>
      </p:sp>
      <p:sp>
        <p:nvSpPr>
          <p:cNvPr id="19" name="Text 16"/>
          <p:cNvSpPr txBox="1"/>
          <p:nvPr/>
        </p:nvSpPr>
        <p:spPr>
          <a:xfrm>
            <a:off x="8001000" y="4114800"/>
            <a:ext cx="3429000" cy="1783080"/>
          </a:xfrm>
          <a:prstGeom prst="rect">
            <a:avLst/>
          </a:prstGeom>
          <a:noFill/>
          <a:ln/>
        </p:spPr>
        <p:txBody>
          <a:bodyPr wrap="square" lIns="0" tIns="0" rIns="0" bIns="0" rtlCol="0" anchor="t"/>
          <a:lstStyle/>
          <a:p>
            <a:pPr indent="0" marL="0">
              <a:buNone/>
            </a:pPr>
            <a:r>
              <a:rPr lang="en-US" sz="1700" b="1" dirty="0">
                <a:solidFill>
                  <a:schemeClr val="tx2"/>
                </a:solidFill>
              </a:rPr>
              <a:t>Intenções são compromissos</a:t>
            </a:r>
            <a:endParaRPr lang="en-US" sz="1600" dirty="0"/>
          </a:p>
          <a:p>
            <a:pPr indent="0" marL="0">
              <a:buNone/>
            </a:pPr>
            <a:r>
              <a:rPr lang="en-US" sz="1300" i="1" dirty="0">
                <a:solidFill>
                  <a:schemeClr val="accent6"/>
                </a:solidFill>
              </a:rPr>
              <a:t>Bratman (1987); Rao e Georgeff (1991)</a:t>
            </a:r>
            <a:endParaRPr lang="en-US" sz="1600" dirty="0"/>
          </a:p>
          <a:p>
            <a:pPr indent="0" marL="0">
              <a:buNone/>
            </a:pPr>
            <a:r>
              <a:rPr lang="en-US" sz="600" dirty="0">
                <a:solidFill>
                  <a:schemeClr val="tx1"/>
                </a:solidFill>
              </a:rPr>
              <a:t> </a:t>
            </a:r>
            <a:endParaRPr lang="en-US" sz="1600" dirty="0"/>
          </a:p>
          <a:p>
            <a:pPr indent="0" marL="0">
              <a:buNone/>
            </a:pPr>
            <a:r>
              <a:rPr lang="en-US" sz="1500" dirty="0">
                <a:solidFill>
                  <a:schemeClr val="tx1"/>
                </a:solidFill>
              </a:rPr>
              <a:t>60 passos: 8 entregas, 0 viagens perdidas, 12 deliberações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Quando reconsiderar um plano?</a:t>
            </a:r>
            <a:endParaRPr lang="en-US" sz="3400" dirty="0"/>
          </a:p>
        </p:txBody>
      </p:sp>
      <p:graphicFrame>
        <p:nvGraphicFramePr>
          <p:cNvPr id="4" name="Chart 0" descr=""/>
          <p:cNvGraphicFramePr/>
          <p:nvPr/>
        </p:nvGraphicFramePr>
        <p:xfrm>
          <a:off x="548640" y="1371600"/>
          <a:ext cx="539496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394960" cy="342900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4983480"/>
            <a:ext cx="5394960" cy="1097280"/>
          </a:xfrm>
          <a:prstGeom prst="roundRect">
            <a:avLst>
              <a:gd name="adj" fmla="val 6667"/>
            </a:avLst>
          </a:prstGeom>
          <a:solidFill>
            <a:schemeClr val="bg2"/>
          </a:solidFill>
          <a:ln/>
        </p:spPr>
      </p:sp>
      <p:sp>
        <p:nvSpPr>
          <p:cNvPr id="7" name="Text 2"/>
          <p:cNvSpPr txBox="1"/>
          <p:nvPr/>
        </p:nvSpPr>
        <p:spPr>
          <a:xfrm>
            <a:off x="777240" y="5029200"/>
            <a:ext cx="4937760" cy="1005840"/>
          </a:xfrm>
          <a:prstGeom prst="rect">
            <a:avLst/>
          </a:prstGeom>
          <a:noFill/>
          <a:ln/>
        </p:spPr>
        <p:txBody>
          <a:bodyPr wrap="square" lIns="0" tIns="0" rIns="0" bIns="0" rtlCol="0" anchor="ctr"/>
          <a:lstStyle/>
          <a:p>
            <a:pPr indent="0" marL="0">
              <a:buNone/>
            </a:pPr>
            <a:r>
              <a:rPr lang="en-US" sz="1500" b="1" dirty="0">
                <a:solidFill>
                  <a:schemeClr val="accent4"/>
                </a:solidFill>
              </a:rPr>
              <a:t>Pensar de graça: </a:t>
            </a:r>
            <a:pPr indent="0" marL="0">
              <a:buNone/>
            </a:pPr>
            <a:r>
              <a:rPr lang="en-US" sz="1500" dirty="0">
                <a:solidFill>
                  <a:schemeClr val="tx1"/>
                </a:solidFill>
              </a:rPr>
              <a:t>o cauteloso vence quando o mundo muda rápido (γ = 4: 44% × 35% do ousado).</a:t>
            </a:r>
            <a:endParaRPr lang="en-US" sz="1500" dirty="0"/>
          </a:p>
        </p:txBody>
      </p:sp>
      <p:sp>
        <p:nvSpPr>
          <p:cNvPr id="8" name="Shape 3"/>
          <p:cNvSpPr/>
          <p:nvPr/>
        </p:nvSpPr>
        <p:spPr>
          <a:xfrm>
            <a:off x="6217920" y="4983480"/>
            <a:ext cx="5394960" cy="1097280"/>
          </a:xfrm>
          <a:prstGeom prst="roundRect">
            <a:avLst>
              <a:gd name="adj" fmla="val 6667"/>
            </a:avLst>
          </a:prstGeom>
          <a:solidFill>
            <a:schemeClr val="bg2"/>
          </a:solidFill>
          <a:ln/>
        </p:spPr>
      </p:sp>
      <p:sp>
        <p:nvSpPr>
          <p:cNvPr id="9" name="Text 4"/>
          <p:cNvSpPr txBox="1"/>
          <p:nvPr/>
        </p:nvSpPr>
        <p:spPr>
          <a:xfrm>
            <a:off x="6446520" y="5029200"/>
            <a:ext cx="4937760" cy="1005840"/>
          </a:xfrm>
          <a:prstGeom prst="rect">
            <a:avLst/>
          </a:prstGeom>
          <a:noFill/>
          <a:ln/>
        </p:spPr>
        <p:txBody>
          <a:bodyPr wrap="square" lIns="0" tIns="0" rIns="0" bIns="0" rtlCol="0" anchor="ctr"/>
          <a:lstStyle/>
          <a:p>
            <a:pPr indent="0" marL="0">
              <a:buNone/>
            </a:pPr>
            <a:r>
              <a:rPr lang="en-US" sz="1500" b="1" dirty="0">
                <a:solidFill>
                  <a:schemeClr val="accent2"/>
                </a:solidFill>
              </a:rPr>
              <a:t>Pensar custa: </a:t>
            </a:r>
            <a:pPr indent="0" marL="0">
              <a:buNone/>
            </a:pPr>
            <a:r>
              <a:rPr lang="en-US" sz="1500" dirty="0">
                <a:solidFill>
                  <a:schemeClr val="tx1"/>
                </a:solidFill>
              </a:rPr>
              <a:t>reconsiderar por evento vence em todos os cenários. É o push × o polling.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03</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Comunicação entre agentes</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Atos de fala, FIPA ACL, JSON, MCP e A2A · Notebook, Seção 3</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Falar é agir: atos de fala</a:t>
            </a:r>
            <a:endParaRPr lang="en-US" sz="3400" dirty="0"/>
          </a:p>
        </p:txBody>
      </p:sp>
      <p:sp>
        <p:nvSpPr>
          <p:cNvPr id="4" name="Text 1"/>
          <p:cNvSpPr/>
          <p:nvPr/>
        </p:nvSpPr>
        <p:spPr>
          <a:xfrm>
            <a:off x="548640" y="2926080"/>
            <a:ext cx="3108960" cy="1097280"/>
          </a:xfrm>
          <a:prstGeom prst="roundRect">
            <a:avLst>
              <a:gd name="adj" fmla="val 6667"/>
            </a:avLst>
          </a:prstGeom>
          <a:solidFill>
            <a:schemeClr val="tx2"/>
          </a:solidFill>
          <a:ln/>
        </p:spPr>
        <p:txBody>
          <a:bodyPr wrap="square" rtlCol="0" anchor="ctr"/>
          <a:lstStyle/>
          <a:p>
            <a:pPr algn="ctr" indent="0" marL="0">
              <a:buNone/>
            </a:pPr>
            <a:r>
              <a:rPr lang="en-US" sz="1800" b="1" dirty="0">
                <a:solidFill>
                  <a:schemeClr val="bg1"/>
                </a:solidFill>
              </a:rPr>
              <a:t>entregar o pedido P-4821</a:t>
            </a:r>
            <a:endParaRPr lang="en-US" sz="1800" dirty="0"/>
          </a:p>
        </p:txBody>
      </p:sp>
      <p:sp>
        <p:nvSpPr>
          <p:cNvPr id="5" name="Text 2"/>
          <p:cNvSpPr txBox="1"/>
          <p:nvPr/>
        </p:nvSpPr>
        <p:spPr>
          <a:xfrm>
            <a:off x="548640" y="4114800"/>
            <a:ext cx="3108960" cy="320040"/>
          </a:xfrm>
          <a:prstGeom prst="rect">
            <a:avLst/>
          </a:prstGeom>
          <a:noFill/>
          <a:ln/>
        </p:spPr>
        <p:txBody>
          <a:bodyPr wrap="square" lIns="0" tIns="0" rIns="0" bIns="0" rtlCol="0" anchor="t"/>
          <a:lstStyle/>
          <a:p>
            <a:pPr algn="ctr" indent="0" marL="0">
              <a:buNone/>
            </a:pPr>
            <a:r>
              <a:rPr lang="en-US" sz="1300" i="1" dirty="0">
                <a:solidFill>
                  <a:schemeClr val="accent6"/>
                </a:solidFill>
              </a:rPr>
              <a:t>conteúdo</a:t>
            </a:r>
            <a:endParaRPr lang="en-US" sz="1300" dirty="0"/>
          </a:p>
        </p:txBody>
      </p:sp>
      <p:sp>
        <p:nvSpPr>
          <p:cNvPr id="6" name="Shape 3"/>
          <p:cNvSpPr/>
          <p:nvPr/>
        </p:nvSpPr>
        <p:spPr>
          <a:xfrm>
            <a:off x="4572000" y="1463040"/>
            <a:ext cx="3108960" cy="1143000"/>
          </a:xfrm>
          <a:prstGeom prst="roundRect">
            <a:avLst>
              <a:gd name="adj" fmla="val 6400"/>
            </a:avLst>
          </a:prstGeom>
          <a:solidFill>
            <a:schemeClr val="accent1"/>
          </a:solidFill>
          <a:ln/>
        </p:spPr>
      </p:sp>
      <p:sp>
        <p:nvSpPr>
          <p:cNvPr id="7" name="Text 4"/>
          <p:cNvSpPr txBox="1"/>
          <p:nvPr/>
        </p:nvSpPr>
        <p:spPr>
          <a:xfrm>
            <a:off x="4754880" y="1463040"/>
            <a:ext cx="2743200" cy="114300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REQUEST</a:t>
            </a:r>
            <a:endParaRPr lang="en-US" sz="1600" dirty="0"/>
          </a:p>
          <a:p>
            <a:pPr indent="0" marL="0">
              <a:buNone/>
            </a:pPr>
            <a:r>
              <a:rPr lang="en-US" sz="1500" dirty="0">
                <a:solidFill>
                  <a:schemeClr val="bg1"/>
                </a:solidFill>
              </a:rPr>
              <a:t>um pedido: “entregue o P-4821”</a:t>
            </a:r>
            <a:endParaRPr lang="en-US" sz="1600" dirty="0"/>
          </a:p>
        </p:txBody>
      </p:sp>
      <p:sp>
        <p:nvSpPr>
          <p:cNvPr id="8" name="Shape 5"/>
          <p:cNvSpPr/>
          <p:nvPr/>
        </p:nvSpPr>
        <p:spPr>
          <a:xfrm flipV="1">
            <a:off x="3703320" y="2034540"/>
            <a:ext cx="822960" cy="1440180"/>
          </a:xfrm>
          <a:prstGeom prst="line">
            <a:avLst/>
          </a:prstGeom>
          <a:noFill/>
          <a:ln w="22225">
            <a:solidFill>
              <a:schemeClr val="accent6"/>
            </a:solidFill>
            <a:prstDash val="solid"/>
            <a:tailEnd type="triangle"/>
          </a:ln>
        </p:spPr>
      </p:sp>
      <p:sp>
        <p:nvSpPr>
          <p:cNvPr id="9" name="Shape 6"/>
          <p:cNvSpPr/>
          <p:nvPr/>
        </p:nvSpPr>
        <p:spPr>
          <a:xfrm>
            <a:off x="4572000" y="2926080"/>
            <a:ext cx="3108960" cy="1143000"/>
          </a:xfrm>
          <a:prstGeom prst="roundRect">
            <a:avLst>
              <a:gd name="adj" fmla="val 6400"/>
            </a:avLst>
          </a:prstGeom>
          <a:solidFill>
            <a:schemeClr val="accent2"/>
          </a:solidFill>
          <a:ln/>
        </p:spPr>
      </p:sp>
      <p:sp>
        <p:nvSpPr>
          <p:cNvPr id="10" name="Text 7"/>
          <p:cNvSpPr txBox="1"/>
          <p:nvPr/>
        </p:nvSpPr>
        <p:spPr>
          <a:xfrm>
            <a:off x="4754880" y="2926080"/>
            <a:ext cx="2743200" cy="114300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AGREE</a:t>
            </a:r>
            <a:endParaRPr lang="en-US" sz="1600" dirty="0"/>
          </a:p>
          <a:p>
            <a:pPr indent="0" marL="0">
              <a:buNone/>
            </a:pPr>
            <a:r>
              <a:rPr lang="en-US" sz="1500" dirty="0">
                <a:solidFill>
                  <a:schemeClr val="bg1"/>
                </a:solidFill>
              </a:rPr>
              <a:t>uma promessa: “vou entregar”</a:t>
            </a:r>
            <a:endParaRPr lang="en-US" sz="1600" dirty="0"/>
          </a:p>
        </p:txBody>
      </p:sp>
      <p:sp>
        <p:nvSpPr>
          <p:cNvPr id="11" name="Shape 8"/>
          <p:cNvSpPr/>
          <p:nvPr/>
        </p:nvSpPr>
        <p:spPr>
          <a:xfrm>
            <a:off x="3703320" y="3474720"/>
            <a:ext cx="822960" cy="22860"/>
          </a:xfrm>
          <a:prstGeom prst="line">
            <a:avLst/>
          </a:prstGeom>
          <a:noFill/>
          <a:ln w="22225">
            <a:solidFill>
              <a:schemeClr val="accent6"/>
            </a:solidFill>
            <a:prstDash val="solid"/>
            <a:tailEnd type="triangle"/>
          </a:ln>
        </p:spPr>
      </p:sp>
      <p:sp>
        <p:nvSpPr>
          <p:cNvPr id="12" name="Shape 9"/>
          <p:cNvSpPr/>
          <p:nvPr/>
        </p:nvSpPr>
        <p:spPr>
          <a:xfrm>
            <a:off x="4572000" y="4389120"/>
            <a:ext cx="3108960" cy="1143000"/>
          </a:xfrm>
          <a:prstGeom prst="roundRect">
            <a:avLst>
              <a:gd name="adj" fmla="val 6400"/>
            </a:avLst>
          </a:prstGeom>
          <a:solidFill>
            <a:schemeClr val="accent4"/>
          </a:solidFill>
          <a:ln/>
        </p:spPr>
      </p:sp>
      <p:sp>
        <p:nvSpPr>
          <p:cNvPr id="13" name="Text 10"/>
          <p:cNvSpPr txBox="1"/>
          <p:nvPr/>
        </p:nvSpPr>
        <p:spPr>
          <a:xfrm>
            <a:off x="4754880" y="4389120"/>
            <a:ext cx="2743200" cy="114300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INFORM</a:t>
            </a:r>
            <a:endParaRPr lang="en-US" sz="1600" dirty="0"/>
          </a:p>
          <a:p>
            <a:pPr indent="0" marL="0">
              <a:buNone/>
            </a:pPr>
            <a:r>
              <a:rPr lang="en-US" sz="1500" dirty="0">
                <a:solidFill>
                  <a:schemeClr val="bg1"/>
                </a:solidFill>
              </a:rPr>
              <a:t>um relato: “já entreguei”</a:t>
            </a:r>
            <a:endParaRPr lang="en-US" sz="1600" dirty="0"/>
          </a:p>
        </p:txBody>
      </p:sp>
      <p:sp>
        <p:nvSpPr>
          <p:cNvPr id="14" name="Shape 11"/>
          <p:cNvSpPr/>
          <p:nvPr/>
        </p:nvSpPr>
        <p:spPr>
          <a:xfrm>
            <a:off x="3703320" y="3474720"/>
            <a:ext cx="822960" cy="1485900"/>
          </a:xfrm>
          <a:prstGeom prst="line">
            <a:avLst/>
          </a:prstGeom>
          <a:noFill/>
          <a:ln w="22225">
            <a:solidFill>
              <a:schemeClr val="accent6"/>
            </a:solidFill>
            <a:prstDash val="solid"/>
            <a:tailEnd type="triangle"/>
          </a:ln>
        </p:spPr>
      </p:sp>
      <p:sp>
        <p:nvSpPr>
          <p:cNvPr id="15" name="Text 12"/>
          <p:cNvSpPr txBox="1"/>
          <p:nvPr/>
        </p:nvSpPr>
        <p:spPr>
          <a:xfrm>
            <a:off x="8138160" y="1463040"/>
            <a:ext cx="3474720" cy="420624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tx1"/>
                </a:solidFill>
              </a:rPr>
              <a:t>Austin (1962): </a:t>
            </a:r>
            <a:pPr indent="0" marL="0">
              <a:buNone/>
            </a:pPr>
            <a:r>
              <a:rPr lang="en-US" sz="1500" dirty="0">
                <a:solidFill>
                  <a:schemeClr val="tx1"/>
                </a:solidFill>
              </a:rPr>
              <a:t>algumas frases não descrevem o mundo, mudam o mundo: prometer, aceitar, declarar.</a:t>
            </a:r>
            <a:endParaRPr lang="en-US" sz="1500" dirty="0"/>
          </a:p>
          <a:p>
            <a:pPr marL="342900" indent="-342900">
              <a:spcAft>
                <a:spcPts val="1000"/>
              </a:spcAft>
              <a:buSzPct val="100000"/>
              <a:buChar char="•"/>
            </a:pPr>
            <a:r>
              <a:rPr lang="en-US" sz="1500" b="1" dirty="0">
                <a:solidFill>
                  <a:schemeClr val="tx1"/>
                </a:solidFill>
              </a:rPr>
              <a:t>Searle (1969) </a:t>
            </a:r>
            <a:pPr indent="0" marL="0">
              <a:buNone/>
            </a:pPr>
            <a:r>
              <a:rPr lang="en-US" sz="1500" dirty="0">
                <a:solidFill>
                  <a:schemeClr val="tx1"/>
                </a:solidFill>
              </a:rPr>
              <a:t>classificou os atos de fala.</a:t>
            </a:r>
            <a:endParaRPr lang="en-US" sz="1500" dirty="0"/>
          </a:p>
          <a:p>
            <a:pPr marL="342900" indent="-342900">
              <a:spcAft>
                <a:spcPts val="1000"/>
              </a:spcAft>
              <a:buSzPct val="100000"/>
              <a:buChar char="•"/>
            </a:pPr>
            <a:r>
              <a:rPr lang="en-US" sz="1500" b="1" dirty="0">
                <a:solidFill>
                  <a:schemeClr val="tx1"/>
                </a:solidFill>
              </a:rPr>
              <a:t>Mensagem = </a:t>
            </a:r>
            <a:pPr indent="0" marL="0">
              <a:buNone/>
            </a:pPr>
            <a:r>
              <a:rPr lang="en-US" sz="1500" dirty="0">
                <a:solidFill>
                  <a:schemeClr val="tx1"/>
                </a:solidFill>
              </a:rPr>
              <a:t>performativa (a intenção) + conteúdo (sobre o quê).</a:t>
            </a:r>
            <a:endParaRPr lang="en-US" sz="1500" dirty="0"/>
          </a:p>
          <a:p>
            <a:pPr marL="342900" indent="-342900">
              <a:spcAft>
                <a:spcPts val="1000"/>
              </a:spcAft>
              <a:buSzPct val="100000"/>
              <a:buChar char="•"/>
            </a:pPr>
            <a:r>
              <a:rPr lang="en-US" sz="1500" b="1" dirty="0">
                <a:solidFill>
                  <a:schemeClr val="tx1"/>
                </a:solidFill>
              </a:rPr>
              <a:t>KQML (1994) → FIPA ACL (2002), </a:t>
            </a:r>
            <a:pPr indent="0" marL="0">
              <a:buNone/>
            </a:pPr>
            <a:r>
              <a:rPr lang="en-US" sz="1500" dirty="0">
                <a:solidFill>
                  <a:schemeClr val="tx1"/>
                </a:solidFill>
              </a:rPr>
              <a:t>com 22 atos comunicativos.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 mesma conversa em FIPA ACL e em JSON</a:t>
            </a:r>
            <a:endParaRPr lang="en-US" sz="3400" dirty="0"/>
          </a:p>
        </p:txBody>
      </p:sp>
      <p:sp>
        <p:nvSpPr>
          <p:cNvPr id="4"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600" b="1" dirty="0">
                <a:solidFill>
                  <a:schemeClr val="tx2"/>
                </a:solidFill>
              </a:rPr>
              <a:t>FIPA ACL (padrão de 2002)</a:t>
            </a:r>
            <a:endParaRPr lang="en-US" sz="1600" dirty="0"/>
          </a:p>
        </p:txBody>
      </p:sp>
      <p:sp>
        <p:nvSpPr>
          <p:cNvPr id="5" name="Shape 2"/>
          <p:cNvSpPr/>
          <p:nvPr/>
        </p:nvSpPr>
        <p:spPr>
          <a:xfrm>
            <a:off x="548640" y="1783080"/>
            <a:ext cx="5394960" cy="3246120"/>
          </a:xfrm>
          <a:prstGeom prst="roundRect">
            <a:avLst>
              <a:gd name="adj" fmla="val 2254"/>
            </a:avLst>
          </a:prstGeom>
          <a:solidFill>
            <a:schemeClr val="tx2"/>
          </a:solidFill>
          <a:ln/>
        </p:spPr>
      </p:sp>
      <p:sp>
        <p:nvSpPr>
          <p:cNvPr id="6" name="Text 3"/>
          <p:cNvSpPr txBox="1"/>
          <p:nvPr/>
        </p:nvSpPr>
        <p:spPr>
          <a:xfrm>
            <a:off x="822960" y="1874520"/>
            <a:ext cx="4937760" cy="30632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(cfp</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:sender plataforma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:receiver entregador_17</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:content {"pedido": "P-4821",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:language json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:ontology entregas-v1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:protocol fipa-contract-net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:reply-by 19:42:00)</a:t>
            </a:r>
            <a:endParaRPr lang="en-US" sz="1400" dirty="0"/>
          </a:p>
        </p:txBody>
      </p:sp>
      <p:sp>
        <p:nvSpPr>
          <p:cNvPr id="7" name="Text 4"/>
          <p:cNvSpPr txBox="1"/>
          <p:nvPr/>
        </p:nvSpPr>
        <p:spPr>
          <a:xfrm>
            <a:off x="6217920" y="1371600"/>
            <a:ext cx="5394960" cy="365760"/>
          </a:xfrm>
          <a:prstGeom prst="rect">
            <a:avLst/>
          </a:prstGeom>
          <a:noFill/>
          <a:ln/>
        </p:spPr>
        <p:txBody>
          <a:bodyPr wrap="square" lIns="0" tIns="0" rIns="0" bIns="0" rtlCol="0" anchor="t"/>
          <a:lstStyle/>
          <a:p>
            <a:pPr indent="0" marL="0">
              <a:buNone/>
            </a:pPr>
            <a:r>
              <a:rPr lang="en-US" sz="1600" b="1" dirty="0">
                <a:solidFill>
                  <a:schemeClr val="tx2"/>
                </a:solidFill>
              </a:rPr>
              <a:t>JSON (APIs atuais, A2A)</a:t>
            </a:r>
            <a:endParaRPr lang="en-US" sz="1600" dirty="0"/>
          </a:p>
        </p:txBody>
      </p:sp>
      <p:sp>
        <p:nvSpPr>
          <p:cNvPr id="8" name="Shape 5"/>
          <p:cNvSpPr/>
          <p:nvPr/>
        </p:nvSpPr>
        <p:spPr>
          <a:xfrm>
            <a:off x="6217920" y="1783080"/>
            <a:ext cx="5394960" cy="3246120"/>
          </a:xfrm>
          <a:prstGeom prst="roundRect">
            <a:avLst>
              <a:gd name="adj" fmla="val 2254"/>
            </a:avLst>
          </a:prstGeom>
          <a:solidFill>
            <a:schemeClr val="tx2"/>
          </a:solidFill>
          <a:ln/>
        </p:spPr>
      </p:sp>
      <p:sp>
        <p:nvSpPr>
          <p:cNvPr id="9" name="Text 6"/>
          <p:cNvSpPr txBox="1"/>
          <p:nvPr/>
        </p:nvSpPr>
        <p:spPr>
          <a:xfrm>
            <a:off x="6492240" y="1874520"/>
            <a:ext cx="4937760" cy="306324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"performativa": "cfp",</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"sender": "plataforma",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"receiver": "entregador_17",</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"content": {"pedido": "P-4821",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"ontology": "entregas-v1",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"protocol": "fipa-contract-net",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"reply-by": "19:42:00" }</a:t>
            </a:r>
            <a:endParaRPr lang="en-US" sz="1400" dirty="0"/>
          </a:p>
        </p:txBody>
      </p:sp>
      <p:sp>
        <p:nvSpPr>
          <p:cNvPr id="10" name="Shape 7"/>
          <p:cNvSpPr/>
          <p:nvPr/>
        </p:nvSpPr>
        <p:spPr>
          <a:xfrm>
            <a:off x="548640" y="5257800"/>
            <a:ext cx="11064240" cy="868680"/>
          </a:xfrm>
          <a:prstGeom prst="roundRect">
            <a:avLst>
              <a:gd name="adj" fmla="val 8421"/>
            </a:avLst>
          </a:prstGeom>
          <a:solidFill>
            <a:schemeClr val="bg2"/>
          </a:solidFill>
          <a:ln/>
        </p:spPr>
      </p:sp>
      <p:sp>
        <p:nvSpPr>
          <p:cNvPr id="11" name="Shape 8"/>
          <p:cNvSpPr/>
          <p:nvPr/>
        </p:nvSpPr>
        <p:spPr>
          <a:xfrm>
            <a:off x="731520" y="5376672"/>
            <a:ext cx="621792" cy="621792"/>
          </a:xfrm>
          <a:prstGeom prst="ellipse">
            <a:avLst/>
          </a:prstGeom>
          <a:solidFill>
            <a:schemeClr val="accent2"/>
          </a:solidFill>
          <a:ln/>
        </p:spPr>
      </p:sp>
      <p:pic>
        <p:nvPicPr>
          <p:cNvPr id="12" name="Image 0" descr="preencoded.png">    </p:cNvPr>
          <p:cNvPicPr>
            <a:picLocks noChangeAspect="1"/>
          </p:cNvPicPr>
          <p:nvPr/>
        </p:nvPicPr>
        <p:blipFill>
          <a:blip r:embed="rId1"/>
          <a:stretch>
            <a:fillRect/>
          </a:stretch>
        </p:blipFill>
        <p:spPr>
          <a:xfrm>
            <a:off x="880750" y="5525902"/>
            <a:ext cx="323332" cy="323332"/>
          </a:xfrm>
          <a:prstGeom prst="rect">
            <a:avLst/>
          </a:prstGeom>
        </p:spPr>
      </p:pic>
      <p:sp>
        <p:nvSpPr>
          <p:cNvPr id="13" name="Text 9"/>
          <p:cNvSpPr txBox="1"/>
          <p:nvPr/>
        </p:nvSpPr>
        <p:spPr>
          <a:xfrm>
            <a:off x="1554480" y="5303520"/>
            <a:ext cx="9875520" cy="777240"/>
          </a:xfrm>
          <a:prstGeom prst="rect">
            <a:avLst/>
          </a:prstGeom>
          <a:noFill/>
          <a:ln/>
        </p:spPr>
        <p:txBody>
          <a:bodyPr wrap="square" lIns="0" tIns="0" rIns="0" bIns="0" rtlCol="0" anchor="ctr"/>
          <a:lstStyle/>
          <a:p>
            <a:pPr indent="0" marL="0">
              <a:buNone/>
            </a:pPr>
            <a:r>
              <a:rPr lang="en-US" sz="1500" b="1" dirty="0">
                <a:solidFill>
                  <a:schemeClr val="tx1"/>
                </a:solidFill>
              </a:rPr>
              <a:t>Ontologia é o vocabulário comum (Gruber, 1993). </a:t>
            </a:r>
            <a:pPr indent="0" marL="0">
              <a:buNone/>
            </a:pPr>
            <a:r>
              <a:rPr lang="en-US" sz="1500" dirty="0">
                <a:solidFill>
                  <a:schemeClr val="tx1"/>
                </a:solidFill>
              </a:rPr>
              <a:t>A NF-e só funciona porque milhares de sistemas concordam sobre o que são “emitente”, “CFOP” e “ICMS”.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Protocolo: quem pode dizer o quê, e quando</a:t>
            </a:r>
            <a:endParaRPr lang="en-US" sz="3400" dirty="0"/>
          </a:p>
        </p:txBody>
      </p:sp>
      <p:sp>
        <p:nvSpPr>
          <p:cNvPr id="4" name="Text 1"/>
          <p:cNvSpPr/>
          <p:nvPr/>
        </p:nvSpPr>
        <p:spPr>
          <a:xfrm>
            <a:off x="1005840" y="1417320"/>
            <a:ext cx="2377440" cy="548640"/>
          </a:xfrm>
          <a:prstGeom prst="roundRect">
            <a:avLst>
              <a:gd name="adj" fmla="val 13333"/>
            </a:avLst>
          </a:prstGeom>
          <a:solidFill>
            <a:schemeClr val="tx2"/>
          </a:solidFill>
          <a:ln/>
        </p:spPr>
        <p:txBody>
          <a:bodyPr wrap="square"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plataforma</a:t>
            </a:r>
            <a:endParaRPr lang="en-US" sz="1600" dirty="0"/>
          </a:p>
        </p:txBody>
      </p:sp>
      <p:sp>
        <p:nvSpPr>
          <p:cNvPr id="5" name="Shape 2"/>
          <p:cNvSpPr/>
          <p:nvPr/>
        </p:nvSpPr>
        <p:spPr>
          <a:xfrm>
            <a:off x="2194560" y="1965960"/>
            <a:ext cx="0" cy="4069080"/>
          </a:xfrm>
          <a:prstGeom prst="line">
            <a:avLst/>
          </a:prstGeom>
          <a:noFill/>
          <a:ln w="15875">
            <a:solidFill>
              <a:schemeClr val="accent6"/>
            </a:solidFill>
            <a:prstDash val="dash"/>
          </a:ln>
        </p:spPr>
      </p:sp>
      <p:sp>
        <p:nvSpPr>
          <p:cNvPr id="6" name="Text 3"/>
          <p:cNvSpPr/>
          <p:nvPr/>
        </p:nvSpPr>
        <p:spPr>
          <a:xfrm>
            <a:off x="5212080" y="1417320"/>
            <a:ext cx="2377440" cy="548640"/>
          </a:xfrm>
          <a:prstGeom prst="roundRect">
            <a:avLst>
              <a:gd name="adj" fmla="val 13333"/>
            </a:avLst>
          </a:prstGeom>
          <a:solidFill>
            <a:schemeClr val="accent1"/>
          </a:solidFill>
          <a:ln/>
        </p:spPr>
        <p:txBody>
          <a:bodyPr wrap="square"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entregador_17</a:t>
            </a:r>
            <a:endParaRPr lang="en-US" sz="1600" dirty="0"/>
          </a:p>
        </p:txBody>
      </p:sp>
      <p:sp>
        <p:nvSpPr>
          <p:cNvPr id="7" name="Shape 4"/>
          <p:cNvSpPr/>
          <p:nvPr/>
        </p:nvSpPr>
        <p:spPr>
          <a:xfrm>
            <a:off x="6400800" y="1965960"/>
            <a:ext cx="0" cy="4069080"/>
          </a:xfrm>
          <a:prstGeom prst="line">
            <a:avLst/>
          </a:prstGeom>
          <a:noFill/>
          <a:ln w="15875">
            <a:solidFill>
              <a:schemeClr val="accent6"/>
            </a:solidFill>
            <a:prstDash val="dash"/>
          </a:ln>
        </p:spPr>
      </p:sp>
      <p:sp>
        <p:nvSpPr>
          <p:cNvPr id="8" name="Shape 5"/>
          <p:cNvSpPr/>
          <p:nvPr/>
        </p:nvSpPr>
        <p:spPr>
          <a:xfrm>
            <a:off x="2240280" y="2697480"/>
            <a:ext cx="4114800" cy="0"/>
          </a:xfrm>
          <a:prstGeom prst="line">
            <a:avLst/>
          </a:prstGeom>
          <a:noFill/>
          <a:ln w="25400">
            <a:solidFill>
              <a:schemeClr val="tx2"/>
            </a:solidFill>
            <a:prstDash val="solid"/>
            <a:tailEnd type="triangle"/>
          </a:ln>
        </p:spPr>
      </p:sp>
      <p:sp>
        <p:nvSpPr>
          <p:cNvPr id="9" name="Text 6"/>
          <p:cNvSpPr txBox="1"/>
          <p:nvPr/>
        </p:nvSpPr>
        <p:spPr>
          <a:xfrm>
            <a:off x="2331720" y="2286000"/>
            <a:ext cx="3931920" cy="36576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cfp  </a:t>
            </a:r>
            <a:pPr algn="ctr" indent="0" marL="0">
              <a:buNone/>
            </a:pPr>
            <a:r>
              <a:rPr lang="en-US" sz="1400" dirty="0">
                <a:solidFill>
                  <a:schemeClr val="tx1"/>
                </a:solidFill>
              </a:rPr>
              <a:t>pedido P-4821, prazo de 35 min</a:t>
            </a:r>
            <a:endParaRPr lang="en-US" sz="1400" dirty="0"/>
          </a:p>
        </p:txBody>
      </p:sp>
      <p:sp>
        <p:nvSpPr>
          <p:cNvPr id="10" name="Shape 7"/>
          <p:cNvSpPr/>
          <p:nvPr/>
        </p:nvSpPr>
        <p:spPr>
          <a:xfrm flipH="1">
            <a:off x="2240280" y="3611880"/>
            <a:ext cx="4114800" cy="0"/>
          </a:xfrm>
          <a:prstGeom prst="line">
            <a:avLst/>
          </a:prstGeom>
          <a:noFill/>
          <a:ln w="25400">
            <a:solidFill>
              <a:schemeClr val="accent1"/>
            </a:solidFill>
            <a:prstDash val="solid"/>
            <a:tailEnd type="triangle"/>
          </a:ln>
        </p:spPr>
      </p:sp>
      <p:sp>
        <p:nvSpPr>
          <p:cNvPr id="11" name="Text 8"/>
          <p:cNvSpPr txBox="1"/>
          <p:nvPr/>
        </p:nvSpPr>
        <p:spPr>
          <a:xfrm>
            <a:off x="2331720" y="3200400"/>
            <a:ext cx="3931920" cy="36576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propose  </a:t>
            </a:r>
            <a:pPr algn="ctr" indent="0" marL="0">
              <a:buNone/>
            </a:pPr>
            <a:r>
              <a:rPr lang="en-US" sz="1400" dirty="0">
                <a:solidFill>
                  <a:schemeClr val="tx1"/>
                </a:solidFill>
              </a:rPr>
              <a:t>chego em 12 min, R$ 9,50</a:t>
            </a:r>
            <a:endParaRPr lang="en-US" sz="1400" dirty="0"/>
          </a:p>
        </p:txBody>
      </p:sp>
      <p:sp>
        <p:nvSpPr>
          <p:cNvPr id="12" name="Shape 9"/>
          <p:cNvSpPr/>
          <p:nvPr/>
        </p:nvSpPr>
        <p:spPr>
          <a:xfrm>
            <a:off x="2240280" y="4526280"/>
            <a:ext cx="4114800" cy="0"/>
          </a:xfrm>
          <a:prstGeom prst="line">
            <a:avLst/>
          </a:prstGeom>
          <a:noFill/>
          <a:ln w="25400">
            <a:solidFill>
              <a:schemeClr val="tx2"/>
            </a:solidFill>
            <a:prstDash val="solid"/>
            <a:tailEnd type="triangle"/>
          </a:ln>
        </p:spPr>
      </p:sp>
      <p:sp>
        <p:nvSpPr>
          <p:cNvPr id="13" name="Text 10"/>
          <p:cNvSpPr txBox="1"/>
          <p:nvPr/>
        </p:nvSpPr>
        <p:spPr>
          <a:xfrm>
            <a:off x="2331720" y="4114800"/>
            <a:ext cx="3931920" cy="36576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accept-proposal  </a:t>
            </a:r>
            <a:pPr algn="ctr" indent="0" marL="0">
              <a:buNone/>
            </a:pPr>
            <a:r>
              <a:rPr lang="en-US" sz="1400" dirty="0">
                <a:solidFill>
                  <a:schemeClr val="tx1"/>
                </a:solidFill>
              </a:rPr>
              <a:t>pedido P-4821</a:t>
            </a:r>
            <a:endParaRPr lang="en-US" sz="1400" dirty="0"/>
          </a:p>
        </p:txBody>
      </p:sp>
      <p:sp>
        <p:nvSpPr>
          <p:cNvPr id="14" name="Shape 11"/>
          <p:cNvSpPr/>
          <p:nvPr/>
        </p:nvSpPr>
        <p:spPr>
          <a:xfrm flipH="1">
            <a:off x="2240280" y="5440680"/>
            <a:ext cx="4114800" cy="0"/>
          </a:xfrm>
          <a:prstGeom prst="line">
            <a:avLst/>
          </a:prstGeom>
          <a:noFill/>
          <a:ln w="25400">
            <a:solidFill>
              <a:schemeClr val="accent1"/>
            </a:solidFill>
            <a:prstDash val="solid"/>
            <a:tailEnd type="triangle"/>
          </a:ln>
        </p:spPr>
      </p:sp>
      <p:sp>
        <p:nvSpPr>
          <p:cNvPr id="15" name="Text 12"/>
          <p:cNvSpPr txBox="1"/>
          <p:nvPr/>
        </p:nvSpPr>
        <p:spPr>
          <a:xfrm>
            <a:off x="2331720" y="5029200"/>
            <a:ext cx="3931920" cy="36576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inform  </a:t>
            </a:r>
            <a:pPr algn="ctr" indent="0" marL="0">
              <a:buNone/>
            </a:pPr>
            <a:r>
              <a:rPr lang="en-US" sz="1400" dirty="0">
                <a:solidFill>
                  <a:schemeClr val="tx1"/>
                </a:solidFill>
              </a:rPr>
              <a:t>entregue às 20:09</a:t>
            </a:r>
            <a:endParaRPr lang="en-US" sz="1400" dirty="0"/>
          </a:p>
        </p:txBody>
      </p:sp>
      <p:sp>
        <p:nvSpPr>
          <p:cNvPr id="16" name="Shape 13"/>
          <p:cNvSpPr/>
          <p:nvPr/>
        </p:nvSpPr>
        <p:spPr>
          <a:xfrm>
            <a:off x="8138160" y="1417320"/>
            <a:ext cx="3474720" cy="4617720"/>
          </a:xfrm>
          <a:prstGeom prst="roundRect">
            <a:avLst>
              <a:gd name="adj" fmla="val 2105"/>
            </a:avLst>
          </a:prstGeom>
          <a:solidFill>
            <a:schemeClr val="bg2"/>
          </a:solidFill>
          <a:ln/>
        </p:spPr>
      </p:sp>
      <p:sp>
        <p:nvSpPr>
          <p:cNvPr id="17" name="Text 14"/>
          <p:cNvSpPr txBox="1"/>
          <p:nvPr/>
        </p:nvSpPr>
        <p:spPr>
          <a:xfrm>
            <a:off x="8366760" y="1600200"/>
            <a:ext cx="3017520" cy="640080"/>
          </a:xfrm>
          <a:prstGeom prst="rect">
            <a:avLst/>
          </a:prstGeom>
          <a:noFill/>
          <a:ln/>
        </p:spPr>
        <p:txBody>
          <a:bodyPr wrap="square" lIns="0" tIns="0" rIns="0" bIns="0" rtlCol="0" anchor="t"/>
          <a:lstStyle/>
          <a:p>
            <a:pPr indent="0" marL="0">
              <a:buNone/>
            </a:pPr>
            <a:r>
              <a:rPr lang="en-US" sz="1700" b="1" dirty="0">
                <a:solidFill>
                  <a:schemeClr val="tx2"/>
                </a:solidFill>
              </a:rPr>
              <a:t>O que pode vir depois de quê</a:t>
            </a:r>
            <a:endParaRPr lang="en-US" sz="1700" dirty="0"/>
          </a:p>
        </p:txBody>
      </p:sp>
      <p:sp>
        <p:nvSpPr>
          <p:cNvPr id="18" name="Text 15"/>
          <p:cNvSpPr txBox="1"/>
          <p:nvPr/>
        </p:nvSpPr>
        <p:spPr>
          <a:xfrm>
            <a:off x="8366760" y="233172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CFP → PROPOSE ou REFUSE</a:t>
            </a:r>
            <a:endParaRPr lang="en-US" sz="1500" dirty="0"/>
          </a:p>
          <a:p>
            <a:pPr marL="342900" indent="-342900">
              <a:spcAft>
                <a:spcPts val="600"/>
              </a:spcAft>
              <a:buSzPct val="100000"/>
              <a:buChar char="•"/>
            </a:pPr>
            <a:r>
              <a:rPr lang="en-US" sz="1500" dirty="0">
                <a:solidFill>
                  <a:schemeClr val="tx1"/>
                </a:solidFill>
              </a:rPr>
              <a:t>PROPOSE → ACCEPT ou REJECT</a:t>
            </a:r>
            <a:endParaRPr lang="en-US" sz="1500" dirty="0"/>
          </a:p>
          <a:p>
            <a:pPr marL="342900" indent="-342900">
              <a:buSzPct val="100000"/>
              <a:buChar char="•"/>
            </a:pPr>
            <a:r>
              <a:rPr lang="en-US" sz="1500" dirty="0">
                <a:solidFill>
                  <a:schemeClr val="tx1"/>
                </a:solidFill>
              </a:rPr>
              <a:t>ACCEPT → INFORM ou FAILURE</a:t>
            </a:r>
            <a:endParaRPr lang="en-US" sz="1500" dirty="0"/>
          </a:p>
        </p:txBody>
      </p:sp>
      <p:sp>
        <p:nvSpPr>
          <p:cNvPr id="19" name="Text 16"/>
          <p:cNvSpPr txBox="1"/>
          <p:nvPr/>
        </p:nvSpPr>
        <p:spPr>
          <a:xfrm>
            <a:off x="8366760" y="4160520"/>
            <a:ext cx="3017520" cy="1463040"/>
          </a:xfrm>
          <a:prstGeom prst="rect">
            <a:avLst/>
          </a:prstGeom>
          <a:noFill/>
          <a:ln/>
        </p:spPr>
        <p:txBody>
          <a:bodyPr wrap="square" lIns="0" tIns="0" rIns="0" bIns="0" rtlCol="0" anchor="t"/>
          <a:lstStyle/>
          <a:p>
            <a:pPr indent="0" marL="0">
              <a:buNone/>
            </a:pPr>
            <a:r>
              <a:rPr lang="en-US" sz="1600" i="1" dirty="0">
                <a:solidFill>
                  <a:schemeClr val="accent4"/>
                </a:solidFill>
              </a:rPr>
              <a:t>Assim, agentes de empresas diferentes conversam sem combinar nada antes.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Do Actor Model ao WhatsApp, ao MCP e ao A2A</a:t>
            </a:r>
            <a:endParaRPr lang="en-US" sz="3400" dirty="0"/>
          </a:p>
        </p:txBody>
      </p:sp>
      <p:sp>
        <p:nvSpPr>
          <p:cNvPr id="4" name="Text 1"/>
          <p:cNvSpPr txBox="1"/>
          <p:nvPr/>
        </p:nvSpPr>
        <p:spPr>
          <a:xfrm>
            <a:off x="548640" y="1325880"/>
            <a:ext cx="4206240" cy="320040"/>
          </a:xfrm>
          <a:prstGeom prst="rect">
            <a:avLst/>
          </a:prstGeom>
          <a:noFill/>
          <a:ln/>
        </p:spPr>
        <p:txBody>
          <a:bodyPr wrap="square" lIns="0" tIns="0" rIns="0" bIns="0" rtlCol="0" anchor="t"/>
          <a:lstStyle/>
          <a:p>
            <a:pPr indent="0" marL="0">
              <a:buNone/>
            </a:pPr>
            <a:r>
              <a:rPr lang="en-US" sz="1300" b="1" dirty="0">
                <a:solidFill>
                  <a:schemeClr val="accent6"/>
                </a:solidFill>
              </a:rPr>
              <a:t>Ideia clássica</a:t>
            </a:r>
            <a:endParaRPr lang="en-US" sz="1300" dirty="0"/>
          </a:p>
        </p:txBody>
      </p:sp>
      <p:sp>
        <p:nvSpPr>
          <p:cNvPr id="5" name="Text 2"/>
          <p:cNvSpPr txBox="1"/>
          <p:nvPr/>
        </p:nvSpPr>
        <p:spPr>
          <a:xfrm>
            <a:off x="5577840" y="1325880"/>
            <a:ext cx="6035040" cy="320040"/>
          </a:xfrm>
          <a:prstGeom prst="rect">
            <a:avLst/>
          </a:prstGeom>
          <a:noFill/>
          <a:ln/>
        </p:spPr>
        <p:txBody>
          <a:bodyPr wrap="square" lIns="0" tIns="0" rIns="0" bIns="0" rtlCol="0" anchor="t"/>
          <a:lstStyle/>
          <a:p>
            <a:pPr indent="0" marL="0">
              <a:buNone/>
            </a:pPr>
            <a:r>
              <a:rPr lang="en-US" sz="1300" b="1" dirty="0">
                <a:solidFill>
                  <a:schemeClr val="accent6"/>
                </a:solidFill>
              </a:rPr>
              <a:t>Onde está hoje</a:t>
            </a:r>
            <a:endParaRPr lang="en-US" sz="1300" dirty="0"/>
          </a:p>
        </p:txBody>
      </p:sp>
      <p:sp>
        <p:nvSpPr>
          <p:cNvPr id="6" name="Text 3"/>
          <p:cNvSpPr/>
          <p:nvPr/>
        </p:nvSpPr>
        <p:spPr>
          <a:xfrm>
            <a:off x="548640" y="1691640"/>
            <a:ext cx="4480560" cy="640080"/>
          </a:xfrm>
          <a:prstGeom prst="roundRect">
            <a:avLst>
              <a:gd name="adj" fmla="val 11429"/>
            </a:avLst>
          </a:prstGeom>
          <a:solidFill>
            <a:schemeClr val="bg2"/>
          </a:solidFill>
          <a:ln/>
        </p:spPr>
        <p:txBody>
          <a:bodyPr wrap="square" lIns="0" tIns="1905" rIns="1905" bIns="0" rtlCol="0" anchor="ctr"/>
          <a:lstStyle/>
          <a:p>
            <a:pPr indent="0" marL="0">
              <a:buNone/>
            </a:pPr>
            <a:r>
              <a:rPr lang="en-US" sz="1500" b="1" dirty="0">
                <a:solidFill>
                  <a:schemeClr val="tx2"/>
                </a:solidFill>
              </a:rPr>
              <a:t>Actor Model (Hewitt, Bishop e Steiger, 1973)</a:t>
            </a:r>
            <a:endParaRPr lang="en-US" sz="1500" dirty="0"/>
          </a:p>
        </p:txBody>
      </p:sp>
      <p:sp>
        <p:nvSpPr>
          <p:cNvPr id="7" name="Shape 4"/>
          <p:cNvSpPr/>
          <p:nvPr/>
        </p:nvSpPr>
        <p:spPr>
          <a:xfrm>
            <a:off x="5120640" y="1828800"/>
            <a:ext cx="365760" cy="365760"/>
          </a:xfrm>
          <a:prstGeom prst="chevron">
            <a:avLst/>
          </a:prstGeom>
          <a:solidFill>
            <a:schemeClr val="accent1"/>
          </a:solidFill>
          <a:ln/>
        </p:spPr>
      </p:sp>
      <p:sp>
        <p:nvSpPr>
          <p:cNvPr id="8" name="Text 5"/>
          <p:cNvSpPr/>
          <p:nvPr/>
        </p:nvSpPr>
        <p:spPr>
          <a:xfrm>
            <a:off x="5577840" y="1691640"/>
            <a:ext cx="6035040" cy="640080"/>
          </a:xfrm>
          <a:prstGeom prst="roundRect">
            <a:avLst>
              <a:gd name="adj" fmla="val 11429"/>
            </a:avLst>
          </a:prstGeom>
          <a:solidFill>
            <a:schemeClr val="accent2">
              <a:alpha val="15000"/>
            </a:schemeClr>
          </a:solidFill>
          <a:ln/>
        </p:spPr>
        <p:txBody>
          <a:bodyPr wrap="square" lIns="0" tIns="1905" rIns="1905" bIns="0" rtlCol="0" anchor="ctr"/>
          <a:lstStyle/>
          <a:p>
            <a:pPr indent="0" marL="0">
              <a:buNone/>
            </a:pPr>
            <a:r>
              <a:rPr lang="en-US" sz="1500" dirty="0">
                <a:solidFill>
                  <a:schemeClr val="tx1"/>
                </a:solidFill>
              </a:rPr>
              <a:t>Erlang no backend do WhatsApp; Akka; Microsoft Orleans</a:t>
            </a:r>
            <a:endParaRPr lang="en-US" sz="1500" dirty="0"/>
          </a:p>
        </p:txBody>
      </p:sp>
      <p:sp>
        <p:nvSpPr>
          <p:cNvPr id="9" name="Text 6"/>
          <p:cNvSpPr/>
          <p:nvPr/>
        </p:nvSpPr>
        <p:spPr>
          <a:xfrm>
            <a:off x="548640" y="2468880"/>
            <a:ext cx="4480560" cy="640080"/>
          </a:xfrm>
          <a:prstGeom prst="roundRect">
            <a:avLst>
              <a:gd name="adj" fmla="val 11429"/>
            </a:avLst>
          </a:prstGeom>
          <a:solidFill>
            <a:schemeClr val="bg2"/>
          </a:solidFill>
          <a:ln/>
        </p:spPr>
        <p:txBody>
          <a:bodyPr wrap="square" lIns="0" tIns="1905" rIns="1905" bIns="0" rtlCol="0" anchor="ctr"/>
          <a:lstStyle/>
          <a:p>
            <a:pPr indent="0" marL="0">
              <a:buNone/>
            </a:pPr>
            <a:r>
              <a:rPr lang="en-US" sz="1500" b="1" dirty="0">
                <a:solidFill>
                  <a:schemeClr val="tx2"/>
                </a:solidFill>
              </a:rPr>
              <a:t>Caixa de mensagens de cada agente</a:t>
            </a:r>
            <a:endParaRPr lang="en-US" sz="1500" dirty="0"/>
          </a:p>
        </p:txBody>
      </p:sp>
      <p:sp>
        <p:nvSpPr>
          <p:cNvPr id="10" name="Shape 7"/>
          <p:cNvSpPr/>
          <p:nvPr/>
        </p:nvSpPr>
        <p:spPr>
          <a:xfrm>
            <a:off x="5120640" y="2606040"/>
            <a:ext cx="365760" cy="365760"/>
          </a:xfrm>
          <a:prstGeom prst="chevron">
            <a:avLst/>
          </a:prstGeom>
          <a:solidFill>
            <a:schemeClr val="accent1"/>
          </a:solidFill>
          <a:ln/>
        </p:spPr>
      </p:sp>
      <p:sp>
        <p:nvSpPr>
          <p:cNvPr id="11" name="Text 8"/>
          <p:cNvSpPr/>
          <p:nvPr/>
        </p:nvSpPr>
        <p:spPr>
          <a:xfrm>
            <a:off x="5577840" y="2468880"/>
            <a:ext cx="6035040" cy="640080"/>
          </a:xfrm>
          <a:prstGeom prst="roundRect">
            <a:avLst>
              <a:gd name="adj" fmla="val 11429"/>
            </a:avLst>
          </a:prstGeom>
          <a:solidFill>
            <a:schemeClr val="accent2">
              <a:alpha val="15000"/>
            </a:schemeClr>
          </a:solidFill>
          <a:ln/>
        </p:spPr>
        <p:txBody>
          <a:bodyPr wrap="square" lIns="0" tIns="1905" rIns="1905" bIns="0" rtlCol="0" anchor="ctr"/>
          <a:lstStyle/>
          <a:p>
            <a:pPr indent="0" marL="0">
              <a:buNone/>
            </a:pPr>
            <a:r>
              <a:rPr lang="en-US" sz="1500" dirty="0">
                <a:solidFill>
                  <a:schemeClr val="tx1"/>
                </a:solidFill>
              </a:rPr>
              <a:t>Kafka e RabbitMQ em e-commerces e bancos digitais</a:t>
            </a:r>
            <a:endParaRPr lang="en-US" sz="1500" dirty="0"/>
          </a:p>
        </p:txBody>
      </p:sp>
      <p:sp>
        <p:nvSpPr>
          <p:cNvPr id="12" name="Text 9"/>
          <p:cNvSpPr/>
          <p:nvPr/>
        </p:nvSpPr>
        <p:spPr>
          <a:xfrm>
            <a:off x="548640" y="3246120"/>
            <a:ext cx="4480560" cy="640080"/>
          </a:xfrm>
          <a:prstGeom prst="roundRect">
            <a:avLst>
              <a:gd name="adj" fmla="val 11429"/>
            </a:avLst>
          </a:prstGeom>
          <a:solidFill>
            <a:schemeClr val="bg2"/>
          </a:solidFill>
          <a:ln/>
        </p:spPr>
        <p:txBody>
          <a:bodyPr wrap="square" lIns="0" tIns="1905" rIns="1905" bIns="0" rtlCol="0" anchor="ctr"/>
          <a:lstStyle/>
          <a:p>
            <a:pPr indent="0" marL="0">
              <a:buNone/>
            </a:pPr>
            <a:r>
              <a:rPr lang="en-US" sz="1500" b="1" dirty="0">
                <a:solidFill>
                  <a:schemeClr val="tx2"/>
                </a:solidFill>
              </a:rPr>
              <a:t>“Páginas amarelas” da FIPA (Directory Facilitator)</a:t>
            </a:r>
            <a:endParaRPr lang="en-US" sz="1500" dirty="0"/>
          </a:p>
        </p:txBody>
      </p:sp>
      <p:sp>
        <p:nvSpPr>
          <p:cNvPr id="13" name="Shape 10"/>
          <p:cNvSpPr/>
          <p:nvPr/>
        </p:nvSpPr>
        <p:spPr>
          <a:xfrm>
            <a:off x="5120640" y="3383280"/>
            <a:ext cx="365760" cy="365760"/>
          </a:xfrm>
          <a:prstGeom prst="chevron">
            <a:avLst/>
          </a:prstGeom>
          <a:solidFill>
            <a:schemeClr val="accent1"/>
          </a:solidFill>
          <a:ln/>
        </p:spPr>
      </p:sp>
      <p:sp>
        <p:nvSpPr>
          <p:cNvPr id="14" name="Text 11"/>
          <p:cNvSpPr/>
          <p:nvPr/>
        </p:nvSpPr>
        <p:spPr>
          <a:xfrm>
            <a:off x="5577840" y="3246120"/>
            <a:ext cx="6035040" cy="640080"/>
          </a:xfrm>
          <a:prstGeom prst="roundRect">
            <a:avLst>
              <a:gd name="adj" fmla="val 11429"/>
            </a:avLst>
          </a:prstGeom>
          <a:solidFill>
            <a:schemeClr val="accent2">
              <a:alpha val="15000"/>
            </a:schemeClr>
          </a:solidFill>
          <a:ln/>
        </p:spPr>
        <p:txBody>
          <a:bodyPr wrap="square" lIns="0" tIns="1905" rIns="1905" bIns="0" rtlCol="0" anchor="ctr"/>
          <a:lstStyle/>
          <a:p>
            <a:pPr indent="0" marL="0">
              <a:buNone/>
            </a:pPr>
            <a:r>
              <a:rPr lang="en-US" sz="1500" dirty="0">
                <a:solidFill>
                  <a:schemeClr val="tx1"/>
                </a:solidFill>
              </a:rPr>
              <a:t>Agent Card do protocolo A2A (Google, 2025)</a:t>
            </a:r>
            <a:endParaRPr lang="en-US" sz="1500" dirty="0"/>
          </a:p>
        </p:txBody>
      </p:sp>
      <p:sp>
        <p:nvSpPr>
          <p:cNvPr id="15" name="Text 12"/>
          <p:cNvSpPr/>
          <p:nvPr/>
        </p:nvSpPr>
        <p:spPr>
          <a:xfrm>
            <a:off x="548640" y="4023360"/>
            <a:ext cx="4480560" cy="640080"/>
          </a:xfrm>
          <a:prstGeom prst="roundRect">
            <a:avLst>
              <a:gd name="adj" fmla="val 11429"/>
            </a:avLst>
          </a:prstGeom>
          <a:solidFill>
            <a:schemeClr val="bg2"/>
          </a:solidFill>
          <a:ln/>
        </p:spPr>
        <p:txBody>
          <a:bodyPr wrap="square" lIns="0" tIns="1905" rIns="1905" bIns="0" rtlCol="0" anchor="ctr"/>
          <a:lstStyle/>
          <a:p>
            <a:pPr indent="0" marL="0">
              <a:buNone/>
            </a:pPr>
            <a:r>
              <a:rPr lang="en-US" sz="1500" b="1" dirty="0">
                <a:solidFill>
                  <a:schemeClr val="tx2"/>
                </a:solidFill>
              </a:rPr>
              <a:t>Atuadores do agente</a:t>
            </a:r>
            <a:endParaRPr lang="en-US" sz="1500" dirty="0"/>
          </a:p>
        </p:txBody>
      </p:sp>
      <p:sp>
        <p:nvSpPr>
          <p:cNvPr id="16" name="Shape 13"/>
          <p:cNvSpPr/>
          <p:nvPr/>
        </p:nvSpPr>
        <p:spPr>
          <a:xfrm>
            <a:off x="5120640" y="4160520"/>
            <a:ext cx="365760" cy="365760"/>
          </a:xfrm>
          <a:prstGeom prst="chevron">
            <a:avLst/>
          </a:prstGeom>
          <a:solidFill>
            <a:schemeClr val="accent1"/>
          </a:solidFill>
          <a:ln/>
        </p:spPr>
      </p:sp>
      <p:sp>
        <p:nvSpPr>
          <p:cNvPr id="17" name="Text 14"/>
          <p:cNvSpPr/>
          <p:nvPr/>
        </p:nvSpPr>
        <p:spPr>
          <a:xfrm>
            <a:off x="5577840" y="4023360"/>
            <a:ext cx="6035040" cy="640080"/>
          </a:xfrm>
          <a:prstGeom prst="roundRect">
            <a:avLst>
              <a:gd name="adj" fmla="val 11429"/>
            </a:avLst>
          </a:prstGeom>
          <a:solidFill>
            <a:schemeClr val="accent2">
              <a:alpha val="15000"/>
            </a:schemeClr>
          </a:solidFill>
          <a:ln/>
        </p:spPr>
        <p:txBody>
          <a:bodyPr wrap="square" lIns="0" tIns="1905" rIns="1905" bIns="0" rtlCol="0" anchor="ctr"/>
          <a:lstStyle/>
          <a:p>
            <a:pPr indent="0" marL="0">
              <a:buNone/>
            </a:pPr>
            <a:r>
              <a:rPr lang="en-US" sz="1500" dirty="0">
                <a:solidFill>
                  <a:schemeClr val="tx1"/>
                </a:solidFill>
              </a:rPr>
              <a:t>MCP: ferramentas para agentes com LLM (Anthropic, 2024)</a:t>
            </a:r>
            <a:endParaRPr lang="en-US" sz="1500" dirty="0"/>
          </a:p>
        </p:txBody>
      </p:sp>
      <p:sp>
        <p:nvSpPr>
          <p:cNvPr id="18" name="Text 15"/>
          <p:cNvSpPr/>
          <p:nvPr/>
        </p:nvSpPr>
        <p:spPr>
          <a:xfrm>
            <a:off x="548640" y="4800600"/>
            <a:ext cx="4480560" cy="640080"/>
          </a:xfrm>
          <a:prstGeom prst="roundRect">
            <a:avLst>
              <a:gd name="adj" fmla="val 11429"/>
            </a:avLst>
          </a:prstGeom>
          <a:solidFill>
            <a:schemeClr val="bg2"/>
          </a:solidFill>
          <a:ln/>
        </p:spPr>
        <p:txBody>
          <a:bodyPr wrap="square" lIns="0" tIns="1905" rIns="1905" bIns="0" rtlCol="0" anchor="ctr"/>
          <a:lstStyle/>
          <a:p>
            <a:pPr indent="0" marL="0">
              <a:buNone/>
            </a:pPr>
            <a:r>
              <a:rPr lang="en-US" sz="1500" b="1" dirty="0">
                <a:solidFill>
                  <a:schemeClr val="tx2"/>
                </a:solidFill>
              </a:rPr>
              <a:t>ACL e protocolos de interação</a:t>
            </a:r>
            <a:endParaRPr lang="en-US" sz="1500" dirty="0"/>
          </a:p>
        </p:txBody>
      </p:sp>
      <p:sp>
        <p:nvSpPr>
          <p:cNvPr id="19" name="Shape 16"/>
          <p:cNvSpPr/>
          <p:nvPr/>
        </p:nvSpPr>
        <p:spPr>
          <a:xfrm>
            <a:off x="5120640" y="4937760"/>
            <a:ext cx="365760" cy="365760"/>
          </a:xfrm>
          <a:prstGeom prst="chevron">
            <a:avLst/>
          </a:prstGeom>
          <a:solidFill>
            <a:schemeClr val="accent1"/>
          </a:solidFill>
          <a:ln/>
        </p:spPr>
      </p:sp>
      <p:sp>
        <p:nvSpPr>
          <p:cNvPr id="20" name="Text 17"/>
          <p:cNvSpPr/>
          <p:nvPr/>
        </p:nvSpPr>
        <p:spPr>
          <a:xfrm>
            <a:off x="5577840" y="4800600"/>
            <a:ext cx="6035040" cy="640080"/>
          </a:xfrm>
          <a:prstGeom prst="roundRect">
            <a:avLst>
              <a:gd name="adj" fmla="val 11429"/>
            </a:avLst>
          </a:prstGeom>
          <a:solidFill>
            <a:schemeClr val="accent2">
              <a:alpha val="15000"/>
            </a:schemeClr>
          </a:solidFill>
          <a:ln/>
        </p:spPr>
        <p:txBody>
          <a:bodyPr wrap="square" lIns="0" tIns="1905" rIns="1905" bIns="0" rtlCol="0" anchor="ctr"/>
          <a:lstStyle/>
          <a:p>
            <a:pPr indent="0" marL="0">
              <a:buNone/>
            </a:pPr>
            <a:r>
              <a:rPr lang="en-US" sz="1500" dirty="0">
                <a:solidFill>
                  <a:schemeClr val="tx1"/>
                </a:solidFill>
              </a:rPr>
              <a:t>A2A: tarefas e mensagens entre agentes de empresas diferentes</a:t>
            </a:r>
            <a:endParaRPr lang="en-US" sz="1500" dirty="0"/>
          </a:p>
        </p:txBody>
      </p:sp>
      <p:sp>
        <p:nvSpPr>
          <p:cNvPr id="21" name="Text 18"/>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600" i="1" dirty="0">
                <a:solidFill>
                  <a:schemeClr val="accent4"/>
                </a:solidFill>
              </a:rPr>
              <a:t>Diante de um “novo protocolo para agentes”, pergunte: qual problema da FIPA ele está resolvendo de novo?</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04</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Coordenação por mercado</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Contract Net e leilões · Notebook, Seções 4 e 5</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Contract Net: uma licitação entre agentes</a:t>
            </a:r>
            <a:endParaRPr lang="en-US" sz="3400" dirty="0"/>
          </a:p>
        </p:txBody>
      </p:sp>
      <p:sp>
        <p:nvSpPr>
          <p:cNvPr id="4" name="Shape 1"/>
          <p:cNvSpPr/>
          <p:nvPr/>
        </p:nvSpPr>
        <p:spPr>
          <a:xfrm>
            <a:off x="548640" y="1417320"/>
            <a:ext cx="2606040" cy="3337560"/>
          </a:xfrm>
          <a:prstGeom prst="roundRect">
            <a:avLst>
              <a:gd name="adj" fmla="val 2807"/>
            </a:avLst>
          </a:prstGeom>
          <a:solidFill>
            <a:schemeClr val="bg2"/>
          </a:solidFill>
          <a:ln/>
        </p:spPr>
      </p:sp>
      <p:sp>
        <p:nvSpPr>
          <p:cNvPr id="5" name="Text 2"/>
          <p:cNvSpPr/>
          <p:nvPr/>
        </p:nvSpPr>
        <p:spPr>
          <a:xfrm>
            <a:off x="777240" y="1645920"/>
            <a:ext cx="594360" cy="594360"/>
          </a:xfrm>
          <a:prstGeom prst="ellipse">
            <a:avLst/>
          </a:prstGeom>
          <a:solidFill>
            <a:schemeClr val="accent4"/>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508760" y="1691640"/>
            <a:ext cx="1508760" cy="502920"/>
          </a:xfrm>
          <a:prstGeom prst="rect">
            <a:avLst/>
          </a:prstGeom>
          <a:noFill/>
          <a:ln/>
        </p:spPr>
        <p:txBody>
          <a:bodyPr wrap="square" lIns="0" tIns="0" rIns="0" bIns="0" rtlCol="0" anchor="ctr"/>
          <a:lstStyle/>
          <a:p>
            <a:pPr indent="0" marL="0">
              <a:buNone/>
            </a:pPr>
            <a:r>
              <a:rPr lang="en-US" sz="2000" b="1" dirty="0">
                <a:solidFill>
                  <a:schemeClr val="tx2"/>
                </a:solidFill>
              </a:rPr>
              <a:t>Anúncio</a:t>
            </a:r>
            <a:endParaRPr lang="en-US" sz="2000" dirty="0"/>
          </a:p>
        </p:txBody>
      </p:sp>
      <p:sp>
        <p:nvSpPr>
          <p:cNvPr id="7" name="Text 4"/>
          <p:cNvSpPr txBox="1"/>
          <p:nvPr/>
        </p:nvSpPr>
        <p:spPr>
          <a:xfrm>
            <a:off x="777240" y="2423160"/>
            <a:ext cx="2240280" cy="36576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CFP</a:t>
            </a:r>
            <a:endParaRPr lang="en-US" sz="1400" dirty="0"/>
          </a:p>
        </p:txBody>
      </p:sp>
      <p:sp>
        <p:nvSpPr>
          <p:cNvPr id="8" name="Text 5"/>
          <p:cNvSpPr txBox="1"/>
          <p:nvPr/>
        </p:nvSpPr>
        <p:spPr>
          <a:xfrm>
            <a:off x="777240" y="2834640"/>
            <a:ext cx="2148840" cy="685800"/>
          </a:xfrm>
          <a:prstGeom prst="rect">
            <a:avLst/>
          </a:prstGeom>
          <a:noFill/>
          <a:ln/>
        </p:spPr>
        <p:txBody>
          <a:bodyPr wrap="square" lIns="0" tIns="0" rIns="0" bIns="0" rtlCol="0" anchor="t"/>
          <a:lstStyle/>
          <a:p>
            <a:pPr indent="0" marL="0">
              <a:buNone/>
            </a:pPr>
            <a:r>
              <a:rPr lang="en-US" sz="1500" dirty="0">
                <a:solidFill>
                  <a:schemeClr val="tx1"/>
                </a:solidFill>
              </a:rPr>
              <a:t>O gerente anuncia a tarefa</a:t>
            </a:r>
            <a:endParaRPr lang="en-US" sz="1500" dirty="0"/>
          </a:p>
        </p:txBody>
      </p:sp>
      <p:sp>
        <p:nvSpPr>
          <p:cNvPr id="9" name="Text 6"/>
          <p:cNvSpPr txBox="1"/>
          <p:nvPr/>
        </p:nvSpPr>
        <p:spPr>
          <a:xfrm>
            <a:off x="777240" y="3611880"/>
            <a:ext cx="2148840" cy="1005840"/>
          </a:xfrm>
          <a:prstGeom prst="rect">
            <a:avLst/>
          </a:prstGeom>
          <a:noFill/>
          <a:ln/>
        </p:spPr>
        <p:txBody>
          <a:bodyPr wrap="square" lIns="0" tIns="0" rIns="0" bIns="0" rtlCol="0" anchor="t"/>
          <a:lstStyle/>
          <a:p>
            <a:pPr indent="0" marL="0">
              <a:buNone/>
            </a:pPr>
            <a:r>
              <a:rPr lang="en-US" sz="1400" i="1" dirty="0">
                <a:solidFill>
                  <a:schemeClr val="accent4"/>
                </a:solidFill>
              </a:rPr>
              <a:t>“Novo pedido na Pizzaria X: quem pega?”</a:t>
            </a:r>
            <a:endParaRPr lang="en-US" sz="1400" dirty="0"/>
          </a:p>
        </p:txBody>
      </p:sp>
      <p:sp>
        <p:nvSpPr>
          <p:cNvPr id="10" name="Shape 7"/>
          <p:cNvSpPr/>
          <p:nvPr/>
        </p:nvSpPr>
        <p:spPr>
          <a:xfrm>
            <a:off x="3172968" y="2926080"/>
            <a:ext cx="164592" cy="320040"/>
          </a:xfrm>
          <a:prstGeom prst="chevron">
            <a:avLst/>
          </a:prstGeom>
          <a:solidFill>
            <a:schemeClr val="accent6"/>
          </a:solidFill>
          <a:ln/>
        </p:spPr>
      </p:sp>
      <p:sp>
        <p:nvSpPr>
          <p:cNvPr id="11" name="Shape 8"/>
          <p:cNvSpPr/>
          <p:nvPr/>
        </p:nvSpPr>
        <p:spPr>
          <a:xfrm>
            <a:off x="3353105" y="1417320"/>
            <a:ext cx="2606040" cy="3337560"/>
          </a:xfrm>
          <a:prstGeom prst="roundRect">
            <a:avLst>
              <a:gd name="adj" fmla="val 2807"/>
            </a:avLst>
          </a:prstGeom>
          <a:solidFill>
            <a:schemeClr val="bg2"/>
          </a:solidFill>
          <a:ln/>
        </p:spPr>
      </p:sp>
      <p:sp>
        <p:nvSpPr>
          <p:cNvPr id="12" name="Text 9"/>
          <p:cNvSpPr/>
          <p:nvPr/>
        </p:nvSpPr>
        <p:spPr>
          <a:xfrm>
            <a:off x="3581705" y="1645920"/>
            <a:ext cx="594360" cy="59436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0"/>
          <p:cNvSpPr txBox="1"/>
          <p:nvPr/>
        </p:nvSpPr>
        <p:spPr>
          <a:xfrm>
            <a:off x="4313225" y="1691640"/>
            <a:ext cx="1508760" cy="502920"/>
          </a:xfrm>
          <a:prstGeom prst="rect">
            <a:avLst/>
          </a:prstGeom>
          <a:noFill/>
          <a:ln/>
        </p:spPr>
        <p:txBody>
          <a:bodyPr wrap="square" lIns="0" tIns="0" rIns="0" bIns="0" rtlCol="0" anchor="ctr"/>
          <a:lstStyle/>
          <a:p>
            <a:pPr indent="0" marL="0">
              <a:buNone/>
            </a:pPr>
            <a:r>
              <a:rPr lang="en-US" sz="2000" b="1" dirty="0">
                <a:solidFill>
                  <a:schemeClr val="tx2"/>
                </a:solidFill>
              </a:rPr>
              <a:t>Propostas</a:t>
            </a:r>
            <a:endParaRPr lang="en-US" sz="2000" dirty="0"/>
          </a:p>
        </p:txBody>
      </p:sp>
      <p:sp>
        <p:nvSpPr>
          <p:cNvPr id="14" name="Text 11"/>
          <p:cNvSpPr txBox="1"/>
          <p:nvPr/>
        </p:nvSpPr>
        <p:spPr>
          <a:xfrm>
            <a:off x="3581705" y="2423160"/>
            <a:ext cx="2240280" cy="36576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PROPOSE / REFUSE</a:t>
            </a:r>
            <a:endParaRPr lang="en-US" sz="1400" dirty="0"/>
          </a:p>
        </p:txBody>
      </p:sp>
      <p:sp>
        <p:nvSpPr>
          <p:cNvPr id="15" name="Text 12"/>
          <p:cNvSpPr txBox="1"/>
          <p:nvPr/>
        </p:nvSpPr>
        <p:spPr>
          <a:xfrm>
            <a:off x="3581705" y="2834640"/>
            <a:ext cx="2148840" cy="685800"/>
          </a:xfrm>
          <a:prstGeom prst="rect">
            <a:avLst/>
          </a:prstGeom>
          <a:noFill/>
          <a:ln/>
        </p:spPr>
        <p:txBody>
          <a:bodyPr wrap="square" lIns="0" tIns="0" rIns="0" bIns="0" rtlCol="0" anchor="t"/>
          <a:lstStyle/>
          <a:p>
            <a:pPr indent="0" marL="0">
              <a:buNone/>
            </a:pPr>
            <a:r>
              <a:rPr lang="en-US" sz="1500" dirty="0">
                <a:solidFill>
                  <a:schemeClr val="tx1"/>
                </a:solidFill>
              </a:rPr>
              <a:t>Candidatos avaliam e respondem</a:t>
            </a:r>
            <a:endParaRPr lang="en-US" sz="1500" dirty="0"/>
          </a:p>
        </p:txBody>
      </p:sp>
      <p:sp>
        <p:nvSpPr>
          <p:cNvPr id="16" name="Text 13"/>
          <p:cNvSpPr txBox="1"/>
          <p:nvPr/>
        </p:nvSpPr>
        <p:spPr>
          <a:xfrm>
            <a:off x="3581705" y="3611880"/>
            <a:ext cx="2148840" cy="1005840"/>
          </a:xfrm>
          <a:prstGeom prst="rect">
            <a:avLst/>
          </a:prstGeom>
          <a:noFill/>
          <a:ln/>
        </p:spPr>
        <p:txBody>
          <a:bodyPr wrap="square" lIns="0" tIns="0" rIns="0" bIns="0" rtlCol="0" anchor="t"/>
          <a:lstStyle/>
          <a:p>
            <a:pPr indent="0" marL="0">
              <a:buNone/>
            </a:pPr>
            <a:r>
              <a:rPr lang="en-US" sz="1400" i="1" dirty="0">
                <a:solidFill>
                  <a:schemeClr val="accent4"/>
                </a:solidFill>
              </a:rPr>
              <a:t>“Chego em 12 min” ou “Estou ocupado”</a:t>
            </a:r>
            <a:endParaRPr lang="en-US" sz="1400" dirty="0"/>
          </a:p>
        </p:txBody>
      </p:sp>
      <p:sp>
        <p:nvSpPr>
          <p:cNvPr id="17" name="Shape 14"/>
          <p:cNvSpPr/>
          <p:nvPr/>
        </p:nvSpPr>
        <p:spPr>
          <a:xfrm>
            <a:off x="5977433" y="2926080"/>
            <a:ext cx="164592" cy="320040"/>
          </a:xfrm>
          <a:prstGeom prst="chevron">
            <a:avLst/>
          </a:prstGeom>
          <a:solidFill>
            <a:schemeClr val="accent6"/>
          </a:solidFill>
          <a:ln/>
        </p:spPr>
      </p:sp>
      <p:sp>
        <p:nvSpPr>
          <p:cNvPr id="18" name="Shape 15"/>
          <p:cNvSpPr/>
          <p:nvPr/>
        </p:nvSpPr>
        <p:spPr>
          <a:xfrm>
            <a:off x="6157570" y="1417320"/>
            <a:ext cx="2606040" cy="3337560"/>
          </a:xfrm>
          <a:prstGeom prst="roundRect">
            <a:avLst>
              <a:gd name="adj" fmla="val 2807"/>
            </a:avLst>
          </a:prstGeom>
          <a:solidFill>
            <a:schemeClr val="bg2"/>
          </a:solidFill>
          <a:ln/>
        </p:spPr>
      </p:sp>
      <p:sp>
        <p:nvSpPr>
          <p:cNvPr id="19" name="Text 16"/>
          <p:cNvSpPr/>
          <p:nvPr/>
        </p:nvSpPr>
        <p:spPr>
          <a:xfrm>
            <a:off x="6386170" y="164592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7117690" y="1691640"/>
            <a:ext cx="1508760" cy="502920"/>
          </a:xfrm>
          <a:prstGeom prst="rect">
            <a:avLst/>
          </a:prstGeom>
          <a:noFill/>
          <a:ln/>
        </p:spPr>
        <p:txBody>
          <a:bodyPr wrap="square" lIns="0" tIns="0" rIns="0" bIns="0" rtlCol="0" anchor="ctr"/>
          <a:lstStyle/>
          <a:p>
            <a:pPr indent="0" marL="0">
              <a:buNone/>
            </a:pPr>
            <a:r>
              <a:rPr lang="en-US" sz="2000" b="1" dirty="0">
                <a:solidFill>
                  <a:schemeClr val="tx2"/>
                </a:solidFill>
              </a:rPr>
              <a:t>Adjudicação</a:t>
            </a:r>
            <a:endParaRPr lang="en-US" sz="2000" dirty="0"/>
          </a:p>
        </p:txBody>
      </p:sp>
      <p:sp>
        <p:nvSpPr>
          <p:cNvPr id="21" name="Text 18"/>
          <p:cNvSpPr txBox="1"/>
          <p:nvPr/>
        </p:nvSpPr>
        <p:spPr>
          <a:xfrm>
            <a:off x="6386170" y="2423160"/>
            <a:ext cx="224028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ACCEPT / REJECT</a:t>
            </a:r>
            <a:endParaRPr lang="en-US" sz="1400" dirty="0"/>
          </a:p>
        </p:txBody>
      </p:sp>
      <p:sp>
        <p:nvSpPr>
          <p:cNvPr id="22" name="Text 19"/>
          <p:cNvSpPr txBox="1"/>
          <p:nvPr/>
        </p:nvSpPr>
        <p:spPr>
          <a:xfrm>
            <a:off x="6386170" y="2834640"/>
            <a:ext cx="2148840" cy="685800"/>
          </a:xfrm>
          <a:prstGeom prst="rect">
            <a:avLst/>
          </a:prstGeom>
          <a:noFill/>
          <a:ln/>
        </p:spPr>
        <p:txBody>
          <a:bodyPr wrap="square" lIns="0" tIns="0" rIns="0" bIns="0" rtlCol="0" anchor="t"/>
          <a:lstStyle/>
          <a:p>
            <a:pPr indent="0" marL="0">
              <a:buNone/>
            </a:pPr>
            <a:r>
              <a:rPr lang="en-US" sz="1500" dirty="0">
                <a:solidFill>
                  <a:schemeClr val="tx1"/>
                </a:solidFill>
              </a:rPr>
              <a:t>O gerente escolhe a melhor</a:t>
            </a:r>
            <a:endParaRPr lang="en-US" sz="1500" dirty="0"/>
          </a:p>
        </p:txBody>
      </p:sp>
      <p:sp>
        <p:nvSpPr>
          <p:cNvPr id="23" name="Text 20"/>
          <p:cNvSpPr txBox="1"/>
          <p:nvPr/>
        </p:nvSpPr>
        <p:spPr>
          <a:xfrm>
            <a:off x="6386170" y="3611880"/>
            <a:ext cx="2148840" cy="1005840"/>
          </a:xfrm>
          <a:prstGeom prst="rect">
            <a:avLst/>
          </a:prstGeom>
          <a:noFill/>
          <a:ln/>
        </p:spPr>
        <p:txBody>
          <a:bodyPr wrap="square" lIns="0" tIns="0" rIns="0" bIns="0" rtlCol="0" anchor="t"/>
          <a:lstStyle/>
          <a:p>
            <a:pPr indent="0" marL="0">
              <a:buNone/>
            </a:pPr>
            <a:r>
              <a:rPr lang="en-US" sz="1400" i="1" dirty="0">
                <a:solidFill>
                  <a:schemeClr val="accent4"/>
                </a:solidFill>
              </a:rPr>
              <a:t>O pedido aparece para um entregador só</a:t>
            </a:r>
            <a:endParaRPr lang="en-US" sz="1400" dirty="0"/>
          </a:p>
        </p:txBody>
      </p:sp>
      <p:sp>
        <p:nvSpPr>
          <p:cNvPr id="24" name="Shape 21"/>
          <p:cNvSpPr/>
          <p:nvPr/>
        </p:nvSpPr>
        <p:spPr>
          <a:xfrm>
            <a:off x="8781898" y="2926080"/>
            <a:ext cx="164592" cy="320040"/>
          </a:xfrm>
          <a:prstGeom prst="chevron">
            <a:avLst/>
          </a:prstGeom>
          <a:solidFill>
            <a:schemeClr val="accent6"/>
          </a:solidFill>
          <a:ln/>
        </p:spPr>
      </p:sp>
      <p:sp>
        <p:nvSpPr>
          <p:cNvPr id="25" name="Shape 22"/>
          <p:cNvSpPr/>
          <p:nvPr/>
        </p:nvSpPr>
        <p:spPr>
          <a:xfrm>
            <a:off x="8962034" y="1417320"/>
            <a:ext cx="2606040" cy="3337560"/>
          </a:xfrm>
          <a:prstGeom prst="roundRect">
            <a:avLst>
              <a:gd name="adj" fmla="val 2807"/>
            </a:avLst>
          </a:prstGeom>
          <a:solidFill>
            <a:schemeClr val="bg2"/>
          </a:solidFill>
          <a:ln/>
        </p:spPr>
      </p:sp>
      <p:sp>
        <p:nvSpPr>
          <p:cNvPr id="26" name="Text 23"/>
          <p:cNvSpPr/>
          <p:nvPr/>
        </p:nvSpPr>
        <p:spPr>
          <a:xfrm>
            <a:off x="9190634" y="1645920"/>
            <a:ext cx="594360" cy="594360"/>
          </a:xfrm>
          <a:prstGeom prst="ellipse">
            <a:avLst/>
          </a:prstGeom>
          <a:solidFill>
            <a:schemeClr val="accent5"/>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Text 24"/>
          <p:cNvSpPr txBox="1"/>
          <p:nvPr/>
        </p:nvSpPr>
        <p:spPr>
          <a:xfrm>
            <a:off x="9922154" y="1691640"/>
            <a:ext cx="1508760" cy="502920"/>
          </a:xfrm>
          <a:prstGeom prst="rect">
            <a:avLst/>
          </a:prstGeom>
          <a:noFill/>
          <a:ln/>
        </p:spPr>
        <p:txBody>
          <a:bodyPr wrap="square" lIns="0" tIns="0" rIns="0" bIns="0" rtlCol="0" anchor="ctr"/>
          <a:lstStyle/>
          <a:p>
            <a:pPr indent="0" marL="0">
              <a:buNone/>
            </a:pPr>
            <a:r>
              <a:rPr lang="en-US" sz="2000" b="1" dirty="0">
                <a:solidFill>
                  <a:schemeClr val="tx2"/>
                </a:solidFill>
              </a:rPr>
              <a:t>Execução</a:t>
            </a:r>
            <a:endParaRPr lang="en-US" sz="2000" dirty="0"/>
          </a:p>
        </p:txBody>
      </p:sp>
      <p:sp>
        <p:nvSpPr>
          <p:cNvPr id="28" name="Text 25"/>
          <p:cNvSpPr txBox="1"/>
          <p:nvPr/>
        </p:nvSpPr>
        <p:spPr>
          <a:xfrm>
            <a:off x="9190634" y="2423160"/>
            <a:ext cx="2240280" cy="36576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INFORM / FAILURE</a:t>
            </a:r>
            <a:endParaRPr lang="en-US" sz="1400" dirty="0"/>
          </a:p>
        </p:txBody>
      </p:sp>
      <p:sp>
        <p:nvSpPr>
          <p:cNvPr id="29" name="Text 26"/>
          <p:cNvSpPr txBox="1"/>
          <p:nvPr/>
        </p:nvSpPr>
        <p:spPr>
          <a:xfrm>
            <a:off x="9190634" y="2834640"/>
            <a:ext cx="2148840" cy="685800"/>
          </a:xfrm>
          <a:prstGeom prst="rect">
            <a:avLst/>
          </a:prstGeom>
          <a:noFill/>
          <a:ln/>
        </p:spPr>
        <p:txBody>
          <a:bodyPr wrap="square" lIns="0" tIns="0" rIns="0" bIns="0" rtlCol="0" anchor="t"/>
          <a:lstStyle/>
          <a:p>
            <a:pPr indent="0" marL="0">
              <a:buNone/>
            </a:pPr>
            <a:r>
              <a:rPr lang="en-US" sz="1500" dirty="0">
                <a:solidFill>
                  <a:schemeClr val="tx1"/>
                </a:solidFill>
              </a:rPr>
              <a:t>O vencedor executa e reporta</a:t>
            </a:r>
            <a:endParaRPr lang="en-US" sz="1500" dirty="0"/>
          </a:p>
        </p:txBody>
      </p:sp>
      <p:sp>
        <p:nvSpPr>
          <p:cNvPr id="30" name="Text 27"/>
          <p:cNvSpPr txBox="1"/>
          <p:nvPr/>
        </p:nvSpPr>
        <p:spPr>
          <a:xfrm>
            <a:off x="9190634" y="3611880"/>
            <a:ext cx="2148840" cy="1005840"/>
          </a:xfrm>
          <a:prstGeom prst="rect">
            <a:avLst/>
          </a:prstGeom>
          <a:noFill/>
          <a:ln/>
        </p:spPr>
        <p:txBody>
          <a:bodyPr wrap="square" lIns="0" tIns="0" rIns="0" bIns="0" rtlCol="0" anchor="t"/>
          <a:lstStyle/>
          <a:p>
            <a:pPr indent="0" marL="0">
              <a:buNone/>
            </a:pPr>
            <a:r>
              <a:rPr lang="en-US" sz="1400" i="1" dirty="0">
                <a:solidFill>
                  <a:schemeClr val="accent4"/>
                </a:solidFill>
              </a:rPr>
              <a:t>“Pedido entregue às 20:09”</a:t>
            </a:r>
            <a:endParaRPr lang="en-US" sz="1400" dirty="0"/>
          </a:p>
        </p:txBody>
      </p:sp>
      <p:sp>
        <p:nvSpPr>
          <p:cNvPr id="31" name="Shape 28"/>
          <p:cNvSpPr/>
          <p:nvPr/>
        </p:nvSpPr>
        <p:spPr>
          <a:xfrm>
            <a:off x="548640" y="4983480"/>
            <a:ext cx="11064240" cy="1051560"/>
          </a:xfrm>
          <a:prstGeom prst="roundRect">
            <a:avLst>
              <a:gd name="adj" fmla="val 6957"/>
            </a:avLst>
          </a:prstGeom>
          <a:solidFill>
            <a:schemeClr val="tx2"/>
          </a:solidFill>
          <a:ln/>
        </p:spPr>
      </p:sp>
      <p:sp>
        <p:nvSpPr>
          <p:cNvPr id="32" name="Shape 29"/>
          <p:cNvSpPr/>
          <p:nvPr/>
        </p:nvSpPr>
        <p:spPr>
          <a:xfrm>
            <a:off x="777240" y="5166360"/>
            <a:ext cx="685800" cy="685800"/>
          </a:xfrm>
          <a:prstGeom prst="ellipse">
            <a:avLst/>
          </a:prstGeom>
          <a:solidFill>
            <a:schemeClr val="accent3"/>
          </a:solidFill>
          <a:ln/>
        </p:spPr>
      </p:sp>
      <p:pic>
        <p:nvPicPr>
          <p:cNvPr id="33" name="Image 0" descr="preencoded.png">    </p:cNvPr>
          <p:cNvPicPr>
            <a:picLocks noChangeAspect="1"/>
          </p:cNvPicPr>
          <p:nvPr/>
        </p:nvPicPr>
        <p:blipFill>
          <a:blip r:embed="rId1"/>
          <a:stretch>
            <a:fillRect/>
          </a:stretch>
        </p:blipFill>
        <p:spPr>
          <a:xfrm>
            <a:off x="941832" y="5330952"/>
            <a:ext cx="356616" cy="356616"/>
          </a:xfrm>
          <a:prstGeom prst="rect">
            <a:avLst/>
          </a:prstGeom>
        </p:spPr>
      </p:pic>
      <p:sp>
        <p:nvSpPr>
          <p:cNvPr id="34" name="Text 30"/>
          <p:cNvSpPr txBox="1"/>
          <p:nvPr/>
        </p:nvSpPr>
        <p:spPr>
          <a:xfrm>
            <a:off x="1691640" y="5029200"/>
            <a:ext cx="9692640" cy="960120"/>
          </a:xfrm>
          <a:prstGeom prst="rect">
            <a:avLst/>
          </a:prstGeom>
          <a:noFill/>
          <a:ln/>
        </p:spPr>
        <p:txBody>
          <a:bodyPr wrap="square" lIns="0" tIns="0" rIns="0" bIns="0" rtlCol="0" anchor="ctr"/>
          <a:lstStyle/>
          <a:p>
            <a:pPr indent="0" marL="0">
              <a:buNone/>
            </a:pPr>
            <a:r>
              <a:rPr lang="en-US" sz="1600" b="1" dirty="0">
                <a:solidFill>
                  <a:schemeClr val="accent3"/>
                </a:solidFill>
              </a:rPr>
              <a:t>Conhecimento distribuído: </a:t>
            </a:r>
            <a:pPr indent="0" marL="0">
              <a:buNone/>
            </a:pPr>
            <a:r>
              <a:rPr lang="en-US" sz="1600" dirty="0">
                <a:solidFill>
                  <a:schemeClr val="bg1"/>
                </a:solidFill>
              </a:rPr>
              <a:t>o gerente não precisa saber tudo sobre os candidatos; cada um avalia a própria situação e responde.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O que o entregador deve ofertar?</a:t>
            </a:r>
            <a:endParaRPr lang="en-US" sz="3400" dirty="0"/>
          </a:p>
        </p:txBody>
      </p:sp>
      <p:sp>
        <p:nvSpPr>
          <p:cNvPr id="4" name="Shape 1"/>
          <p:cNvSpPr/>
          <p:nvPr/>
        </p:nvSpPr>
        <p:spPr>
          <a:xfrm>
            <a:off x="548640" y="1417320"/>
            <a:ext cx="5029200" cy="1783080"/>
          </a:xfrm>
          <a:prstGeom prst="roundRect">
            <a:avLst>
              <a:gd name="adj" fmla="val 4103"/>
            </a:avLst>
          </a:prstGeom>
          <a:solidFill>
            <a:schemeClr val="bg2"/>
          </a:solidFill>
          <a:ln/>
        </p:spPr>
      </p:sp>
      <p:sp>
        <p:nvSpPr>
          <p:cNvPr id="5" name="Text 2"/>
          <p:cNvSpPr txBox="1"/>
          <p:nvPr/>
        </p:nvSpPr>
        <p:spPr>
          <a:xfrm>
            <a:off x="777240" y="1554480"/>
            <a:ext cx="4572000" cy="1554480"/>
          </a:xfrm>
          <a:prstGeom prst="rect">
            <a:avLst/>
          </a:prstGeom>
          <a:noFill/>
          <a:ln/>
        </p:spPr>
        <p:txBody>
          <a:bodyPr wrap="square" lIns="0" tIns="0" rIns="0" bIns="0" rtlCol="0" anchor="t"/>
          <a:lstStyle/>
          <a:p>
            <a:pPr indent="0" marL="0">
              <a:buNone/>
            </a:pPr>
            <a:r>
              <a:rPr lang="en-US" sz="1900" b="1" dirty="0">
                <a:solidFill>
                  <a:schemeClr val="accent1"/>
                </a:solidFill>
              </a:rPr>
              <a:t>Lance ingênuo</a:t>
            </a:r>
            <a:endParaRPr lang="en-US" sz="1600" dirty="0"/>
          </a:p>
          <a:p>
            <a:pPr indent="0" marL="0">
              <a:buNone/>
            </a:pPr>
            <a:r>
              <a:rPr lang="en-US" sz="1500" dirty="0">
                <a:solidFill>
                  <a:schemeClr val="tx1"/>
                </a:solidFill>
              </a:rPr>
              <a:t>“Estou a X km deste pedido”, medido da posição atual, ignorando os pedidos que já aceitei.</a:t>
            </a:r>
            <a:endParaRPr lang="en-US" sz="1600" dirty="0"/>
          </a:p>
        </p:txBody>
      </p:sp>
      <p:sp>
        <p:nvSpPr>
          <p:cNvPr id="6" name="Shape 3"/>
          <p:cNvSpPr/>
          <p:nvPr/>
        </p:nvSpPr>
        <p:spPr>
          <a:xfrm>
            <a:off x="548640" y="3383280"/>
            <a:ext cx="5029200" cy="1783080"/>
          </a:xfrm>
          <a:prstGeom prst="roundRect">
            <a:avLst>
              <a:gd name="adj" fmla="val 4103"/>
            </a:avLst>
          </a:prstGeom>
          <a:solidFill>
            <a:schemeClr val="bg2"/>
          </a:solidFill>
          <a:ln/>
        </p:spPr>
      </p:sp>
      <p:sp>
        <p:nvSpPr>
          <p:cNvPr id="7" name="Text 4"/>
          <p:cNvSpPr txBox="1"/>
          <p:nvPr/>
        </p:nvSpPr>
        <p:spPr>
          <a:xfrm>
            <a:off x="777240" y="3520440"/>
            <a:ext cx="4572000" cy="1554480"/>
          </a:xfrm>
          <a:prstGeom prst="rect">
            <a:avLst/>
          </a:prstGeom>
          <a:noFill/>
          <a:ln/>
        </p:spPr>
        <p:txBody>
          <a:bodyPr wrap="square" lIns="0" tIns="0" rIns="0" bIns="0" rtlCol="0" anchor="t"/>
          <a:lstStyle/>
          <a:p>
            <a:pPr indent="0" marL="0">
              <a:buNone/>
            </a:pPr>
            <a:r>
              <a:rPr lang="en-US" sz="1900" b="1" dirty="0">
                <a:solidFill>
                  <a:schemeClr val="accent2"/>
                </a:solidFill>
              </a:rPr>
              <a:t>Custo marginal (Sandholm, 1993)</a:t>
            </a:r>
            <a:endParaRPr lang="en-US" sz="1600" dirty="0"/>
          </a:p>
          <a:p>
            <a:pPr indent="0" marL="0">
              <a:buNone/>
            </a:pPr>
            <a:r>
              <a:rPr lang="en-US" sz="1500" dirty="0">
                <a:solidFill>
                  <a:schemeClr val="tx1"/>
                </a:solidFill>
              </a:rPr>
              <a:t>“Se eu aceitar, minha rota aumenta X km”, contando os pedidos que já aceitei.</a:t>
            </a:r>
            <a:endParaRPr lang="en-US" sz="1600" dirty="0"/>
          </a:p>
        </p:txBody>
      </p:sp>
      <p:sp>
        <p:nvSpPr>
          <p:cNvPr id="8" name="Text 5"/>
          <p:cNvSpPr txBox="1"/>
          <p:nvPr/>
        </p:nvSpPr>
        <p:spPr>
          <a:xfrm>
            <a:off x="548640" y="5349240"/>
            <a:ext cx="5029200" cy="731520"/>
          </a:xfrm>
          <a:prstGeom prst="rect">
            <a:avLst/>
          </a:prstGeom>
          <a:noFill/>
          <a:ln/>
        </p:spPr>
        <p:txBody>
          <a:bodyPr wrap="square" lIns="0" tIns="0" rIns="0" bIns="0" rtlCol="0" anchor="t"/>
          <a:lstStyle/>
          <a:p>
            <a:pPr indent="0" marL="0">
              <a:buNone/>
            </a:pPr>
            <a:r>
              <a:rPr lang="en-US" sz="1600" b="1" dirty="0">
                <a:solidFill>
                  <a:schemeClr val="tx2"/>
                </a:solidFill>
              </a:rPr>
              <a:t>Custo marginal: 27% menos km que o lance ingênuo, que foi pior até que o sorteio.</a:t>
            </a:r>
            <a:endParaRPr lang="en-US" sz="1600" dirty="0"/>
          </a:p>
        </p:txBody>
      </p:sp>
      <p:graphicFrame>
        <p:nvGraphicFramePr>
          <p:cNvPr id="9" name="Chart 0" descr=""/>
          <p:cNvGraphicFramePr/>
          <p:nvPr/>
        </p:nvGraphicFramePr>
        <p:xfrm>
          <a:off x="5943600" y="1371600"/>
          <a:ext cx="566928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As rotas que cada regra produz</a:t>
            </a:r>
            <a:endParaRPr lang="en-US" sz="3400" dirty="0"/>
          </a:p>
        </p:txBody>
      </p:sp>
      <p:pic>
        <p:nvPicPr>
          <p:cNvPr id="4" name="Image 0" descr="/private/tmp/claude-501/-Users-macbookpro--claude-spares-spare-wdbrp0/739b5760-ca18-40e0-ab06-85dbfcc54c60/scratchpad/deck/img/c31_1.png">    </p:cNvPr>
          <p:cNvPicPr>
            <a:picLocks noChangeAspect="1"/>
          </p:cNvPicPr>
          <p:nvPr/>
        </p:nvPicPr>
        <p:blipFill>
          <a:blip r:embed="rId1"/>
          <a:stretch>
            <a:fillRect/>
          </a:stretch>
        </p:blipFill>
        <p:spPr>
          <a:xfrm>
            <a:off x="548640" y="1371600"/>
            <a:ext cx="11064240" cy="3621024"/>
          </a:xfrm>
          <a:prstGeom prst="rect">
            <a:avLst/>
          </a:prstGeom>
        </p:spPr>
      </p:pic>
      <p:sp>
        <p:nvSpPr>
          <p:cNvPr id="5" name="Shape 1"/>
          <p:cNvSpPr/>
          <p:nvPr/>
        </p:nvSpPr>
        <p:spPr>
          <a:xfrm>
            <a:off x="548640" y="5212080"/>
            <a:ext cx="11064240" cy="868680"/>
          </a:xfrm>
          <a:prstGeom prst="roundRect">
            <a:avLst>
              <a:gd name="adj" fmla="val 8421"/>
            </a:avLst>
          </a:prstGeom>
          <a:solidFill>
            <a:schemeClr val="bg2"/>
          </a:solidFill>
          <a:ln/>
        </p:spPr>
      </p:sp>
      <p:sp>
        <p:nvSpPr>
          <p:cNvPr id="6" name="Text 2"/>
          <p:cNvSpPr txBox="1"/>
          <p:nvPr/>
        </p:nvSpPr>
        <p:spPr>
          <a:xfrm>
            <a:off x="777240" y="5257800"/>
            <a:ext cx="10607040" cy="777240"/>
          </a:xfrm>
          <a:prstGeom prst="rect">
            <a:avLst/>
          </a:prstGeom>
          <a:noFill/>
          <a:ln/>
        </p:spPr>
        <p:txBody>
          <a:bodyPr wrap="square" lIns="0" tIns="0" rIns="0" bIns="0" rtlCol="0" anchor="ctr"/>
          <a:lstStyle/>
          <a:p>
            <a:pPr indent="0" marL="0">
              <a:buNone/>
            </a:pPr>
            <a:r>
              <a:rPr lang="en-US" sz="1600" b="1" dirty="0">
                <a:solidFill>
                  <a:schemeClr val="tx1"/>
                </a:solidFill>
              </a:rPr>
              <a:t>O ótimo exige conhecer tudo e testar 65.536 alocações. </a:t>
            </a:r>
            <a:pPr indent="0" marL="0">
              <a:buNone/>
            </a:pPr>
            <a:r>
              <a:rPr lang="en-US" sz="1600" dirty="0">
                <a:solidFill>
                  <a:schemeClr val="tx1"/>
                </a:solidFill>
              </a:rPr>
              <a:t>O Contract Net decide pedido a pedido, com informação local, e fica 32% acima do ótimo.</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Leilões: o mercado mais usado entre agentes</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023360"/>
                <a:gridCol w="4297680"/>
              </a:tblGrid>
              <a:tr h="475488">
                <a:tc>
                  <a:txBody>
                    <a:bodyPr/>
                    <a:lstStyle/>
                    <a:p>
                      <a:pPr indent="0" marL="0">
                        <a:buNone/>
                      </a:pPr>
                      <a:r>
                        <a:rPr lang="en-US" sz="1400" b="1" dirty="0">
                          <a:solidFill>
                            <a:schemeClr val="bg1"/>
                          </a:solidFill>
                        </a:rPr>
                        <a:t>Formato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Como funciona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Onde aparece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Inglês (ascendente)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 preço sobe até restar um interessado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Arte, veículos apreendidos, imóveis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Holandês (descendente)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 preço cai até alguém aceitar</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Flores em Aalsmeer (Royal FloraHolland)</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1º preço selado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Maior lance vence e paga o próprio lance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Licitações em envelope fechado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2º preço selado (Vickrey)</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Maior lance vence e paga o 2º maior</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Base dos lances automáticos do eBay</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Reverso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Vendedores disputam; vence o menor preço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Pregão eletrônico (Leis 10.520/2002 e 14.133/2021)</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Posições (GSP)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Cada vencedor paga o lance do próximo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Google Ads (Edelman et al., 2007; Varian, 2007)</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VCG</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Vickrey generalizado para vários itens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Anúncios do Facebook (Varian e Harris, 2014)</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Espectro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Vários lotes de frequência de uma vez</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Leilão do 5G, Anatel, 2021</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Desenho de mecanismos rendeu três Nobel de Economia: Vickrey (1996); Hurwicz, Maskin e Myerson (2007); Milgrom e Wilson (2020).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No 2º preço, dizer a verdade é o melhor lance</a:t>
            </a:r>
            <a:endParaRPr lang="en-US" sz="3400" dirty="0"/>
          </a:p>
        </p:txBody>
      </p:sp>
      <p:sp>
        <p:nvSpPr>
          <p:cNvPr id="4"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600" dirty="0">
                <a:solidFill>
                  <a:schemeClr val="accent4"/>
                </a:solidFill>
              </a:rPr>
              <a:t>O item vale R$ 70 para você. Há 4 rivais com valores entre R$ 0 e R$ 100. Simulamos 50 mil leilões para cada lance.</a:t>
            </a:r>
            <a:endParaRPr lang="en-US" sz="1600" dirty="0"/>
          </a:p>
        </p:txBody>
      </p:sp>
      <p:pic>
        <p:nvPicPr>
          <p:cNvPr id="5" name="Image 0" descr="/private/tmp/claude-501/-Users-macbookpro--claude-spares-spare-wdbrp0/739b5760-ca18-40e0-ab06-85dbfcc54c60/scratchpad/deck/img/c34_2.png">    </p:cNvPr>
          <p:cNvPicPr>
            <a:picLocks noChangeAspect="1"/>
          </p:cNvPicPr>
          <p:nvPr/>
        </p:nvPicPr>
        <p:blipFill>
          <a:blip r:embed="rId1"/>
          <a:stretch>
            <a:fillRect/>
          </a:stretch>
        </p:blipFill>
        <p:spPr>
          <a:xfrm>
            <a:off x="548640" y="1874520"/>
            <a:ext cx="7315200" cy="3493008"/>
          </a:xfrm>
          <a:prstGeom prst="rect">
            <a:avLst/>
          </a:prstGeom>
        </p:spPr>
      </p:pic>
      <p:sp>
        <p:nvSpPr>
          <p:cNvPr id="6" name="Text 2"/>
          <p:cNvSpPr txBox="1"/>
          <p:nvPr/>
        </p:nvSpPr>
        <p:spPr>
          <a:xfrm>
            <a:off x="8229600" y="1874520"/>
            <a:ext cx="3383280" cy="548640"/>
          </a:xfrm>
          <a:prstGeom prst="rect">
            <a:avLst/>
          </a:prstGeom>
          <a:noFill/>
          <a:ln/>
        </p:spPr>
        <p:txBody>
          <a:bodyPr wrap="square" lIns="0" tIns="0" rIns="0" bIns="0" rtlCol="0" anchor="t"/>
          <a:lstStyle/>
          <a:p>
            <a:pPr indent="0" marL="0">
              <a:buNone/>
            </a:pPr>
            <a:r>
              <a:rPr lang="en-US" sz="3200" b="1" dirty="0">
                <a:solidFill>
                  <a:schemeClr val="accent1"/>
                </a:solidFill>
              </a:rPr>
              <a:t>R$ 56</a:t>
            </a:r>
            <a:endParaRPr lang="en-US" sz="3200" dirty="0"/>
          </a:p>
        </p:txBody>
      </p:sp>
      <p:sp>
        <p:nvSpPr>
          <p:cNvPr id="7" name="Text 3"/>
          <p:cNvSpPr txBox="1"/>
          <p:nvPr/>
        </p:nvSpPr>
        <p:spPr>
          <a:xfrm>
            <a:off x="8229600" y="2423160"/>
            <a:ext cx="3383280" cy="548640"/>
          </a:xfrm>
          <a:prstGeom prst="rect">
            <a:avLst/>
          </a:prstGeom>
          <a:noFill/>
          <a:ln/>
        </p:spPr>
        <p:txBody>
          <a:bodyPr wrap="square" lIns="0" tIns="0" rIns="0" bIns="0" rtlCol="0" anchor="t"/>
          <a:lstStyle/>
          <a:p>
            <a:pPr indent="0" marL="0">
              <a:buNone/>
            </a:pPr>
            <a:r>
              <a:rPr lang="en-US" sz="1400" dirty="0">
                <a:solidFill>
                  <a:schemeClr val="tx1"/>
                </a:solidFill>
              </a:rPr>
              <a:t>melhor lance no 1º preço: vale “sombrear” o lance</a:t>
            </a:r>
            <a:endParaRPr lang="en-US" sz="1400" dirty="0"/>
          </a:p>
        </p:txBody>
      </p:sp>
      <p:sp>
        <p:nvSpPr>
          <p:cNvPr id="8" name="Text 4"/>
          <p:cNvSpPr txBox="1"/>
          <p:nvPr/>
        </p:nvSpPr>
        <p:spPr>
          <a:xfrm>
            <a:off x="8229600" y="3063240"/>
            <a:ext cx="3383280" cy="548640"/>
          </a:xfrm>
          <a:prstGeom prst="rect">
            <a:avLst/>
          </a:prstGeom>
          <a:noFill/>
          <a:ln/>
        </p:spPr>
        <p:txBody>
          <a:bodyPr wrap="square" lIns="0" tIns="0" rIns="0" bIns="0" rtlCol="0" anchor="t"/>
          <a:lstStyle/>
          <a:p>
            <a:pPr indent="0" marL="0">
              <a:buNone/>
            </a:pPr>
            <a:r>
              <a:rPr lang="en-US" sz="3200" b="1" dirty="0">
                <a:solidFill>
                  <a:schemeClr val="accent2"/>
                </a:solidFill>
              </a:rPr>
              <a:t>R$ 70</a:t>
            </a:r>
            <a:endParaRPr lang="en-US" sz="3200" dirty="0"/>
          </a:p>
        </p:txBody>
      </p:sp>
      <p:sp>
        <p:nvSpPr>
          <p:cNvPr id="9" name="Text 5"/>
          <p:cNvSpPr txBox="1"/>
          <p:nvPr/>
        </p:nvSpPr>
        <p:spPr>
          <a:xfrm>
            <a:off x="8229600" y="3611880"/>
            <a:ext cx="3383280" cy="548640"/>
          </a:xfrm>
          <a:prstGeom prst="rect">
            <a:avLst/>
          </a:prstGeom>
          <a:noFill/>
          <a:ln/>
        </p:spPr>
        <p:txBody>
          <a:bodyPr wrap="square" lIns="0" tIns="0" rIns="0" bIns="0" rtlCol="0" anchor="t"/>
          <a:lstStyle/>
          <a:p>
            <a:pPr indent="0" marL="0">
              <a:buNone/>
            </a:pPr>
            <a:r>
              <a:rPr lang="en-US" sz="1400" dirty="0">
                <a:solidFill>
                  <a:schemeClr val="tx1"/>
                </a:solidFill>
              </a:rPr>
              <a:t>melhor lance no 2º preço: exatamente o seu valor</a:t>
            </a:r>
            <a:endParaRPr lang="en-US" sz="1400" dirty="0"/>
          </a:p>
        </p:txBody>
      </p:sp>
      <p:sp>
        <p:nvSpPr>
          <p:cNvPr id="10" name="Text 6"/>
          <p:cNvSpPr txBox="1"/>
          <p:nvPr/>
        </p:nvSpPr>
        <p:spPr>
          <a:xfrm>
            <a:off x="8229600" y="4251960"/>
            <a:ext cx="3383280" cy="548640"/>
          </a:xfrm>
          <a:prstGeom prst="rect">
            <a:avLst/>
          </a:prstGeom>
          <a:noFill/>
          <a:ln/>
        </p:spPr>
        <p:txBody>
          <a:bodyPr wrap="square" lIns="0" tIns="0" rIns="0" bIns="0" rtlCol="0" anchor="t"/>
          <a:lstStyle/>
          <a:p>
            <a:pPr indent="0" marL="0">
              <a:buNone/>
            </a:pPr>
            <a:r>
              <a:rPr lang="en-US" sz="3200" b="1" dirty="0">
                <a:solidFill>
                  <a:schemeClr val="accent4"/>
                </a:solidFill>
              </a:rPr>
              <a:t>−R$ 1,32</a:t>
            </a:r>
            <a:endParaRPr lang="en-US" sz="3200" dirty="0"/>
          </a:p>
        </p:txBody>
      </p:sp>
      <p:sp>
        <p:nvSpPr>
          <p:cNvPr id="11" name="Text 7"/>
          <p:cNvSpPr txBox="1"/>
          <p:nvPr/>
        </p:nvSpPr>
        <p:spPr>
          <a:xfrm>
            <a:off x="8229600" y="4800600"/>
            <a:ext cx="3383280" cy="548640"/>
          </a:xfrm>
          <a:prstGeom prst="rect">
            <a:avLst/>
          </a:prstGeom>
          <a:noFill/>
          <a:ln/>
        </p:spPr>
        <p:txBody>
          <a:bodyPr wrap="square" lIns="0" tIns="0" rIns="0" bIns="0" rtlCol="0" anchor="t"/>
          <a:lstStyle/>
          <a:p>
            <a:pPr indent="0" marL="0">
              <a:buNone/>
            </a:pPr>
            <a:r>
              <a:rPr lang="en-US" sz="1400" dirty="0">
                <a:solidFill>
                  <a:schemeClr val="tx1"/>
                </a:solidFill>
              </a:rPr>
              <a:t>lucro médio ao exagerar para R$ 90 no 2º preço</a:t>
            </a:r>
            <a:endParaRPr lang="en-US" sz="1400" dirty="0"/>
          </a:p>
        </p:txBody>
      </p:sp>
      <p:sp>
        <p:nvSpPr>
          <p:cNvPr id="12" name="Shape 8"/>
          <p:cNvSpPr/>
          <p:nvPr/>
        </p:nvSpPr>
        <p:spPr>
          <a:xfrm>
            <a:off x="548640" y="5486400"/>
            <a:ext cx="11064240" cy="640080"/>
          </a:xfrm>
          <a:prstGeom prst="roundRect">
            <a:avLst>
              <a:gd name="adj" fmla="val 11429"/>
            </a:avLst>
          </a:prstGeom>
          <a:solidFill>
            <a:schemeClr val="bg2"/>
          </a:solidFill>
          <a:ln/>
        </p:spPr>
      </p:sp>
      <p:sp>
        <p:nvSpPr>
          <p:cNvPr id="13" name="Text 9"/>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600" b="1" dirty="0">
                <a:solidFill>
                  <a:schemeClr val="tx1"/>
                </a:solidFill>
              </a:rPr>
              <a:t>No 2º preço, o lance decide se você ganha, não quanto paga. </a:t>
            </a:r>
            <a:pPr indent="0" marL="0">
              <a:buNone/>
            </a:pPr>
            <a:r>
              <a:rPr lang="en-US" sz="1600" dirty="0">
                <a:solidFill>
                  <a:schemeClr val="tx1"/>
                </a:solidFill>
              </a:rPr>
              <a:t>Dizer a verdade é a estratégia dominante (Vickrey, 1961).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Qual formato rende mais ao vendedor?</a:t>
            </a:r>
            <a:endParaRPr lang="en-US" sz="3400" dirty="0"/>
          </a:p>
        </p:txBody>
      </p:sp>
      <p:sp>
        <p:nvSpPr>
          <p:cNvPr id="4" name="Shape 1"/>
          <p:cNvSpPr/>
          <p:nvPr/>
        </p:nvSpPr>
        <p:spPr>
          <a:xfrm>
            <a:off x="548640" y="1417320"/>
            <a:ext cx="3566160" cy="2103120"/>
          </a:xfrm>
          <a:prstGeom prst="roundRect">
            <a:avLst>
              <a:gd name="adj" fmla="val 3478"/>
            </a:avLst>
          </a:prstGeom>
          <a:solidFill>
            <a:schemeClr val="bg2"/>
          </a:solidFill>
          <a:ln/>
        </p:spPr>
      </p:sp>
      <p:sp>
        <p:nvSpPr>
          <p:cNvPr id="5" name="Text 2"/>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1º preço (selado)</a:t>
            </a:r>
            <a:endParaRPr lang="en-US" sz="1800" dirty="0"/>
          </a:p>
        </p:txBody>
      </p:sp>
      <p:sp>
        <p:nvSpPr>
          <p:cNvPr id="6" name="Text 3"/>
          <p:cNvSpPr txBox="1"/>
          <p:nvPr/>
        </p:nvSpPr>
        <p:spPr>
          <a:xfrm>
            <a:off x="822960" y="2057400"/>
            <a:ext cx="3017520" cy="777240"/>
          </a:xfrm>
          <a:prstGeom prst="rect">
            <a:avLst/>
          </a:prstGeom>
          <a:noFill/>
          <a:ln/>
        </p:spPr>
        <p:txBody>
          <a:bodyPr wrap="square" lIns="0" tIns="0" rIns="0" bIns="0" rtlCol="0" anchor="t"/>
          <a:lstStyle/>
          <a:p>
            <a:pPr indent="0" marL="0">
              <a:buNone/>
            </a:pPr>
            <a:r>
              <a:rPr lang="en-US" sz="4000" b="1" dirty="0">
                <a:solidFill>
                  <a:schemeClr val="accent1"/>
                </a:solidFill>
              </a:rPr>
              <a:t>R$ 66,59</a:t>
            </a:r>
            <a:endParaRPr lang="en-US" sz="4000" dirty="0"/>
          </a:p>
        </p:txBody>
      </p:sp>
      <p:sp>
        <p:nvSpPr>
          <p:cNvPr id="7" name="Text 4"/>
          <p:cNvSpPr txBox="1"/>
          <p:nvPr/>
        </p:nvSpPr>
        <p:spPr>
          <a:xfrm>
            <a:off x="822960" y="288036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desvio-padrão R$ 11,25</a:t>
            </a:r>
            <a:endParaRPr lang="en-US" sz="1400" dirty="0"/>
          </a:p>
        </p:txBody>
      </p:sp>
      <p:sp>
        <p:nvSpPr>
          <p:cNvPr id="8" name="Shape 5"/>
          <p:cNvSpPr/>
          <p:nvPr/>
        </p:nvSpPr>
        <p:spPr>
          <a:xfrm>
            <a:off x="4297680" y="1417320"/>
            <a:ext cx="3566160" cy="2103120"/>
          </a:xfrm>
          <a:prstGeom prst="roundRect">
            <a:avLst>
              <a:gd name="adj" fmla="val 3478"/>
            </a:avLst>
          </a:prstGeom>
          <a:solidFill>
            <a:schemeClr val="bg2"/>
          </a:solidFill>
          <a:ln/>
        </p:spPr>
      </p:sp>
      <p:sp>
        <p:nvSpPr>
          <p:cNvPr id="9" name="Text 6"/>
          <p:cNvSpPr txBox="1"/>
          <p:nvPr/>
        </p:nvSpPr>
        <p:spPr>
          <a:xfrm>
            <a:off x="4572000" y="16002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2º preço (Vickrey)</a:t>
            </a:r>
            <a:endParaRPr lang="en-US" sz="1800" dirty="0"/>
          </a:p>
        </p:txBody>
      </p:sp>
      <p:sp>
        <p:nvSpPr>
          <p:cNvPr id="10" name="Text 7"/>
          <p:cNvSpPr txBox="1"/>
          <p:nvPr/>
        </p:nvSpPr>
        <p:spPr>
          <a:xfrm>
            <a:off x="4572000" y="2057400"/>
            <a:ext cx="3017520" cy="777240"/>
          </a:xfrm>
          <a:prstGeom prst="rect">
            <a:avLst/>
          </a:prstGeom>
          <a:noFill/>
          <a:ln/>
        </p:spPr>
        <p:txBody>
          <a:bodyPr wrap="square" lIns="0" tIns="0" rIns="0" bIns="0" rtlCol="0" anchor="t"/>
          <a:lstStyle/>
          <a:p>
            <a:pPr indent="0" marL="0">
              <a:buNone/>
            </a:pPr>
            <a:r>
              <a:rPr lang="en-US" sz="4000" b="1" dirty="0">
                <a:solidFill>
                  <a:schemeClr val="accent2"/>
                </a:solidFill>
              </a:rPr>
              <a:t>R$ 66,64</a:t>
            </a:r>
            <a:endParaRPr lang="en-US" sz="4000" dirty="0"/>
          </a:p>
        </p:txBody>
      </p:sp>
      <p:sp>
        <p:nvSpPr>
          <p:cNvPr id="11" name="Text 8"/>
          <p:cNvSpPr txBox="1"/>
          <p:nvPr/>
        </p:nvSpPr>
        <p:spPr>
          <a:xfrm>
            <a:off x="4572000" y="288036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desvio-padrão R$ 17,75</a:t>
            </a:r>
            <a:endParaRPr lang="en-US" sz="1400" dirty="0"/>
          </a:p>
        </p:txBody>
      </p:sp>
      <p:sp>
        <p:nvSpPr>
          <p:cNvPr id="12" name="Shape 9"/>
          <p:cNvSpPr/>
          <p:nvPr/>
        </p:nvSpPr>
        <p:spPr>
          <a:xfrm>
            <a:off x="8046720" y="1417320"/>
            <a:ext cx="3566160" cy="2103120"/>
          </a:xfrm>
          <a:prstGeom prst="roundRect">
            <a:avLst>
              <a:gd name="adj" fmla="val 3478"/>
            </a:avLst>
          </a:prstGeom>
          <a:solidFill>
            <a:schemeClr val="bg2"/>
          </a:solidFill>
          <a:ln/>
        </p:spPr>
      </p:sp>
      <p:sp>
        <p:nvSpPr>
          <p:cNvPr id="13" name="Text 10"/>
          <p:cNvSpPr txBox="1"/>
          <p:nvPr/>
        </p:nvSpPr>
        <p:spPr>
          <a:xfrm>
            <a:off x="8321040" y="1600200"/>
            <a:ext cx="3017520" cy="411480"/>
          </a:xfrm>
          <a:prstGeom prst="rect">
            <a:avLst/>
          </a:prstGeom>
          <a:noFill/>
          <a:ln/>
        </p:spPr>
        <p:txBody>
          <a:bodyPr wrap="square" lIns="0" tIns="0" rIns="0" bIns="0" rtlCol="0" anchor="t"/>
          <a:lstStyle/>
          <a:p>
            <a:pPr indent="0" marL="0">
              <a:buNone/>
            </a:pPr>
            <a:r>
              <a:rPr lang="en-US" sz="1800" b="1" dirty="0">
                <a:solidFill>
                  <a:schemeClr val="tx2"/>
                </a:solidFill>
              </a:rPr>
              <a:t>Inglês (ascendente)</a:t>
            </a:r>
            <a:endParaRPr lang="en-US" sz="1800" dirty="0"/>
          </a:p>
        </p:txBody>
      </p:sp>
      <p:sp>
        <p:nvSpPr>
          <p:cNvPr id="14" name="Text 11"/>
          <p:cNvSpPr txBox="1"/>
          <p:nvPr/>
        </p:nvSpPr>
        <p:spPr>
          <a:xfrm>
            <a:off x="8321040" y="2057400"/>
            <a:ext cx="3017520" cy="777240"/>
          </a:xfrm>
          <a:prstGeom prst="rect">
            <a:avLst/>
          </a:prstGeom>
          <a:noFill/>
          <a:ln/>
        </p:spPr>
        <p:txBody>
          <a:bodyPr wrap="square" lIns="0" tIns="0" rIns="0" bIns="0" rtlCol="0" anchor="t"/>
          <a:lstStyle/>
          <a:p>
            <a:pPr indent="0" marL="0">
              <a:buNone/>
            </a:pPr>
            <a:r>
              <a:rPr lang="en-US" sz="4000" b="1" dirty="0">
                <a:solidFill>
                  <a:schemeClr val="accent4"/>
                </a:solidFill>
              </a:rPr>
              <a:t>R$ 67,64</a:t>
            </a:r>
            <a:endParaRPr lang="en-US" sz="4000" dirty="0"/>
          </a:p>
        </p:txBody>
      </p:sp>
      <p:sp>
        <p:nvSpPr>
          <p:cNvPr id="15" name="Text 12"/>
          <p:cNvSpPr txBox="1"/>
          <p:nvPr/>
        </p:nvSpPr>
        <p:spPr>
          <a:xfrm>
            <a:off x="8321040" y="2880360"/>
            <a:ext cx="3017520" cy="365760"/>
          </a:xfrm>
          <a:prstGeom prst="rect">
            <a:avLst/>
          </a:prstGeom>
          <a:noFill/>
          <a:ln/>
        </p:spPr>
        <p:txBody>
          <a:bodyPr wrap="square" lIns="0" tIns="0" rIns="0" bIns="0" rtlCol="0" anchor="t"/>
          <a:lstStyle/>
          <a:p>
            <a:pPr indent="0" marL="0">
              <a:buNone/>
            </a:pPr>
            <a:r>
              <a:rPr lang="en-US" sz="1400" dirty="0">
                <a:solidFill>
                  <a:schemeClr val="accent6"/>
                </a:solidFill>
              </a:rPr>
              <a:t>inclui R$ 1 de incremento</a:t>
            </a:r>
            <a:endParaRPr lang="en-US" sz="1400" dirty="0"/>
          </a:p>
        </p:txBody>
      </p:sp>
      <p:sp>
        <p:nvSpPr>
          <p:cNvPr id="16" name="Text 13"/>
          <p:cNvSpPr txBox="1"/>
          <p:nvPr/>
        </p:nvSpPr>
        <p:spPr>
          <a:xfrm>
            <a:off x="548640" y="3703320"/>
            <a:ext cx="11064240" cy="457200"/>
          </a:xfrm>
          <a:prstGeom prst="rect">
            <a:avLst/>
          </a:prstGeom>
          <a:noFill/>
          <a:ln/>
        </p:spPr>
        <p:txBody>
          <a:bodyPr wrap="square" lIns="0" tIns="0" rIns="0" bIns="0" rtlCol="0" anchor="t"/>
          <a:lstStyle/>
          <a:p>
            <a:pPr indent="0" marL="0">
              <a:buNone/>
            </a:pPr>
            <a:r>
              <a:rPr lang="en-US" sz="1800" b="1" dirty="0">
                <a:solidFill>
                  <a:schemeClr val="accent4"/>
                </a:solidFill>
              </a:rPr>
              <a:t>Teoria com 5 licitantes: (n − 1) / (n + 1) × 100 = R$ 66,67 de receita média</a:t>
            </a:r>
            <a:endParaRPr lang="en-US" sz="1800" dirty="0"/>
          </a:p>
        </p:txBody>
      </p:sp>
      <p:sp>
        <p:nvSpPr>
          <p:cNvPr id="17" name="Shape 14"/>
          <p:cNvSpPr/>
          <p:nvPr/>
        </p:nvSpPr>
        <p:spPr>
          <a:xfrm>
            <a:off x="548640" y="4343400"/>
            <a:ext cx="5440680" cy="1691640"/>
          </a:xfrm>
          <a:prstGeom prst="roundRect">
            <a:avLst>
              <a:gd name="adj" fmla="val 4324"/>
            </a:avLst>
          </a:prstGeom>
          <a:solidFill>
            <a:schemeClr val="tx2"/>
          </a:solidFill>
          <a:ln/>
        </p:spPr>
      </p:sp>
      <p:sp>
        <p:nvSpPr>
          <p:cNvPr id="18" name="Text 15"/>
          <p:cNvSpPr txBox="1"/>
          <p:nvPr/>
        </p:nvSpPr>
        <p:spPr>
          <a:xfrm>
            <a:off x="777240" y="4434840"/>
            <a:ext cx="4983480" cy="1508760"/>
          </a:xfrm>
          <a:prstGeom prst="rect">
            <a:avLst/>
          </a:prstGeom>
          <a:noFill/>
          <a:ln/>
        </p:spPr>
        <p:txBody>
          <a:bodyPr wrap="square" lIns="0" tIns="0" rIns="0" bIns="0" rtlCol="0" anchor="ctr"/>
          <a:lstStyle/>
          <a:p>
            <a:pPr indent="0" marL="0">
              <a:buNone/>
            </a:pPr>
            <a:r>
              <a:rPr lang="en-US" sz="1500" b="1" dirty="0">
                <a:solidFill>
                  <a:schemeClr val="accent3"/>
                </a:solidFill>
              </a:rPr>
              <a:t>Equivalência de receita</a:t>
            </a:r>
            <a:endParaRPr lang="en-US" sz="1500" dirty="0"/>
          </a:p>
          <a:p>
            <a:pPr indent="0" marL="0">
              <a:buNone/>
            </a:pPr>
            <a:r>
              <a:rPr lang="en-US" sz="1500" dirty="0">
                <a:solidFill>
                  <a:schemeClr val="bg1"/>
                </a:solidFill>
              </a:rPr>
              <a:t>Com licitantes neutros ao risco e valores independentes, os formatos rendem o mesmo em média (Vickrey, 1961; Myerson, 1981; Riley e Samuelson, 1981).</a:t>
            </a:r>
            <a:endParaRPr lang="en-US" sz="1500" dirty="0"/>
          </a:p>
        </p:txBody>
      </p:sp>
      <p:sp>
        <p:nvSpPr>
          <p:cNvPr id="19" name="Shape 16"/>
          <p:cNvSpPr/>
          <p:nvPr/>
        </p:nvSpPr>
        <p:spPr>
          <a:xfrm>
            <a:off x="6172200" y="4343400"/>
            <a:ext cx="5440680" cy="1691640"/>
          </a:xfrm>
          <a:prstGeom prst="roundRect">
            <a:avLst>
              <a:gd name="adj" fmla="val 4324"/>
            </a:avLst>
          </a:prstGeom>
          <a:solidFill>
            <a:schemeClr val="tx2"/>
          </a:solidFill>
          <a:ln/>
        </p:spPr>
      </p:sp>
      <p:sp>
        <p:nvSpPr>
          <p:cNvPr id="20" name="Text 17"/>
          <p:cNvSpPr txBox="1"/>
          <p:nvPr/>
        </p:nvSpPr>
        <p:spPr>
          <a:xfrm>
            <a:off x="6400800" y="4434840"/>
            <a:ext cx="4983480" cy="1508760"/>
          </a:xfrm>
          <a:prstGeom prst="rect">
            <a:avLst/>
          </a:prstGeom>
          <a:noFill/>
          <a:ln/>
        </p:spPr>
        <p:txBody>
          <a:bodyPr wrap="square" lIns="0" tIns="0" rIns="0" bIns="0" rtlCol="0" anchor="ctr"/>
          <a:lstStyle/>
          <a:p>
            <a:pPr indent="0" marL="0">
              <a:buNone/>
            </a:pPr>
            <a:r>
              <a:rPr lang="en-US" sz="1500" b="1" dirty="0">
                <a:solidFill>
                  <a:schemeClr val="accent3"/>
                </a:solidFill>
              </a:rPr>
              <a:t>Concorrência importa mais que o formato</a:t>
            </a:r>
            <a:endParaRPr lang="en-US" sz="1500" dirty="0"/>
          </a:p>
          <a:p>
            <a:pPr indent="0" marL="0">
              <a:buNone/>
            </a:pPr>
            <a:r>
              <a:rPr lang="en-US" sz="1500" dirty="0">
                <a:solidFill>
                  <a:schemeClr val="bg1"/>
                </a:solidFill>
              </a:rPr>
              <a:t>2 licitantes → cerca de R$ 33; 10 licitantes → cerca de R$ 82. Por isso o pregão busca atrair mais participantes.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05</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Cooperação e comportamento emergente</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Dilema do Prisioneiro, Axelrod, robôs de preço, pescadores, Boids e Schelling · Notebook, Seção 6</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Quatro formas de coordenar agentes</a:t>
            </a:r>
            <a:endParaRPr lang="en-US" sz="3400" dirty="0"/>
          </a:p>
        </p:txBody>
      </p:sp>
      <p:sp>
        <p:nvSpPr>
          <p:cNvPr id="4" name="Shape 1"/>
          <p:cNvSpPr/>
          <p:nvPr/>
        </p:nvSpPr>
        <p:spPr>
          <a:xfrm>
            <a:off x="548640" y="1417320"/>
            <a:ext cx="2651760" cy="3566160"/>
          </a:xfrm>
          <a:prstGeom prst="roundRect">
            <a:avLst>
              <a:gd name="adj" fmla="val 2759"/>
            </a:avLst>
          </a:prstGeom>
          <a:solidFill>
            <a:schemeClr val="bg2"/>
          </a:solidFill>
          <a:ln/>
        </p:spPr>
      </p:sp>
      <p:sp>
        <p:nvSpPr>
          <p:cNvPr id="5" name="Shape 2"/>
          <p:cNvSpPr/>
          <p:nvPr/>
        </p:nvSpPr>
        <p:spPr>
          <a:xfrm>
            <a:off x="777240" y="1645920"/>
            <a:ext cx="640080" cy="640080"/>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3"/>
          <p:cNvSpPr txBox="1"/>
          <p:nvPr/>
        </p:nvSpPr>
        <p:spPr>
          <a:xfrm>
            <a:off x="777240"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Planos</a:t>
            </a:r>
            <a:endParaRPr lang="en-US" sz="2000" dirty="0"/>
          </a:p>
        </p:txBody>
      </p:sp>
      <p:sp>
        <p:nvSpPr>
          <p:cNvPr id="8" name="Text 4"/>
          <p:cNvSpPr txBox="1"/>
          <p:nvPr/>
        </p:nvSpPr>
        <p:spPr>
          <a:xfrm>
            <a:off x="777240" y="2834640"/>
            <a:ext cx="2194560" cy="19659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Agentes compartilham e sincronizam planos.</a:t>
            </a:r>
            <a:endParaRPr lang="en-US" sz="1600" dirty="0"/>
          </a:p>
          <a:p>
            <a:pPr indent="0" marL="0">
              <a:spcAft>
                <a:spcPts val="600"/>
              </a:spcAft>
              <a:buNone/>
            </a:pPr>
            <a:r>
              <a:rPr lang="en-US" sz="1400" i="1" dirty="0">
                <a:solidFill>
                  <a:schemeClr val="accent4"/>
                </a:solidFill>
              </a:rPr>
              <a:t>Na prática: Robôs de armazém reservam trechos do corredor.</a:t>
            </a:r>
            <a:endParaRPr lang="en-US" sz="1600" dirty="0"/>
          </a:p>
          <a:p>
            <a:pPr indent="0" marL="0">
              <a:spcAft>
                <a:spcPts val="600"/>
              </a:spcAft>
              <a:buNone/>
            </a:pPr>
            <a:r>
              <a:rPr lang="en-US" sz="1200" dirty="0">
                <a:solidFill>
                  <a:schemeClr val="accent6"/>
                </a:solidFill>
              </a:rPr>
              <a:t>Durfee e Lesser (1991)</a:t>
            </a:r>
            <a:endParaRPr lang="en-US" sz="1600" dirty="0"/>
          </a:p>
        </p:txBody>
      </p:sp>
      <p:sp>
        <p:nvSpPr>
          <p:cNvPr id="9" name="Shape 5"/>
          <p:cNvSpPr/>
          <p:nvPr/>
        </p:nvSpPr>
        <p:spPr>
          <a:xfrm>
            <a:off x="3353105" y="1417320"/>
            <a:ext cx="2651760" cy="3566160"/>
          </a:xfrm>
          <a:prstGeom prst="roundRect">
            <a:avLst>
              <a:gd name="adj" fmla="val 2759"/>
            </a:avLst>
          </a:prstGeom>
          <a:solidFill>
            <a:schemeClr val="bg2"/>
          </a:solidFill>
          <a:ln/>
        </p:spPr>
      </p:sp>
      <p:sp>
        <p:nvSpPr>
          <p:cNvPr id="10" name="Shape 6"/>
          <p:cNvSpPr/>
          <p:nvPr/>
        </p:nvSpPr>
        <p:spPr>
          <a:xfrm>
            <a:off x="3581705" y="1645920"/>
            <a:ext cx="640080" cy="64008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3735324" y="1799539"/>
            <a:ext cx="332842" cy="332842"/>
          </a:xfrm>
          <a:prstGeom prst="rect">
            <a:avLst/>
          </a:prstGeom>
        </p:spPr>
      </p:pic>
      <p:sp>
        <p:nvSpPr>
          <p:cNvPr id="12" name="Text 7"/>
          <p:cNvSpPr txBox="1"/>
          <p:nvPr/>
        </p:nvSpPr>
        <p:spPr>
          <a:xfrm>
            <a:off x="3581705"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Normas</a:t>
            </a:r>
            <a:endParaRPr lang="en-US" sz="2000" dirty="0"/>
          </a:p>
        </p:txBody>
      </p:sp>
      <p:sp>
        <p:nvSpPr>
          <p:cNvPr id="13" name="Text 8"/>
          <p:cNvSpPr txBox="1"/>
          <p:nvPr/>
        </p:nvSpPr>
        <p:spPr>
          <a:xfrm>
            <a:off x="3581705" y="2834640"/>
            <a:ext cx="2194560" cy="19659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Leis sociais dispensam negociar a cada encontro.</a:t>
            </a:r>
            <a:endParaRPr lang="en-US" sz="1600" dirty="0"/>
          </a:p>
          <a:p>
            <a:pPr indent="0" marL="0">
              <a:spcAft>
                <a:spcPts val="600"/>
              </a:spcAft>
              <a:buNone/>
            </a:pPr>
            <a:r>
              <a:rPr lang="en-US" sz="1400" i="1" dirty="0">
                <a:solidFill>
                  <a:schemeClr val="accent4"/>
                </a:solidFill>
              </a:rPr>
              <a:t>Na prática: O TCP reduz o envio quando a rede congestiona.</a:t>
            </a:r>
            <a:endParaRPr lang="en-US" sz="1600" dirty="0"/>
          </a:p>
          <a:p>
            <a:pPr indent="0" marL="0">
              <a:spcAft>
                <a:spcPts val="600"/>
              </a:spcAft>
              <a:buNone/>
            </a:pPr>
            <a:r>
              <a:rPr lang="en-US" sz="1200" dirty="0">
                <a:solidFill>
                  <a:schemeClr val="accent6"/>
                </a:solidFill>
              </a:rPr>
              <a:t>Shoham e Tennenholtz (1995)</a:t>
            </a:r>
            <a:endParaRPr lang="en-US" sz="1600" dirty="0"/>
          </a:p>
        </p:txBody>
      </p:sp>
      <p:sp>
        <p:nvSpPr>
          <p:cNvPr id="14" name="Shape 9"/>
          <p:cNvSpPr/>
          <p:nvPr/>
        </p:nvSpPr>
        <p:spPr>
          <a:xfrm>
            <a:off x="6157570" y="1417320"/>
            <a:ext cx="2651760" cy="3566160"/>
          </a:xfrm>
          <a:prstGeom prst="roundRect">
            <a:avLst>
              <a:gd name="adj" fmla="val 2759"/>
            </a:avLst>
          </a:prstGeom>
          <a:solidFill>
            <a:schemeClr val="bg2"/>
          </a:solidFill>
          <a:ln/>
        </p:spPr>
      </p:sp>
      <p:sp>
        <p:nvSpPr>
          <p:cNvPr id="15" name="Shape 10"/>
          <p:cNvSpPr/>
          <p:nvPr/>
        </p:nvSpPr>
        <p:spPr>
          <a:xfrm>
            <a:off x="6386170" y="1645920"/>
            <a:ext cx="640080" cy="64008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539789" y="1799539"/>
            <a:ext cx="332842" cy="332842"/>
          </a:xfrm>
          <a:prstGeom prst="rect">
            <a:avLst/>
          </a:prstGeom>
        </p:spPr>
      </p:pic>
      <p:sp>
        <p:nvSpPr>
          <p:cNvPr id="17" name="Text 11"/>
          <p:cNvSpPr txBox="1"/>
          <p:nvPr/>
        </p:nvSpPr>
        <p:spPr>
          <a:xfrm>
            <a:off x="6386170"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Mercado</a:t>
            </a:r>
            <a:endParaRPr lang="en-US" sz="2000" dirty="0"/>
          </a:p>
        </p:txBody>
      </p:sp>
      <p:sp>
        <p:nvSpPr>
          <p:cNvPr id="18" name="Text 12"/>
          <p:cNvSpPr txBox="1"/>
          <p:nvPr/>
        </p:nvSpPr>
        <p:spPr>
          <a:xfrm>
            <a:off x="6386170" y="2834640"/>
            <a:ext cx="2194560" cy="19659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Preços, leilões e contratos.</a:t>
            </a:r>
            <a:endParaRPr lang="en-US" sz="1600" dirty="0"/>
          </a:p>
          <a:p>
            <a:pPr indent="0" marL="0">
              <a:spcAft>
                <a:spcPts val="600"/>
              </a:spcAft>
              <a:buNone/>
            </a:pPr>
            <a:r>
              <a:rPr lang="en-US" sz="1400" i="1" dirty="0">
                <a:solidFill>
                  <a:schemeClr val="accent4"/>
                </a:solidFill>
              </a:rPr>
              <a:t>Na prática: Contract Net, Google Ads, pregão eletrônico.</a:t>
            </a:r>
            <a:endParaRPr lang="en-US" sz="1600" dirty="0"/>
          </a:p>
          <a:p>
            <a:pPr indent="0" marL="0">
              <a:spcAft>
                <a:spcPts val="600"/>
              </a:spcAft>
              <a:buNone/>
            </a:pPr>
            <a:r>
              <a:rPr lang="en-US" sz="1200" dirty="0">
                <a:solidFill>
                  <a:schemeClr val="accent6"/>
                </a:solidFill>
              </a:rPr>
              <a:t>Wellman (1993)</a:t>
            </a:r>
            <a:endParaRPr lang="en-US" sz="1600" dirty="0"/>
          </a:p>
        </p:txBody>
      </p:sp>
      <p:sp>
        <p:nvSpPr>
          <p:cNvPr id="19" name="Shape 13"/>
          <p:cNvSpPr/>
          <p:nvPr/>
        </p:nvSpPr>
        <p:spPr>
          <a:xfrm>
            <a:off x="8962034" y="1417320"/>
            <a:ext cx="2651760" cy="3566160"/>
          </a:xfrm>
          <a:prstGeom prst="roundRect">
            <a:avLst>
              <a:gd name="adj" fmla="val 2759"/>
            </a:avLst>
          </a:prstGeom>
          <a:solidFill>
            <a:schemeClr val="bg2"/>
          </a:solidFill>
          <a:ln/>
        </p:spPr>
      </p:sp>
      <p:sp>
        <p:nvSpPr>
          <p:cNvPr id="20" name="Shape 14"/>
          <p:cNvSpPr/>
          <p:nvPr/>
        </p:nvSpPr>
        <p:spPr>
          <a:xfrm>
            <a:off x="9190634" y="1645920"/>
            <a:ext cx="640080" cy="640080"/>
          </a:xfrm>
          <a:prstGeom prst="ellipse">
            <a:avLst/>
          </a:prstGeom>
          <a:solidFill>
            <a:schemeClr val="accent5"/>
          </a:solidFill>
          <a:ln/>
        </p:spPr>
      </p:sp>
      <p:pic>
        <p:nvPicPr>
          <p:cNvPr id="21" name="Image 3" descr="preencoded.png">    </p:cNvPr>
          <p:cNvPicPr>
            <a:picLocks noChangeAspect="1"/>
          </p:cNvPicPr>
          <p:nvPr/>
        </p:nvPicPr>
        <p:blipFill>
          <a:blip r:embed="rId4"/>
          <a:stretch>
            <a:fillRect/>
          </a:stretch>
        </p:blipFill>
        <p:spPr>
          <a:xfrm>
            <a:off x="9344254" y="1799539"/>
            <a:ext cx="332842" cy="332842"/>
          </a:xfrm>
          <a:prstGeom prst="rect">
            <a:avLst/>
          </a:prstGeom>
        </p:spPr>
      </p:pic>
      <p:sp>
        <p:nvSpPr>
          <p:cNvPr id="22" name="Text 15"/>
          <p:cNvSpPr txBox="1"/>
          <p:nvPr/>
        </p:nvSpPr>
        <p:spPr>
          <a:xfrm>
            <a:off x="9190634" y="2377440"/>
            <a:ext cx="2194560" cy="411480"/>
          </a:xfrm>
          <a:prstGeom prst="rect">
            <a:avLst/>
          </a:prstGeom>
          <a:noFill/>
          <a:ln/>
        </p:spPr>
        <p:txBody>
          <a:bodyPr wrap="square" lIns="0" tIns="0" rIns="0" bIns="0" rtlCol="0" anchor="t"/>
          <a:lstStyle/>
          <a:p>
            <a:pPr indent="0" marL="0">
              <a:buNone/>
            </a:pPr>
            <a:r>
              <a:rPr lang="en-US" sz="2000" b="1" dirty="0">
                <a:solidFill>
                  <a:schemeClr val="tx2"/>
                </a:solidFill>
              </a:rPr>
              <a:t>Emergente</a:t>
            </a:r>
            <a:endParaRPr lang="en-US" sz="2000" dirty="0"/>
          </a:p>
        </p:txBody>
      </p:sp>
      <p:sp>
        <p:nvSpPr>
          <p:cNvPr id="23" name="Text 16"/>
          <p:cNvSpPr txBox="1"/>
          <p:nvPr/>
        </p:nvSpPr>
        <p:spPr>
          <a:xfrm>
            <a:off x="9190634" y="2834640"/>
            <a:ext cx="2194560" cy="19659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Padrões globais surgem de regras locais.</a:t>
            </a:r>
            <a:endParaRPr lang="en-US" sz="1600" dirty="0"/>
          </a:p>
          <a:p>
            <a:pPr indent="0" marL="0">
              <a:spcAft>
                <a:spcPts val="600"/>
              </a:spcAft>
              <a:buNone/>
            </a:pPr>
            <a:r>
              <a:rPr lang="en-US" sz="1400" i="1" dirty="0">
                <a:solidFill>
                  <a:schemeClr val="accent4"/>
                </a:solidFill>
              </a:rPr>
              <a:t>Na prática: Bandos, enxames, colônias de formigas.</a:t>
            </a:r>
            <a:endParaRPr lang="en-US" sz="1600" dirty="0"/>
          </a:p>
          <a:p>
            <a:pPr indent="0" marL="0">
              <a:spcAft>
                <a:spcPts val="600"/>
              </a:spcAft>
              <a:buNone/>
            </a:pPr>
            <a:r>
              <a:rPr lang="en-US" sz="1200" dirty="0">
                <a:solidFill>
                  <a:schemeClr val="accent6"/>
                </a:solidFill>
              </a:rPr>
              <a:t>Bonabeau, Dorigo e Theraulaz (1999)</a:t>
            </a:r>
            <a:endParaRPr lang="en-US" sz="1600" dirty="0"/>
          </a:p>
        </p:txBody>
      </p:sp>
      <p:sp>
        <p:nvSpPr>
          <p:cNvPr id="24" name="Shape 17"/>
          <p:cNvSpPr/>
          <p:nvPr/>
        </p:nvSpPr>
        <p:spPr>
          <a:xfrm>
            <a:off x="548640" y="5212080"/>
            <a:ext cx="11064240" cy="868680"/>
          </a:xfrm>
          <a:prstGeom prst="roundRect">
            <a:avLst>
              <a:gd name="adj" fmla="val 8421"/>
            </a:avLst>
          </a:prstGeom>
          <a:solidFill>
            <a:schemeClr val="bg2"/>
          </a:solidFill>
          <a:ln/>
        </p:spPr>
      </p:sp>
      <p:sp>
        <p:nvSpPr>
          <p:cNvPr id="25" name="Text 18"/>
          <p:cNvSpPr txBox="1"/>
          <p:nvPr/>
        </p:nvSpPr>
        <p:spPr>
          <a:xfrm>
            <a:off x="777240" y="5257800"/>
            <a:ext cx="10607040" cy="777240"/>
          </a:xfrm>
          <a:prstGeom prst="rect">
            <a:avLst/>
          </a:prstGeom>
          <a:noFill/>
          <a:ln/>
        </p:spPr>
        <p:txBody>
          <a:bodyPr wrap="square" lIns="0" tIns="0" rIns="0" bIns="0" rtlCol="0" anchor="ctr"/>
          <a:lstStyle/>
          <a:p>
            <a:pPr indent="0" marL="0">
              <a:buNone/>
            </a:pPr>
            <a:r>
              <a:rPr lang="en-US" sz="1600" b="1" dirty="0">
                <a:solidFill>
                  <a:schemeClr val="tx1"/>
                </a:solidFill>
              </a:rPr>
              <a:t>Cooperativos </a:t>
            </a:r>
            <a:pPr indent="0" marL="0">
              <a:buNone/>
            </a:pPr>
            <a:r>
              <a:rPr lang="en-US" sz="1600" dirty="0">
                <a:solidFill>
                  <a:schemeClr val="tx1"/>
                </a:solidFill>
              </a:rPr>
              <a:t>(robôs do mesmo armazém)  ·  </a:t>
            </a:r>
            <a:pPr indent="0" marL="0">
              <a:buNone/>
            </a:pPr>
            <a:r>
              <a:rPr lang="en-US" sz="1600" b="1" dirty="0">
                <a:solidFill>
                  <a:schemeClr val="tx1"/>
                </a:solidFill>
              </a:rPr>
              <a:t>Competitivos </a:t>
            </a:r>
            <a:pPr indent="0" marL="0">
              <a:buNone/>
            </a:pPr>
            <a:r>
              <a:rPr lang="en-US" sz="1600" dirty="0">
                <a:solidFill>
                  <a:schemeClr val="tx1"/>
                </a:solidFill>
              </a:rPr>
              <a:t>(robôs de preço rivais)  ·  </a:t>
            </a:r>
            <a:pPr indent="0" marL="0">
              <a:buNone/>
            </a:pPr>
            <a:r>
              <a:rPr lang="en-US" sz="1600" b="1" dirty="0">
                <a:solidFill>
                  <a:schemeClr val="tx1"/>
                </a:solidFill>
              </a:rPr>
              <a:t>Mistos </a:t>
            </a:r>
            <a:pPr indent="0" marL="0">
              <a:buNone/>
            </a:pPr>
            <a:r>
              <a:rPr lang="en-US" sz="1600" dirty="0">
                <a:solidFill>
                  <a:schemeClr val="tx1"/>
                </a:solidFill>
              </a:rPr>
              <a:t>(codeshare entre companhias aéreas)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Dilema do Prisioneiro</a:t>
            </a:r>
            <a:endParaRPr lang="en-US" sz="3400" dirty="0"/>
          </a:p>
        </p:txBody>
      </p:sp>
      <p:sp>
        <p:nvSpPr>
          <p:cNvPr id="4" name="Text 1"/>
          <p:cNvSpPr txBox="1"/>
          <p:nvPr/>
        </p:nvSpPr>
        <p:spPr>
          <a:xfrm>
            <a:off x="2514600" y="1691640"/>
            <a:ext cx="2194560" cy="365760"/>
          </a:xfrm>
          <a:prstGeom prst="rect">
            <a:avLst/>
          </a:prstGeom>
          <a:noFill/>
          <a:ln/>
        </p:spPr>
        <p:txBody>
          <a:bodyPr wrap="square" lIns="0" tIns="0" rIns="0" bIns="0" rtlCol="0" anchor="t"/>
          <a:lstStyle/>
          <a:p>
            <a:pPr algn="ctr" indent="0" marL="0">
              <a:buNone/>
            </a:pPr>
            <a:r>
              <a:rPr lang="en-US" sz="1500" b="1" dirty="0">
                <a:solidFill>
                  <a:schemeClr val="tx2"/>
                </a:solidFill>
              </a:rPr>
              <a:t>Outro coopera</a:t>
            </a:r>
            <a:endParaRPr lang="en-US" sz="1500" dirty="0"/>
          </a:p>
        </p:txBody>
      </p:sp>
      <p:sp>
        <p:nvSpPr>
          <p:cNvPr id="5" name="Text 2"/>
          <p:cNvSpPr txBox="1"/>
          <p:nvPr/>
        </p:nvSpPr>
        <p:spPr>
          <a:xfrm>
            <a:off x="4800600" y="1691640"/>
            <a:ext cx="2194560" cy="365760"/>
          </a:xfrm>
          <a:prstGeom prst="rect">
            <a:avLst/>
          </a:prstGeom>
          <a:noFill/>
          <a:ln/>
        </p:spPr>
        <p:txBody>
          <a:bodyPr wrap="square" lIns="0" tIns="0" rIns="0" bIns="0" rtlCol="0" anchor="t"/>
          <a:lstStyle/>
          <a:p>
            <a:pPr algn="ctr" indent="0" marL="0">
              <a:buNone/>
            </a:pPr>
            <a:r>
              <a:rPr lang="en-US" sz="1500" b="1" dirty="0">
                <a:solidFill>
                  <a:schemeClr val="tx2"/>
                </a:solidFill>
              </a:rPr>
              <a:t>Outro trai</a:t>
            </a:r>
            <a:endParaRPr lang="en-US" sz="1500" dirty="0"/>
          </a:p>
        </p:txBody>
      </p:sp>
      <p:sp>
        <p:nvSpPr>
          <p:cNvPr id="6" name="Text 3"/>
          <p:cNvSpPr txBox="1"/>
          <p:nvPr/>
        </p:nvSpPr>
        <p:spPr>
          <a:xfrm>
            <a:off x="548640" y="2148840"/>
            <a:ext cx="1828800" cy="1234440"/>
          </a:xfrm>
          <a:prstGeom prst="rect">
            <a:avLst/>
          </a:prstGeom>
          <a:noFill/>
          <a:ln/>
        </p:spPr>
        <p:txBody>
          <a:bodyPr wrap="square" lIns="0" tIns="0" rIns="0" bIns="0" rtlCol="0" anchor="ctr"/>
          <a:lstStyle/>
          <a:p>
            <a:pPr indent="0" marL="0">
              <a:buNone/>
            </a:pPr>
            <a:r>
              <a:rPr lang="en-US" sz="1500" b="1" dirty="0">
                <a:solidFill>
                  <a:schemeClr val="tx2"/>
                </a:solidFill>
              </a:rPr>
              <a:t>Eu coopero</a:t>
            </a:r>
            <a:endParaRPr lang="en-US" sz="1500" dirty="0"/>
          </a:p>
        </p:txBody>
      </p:sp>
      <p:sp>
        <p:nvSpPr>
          <p:cNvPr id="7" name="Text 4"/>
          <p:cNvSpPr txBox="1"/>
          <p:nvPr/>
        </p:nvSpPr>
        <p:spPr>
          <a:xfrm>
            <a:off x="548640" y="3474720"/>
            <a:ext cx="1828800" cy="1234440"/>
          </a:xfrm>
          <a:prstGeom prst="rect">
            <a:avLst/>
          </a:prstGeom>
          <a:noFill/>
          <a:ln/>
        </p:spPr>
        <p:txBody>
          <a:bodyPr wrap="square" lIns="0" tIns="0" rIns="0" bIns="0" rtlCol="0" anchor="ctr"/>
          <a:lstStyle/>
          <a:p>
            <a:pPr indent="0" marL="0">
              <a:buNone/>
            </a:pPr>
            <a:r>
              <a:rPr lang="en-US" sz="1500" b="1" dirty="0">
                <a:solidFill>
                  <a:schemeClr val="tx2"/>
                </a:solidFill>
              </a:rPr>
              <a:t>Eu traio</a:t>
            </a:r>
            <a:endParaRPr lang="en-US" sz="1500" dirty="0"/>
          </a:p>
        </p:txBody>
      </p:sp>
      <p:sp>
        <p:nvSpPr>
          <p:cNvPr id="8" name="Text 5"/>
          <p:cNvSpPr/>
          <p:nvPr/>
        </p:nvSpPr>
        <p:spPr>
          <a:xfrm>
            <a:off x="2514600" y="2148840"/>
            <a:ext cx="2194560" cy="1234440"/>
          </a:xfrm>
          <a:prstGeom prst="rect">
            <a:avLst/>
          </a:prstGeom>
          <a:solidFill>
            <a:schemeClr val="bg2"/>
          </a:solidFill>
          <a:ln w="38100">
            <a:solidFill>
              <a:schemeClr val="bg1"/>
            </a:solidFill>
          </a:ln>
        </p:spPr>
        <p:txBody>
          <a:bodyPr wrap="square" lIns="0" tIns="0" rIns="0" bIns="0" rtlCol="0" anchor="ctr"/>
          <a:lstStyle/>
          <a:p>
            <a:pPr algn="ctr" indent="0" marL="0">
              <a:buNone/>
            </a:pPr>
            <a:r>
              <a:rPr lang="en-US" sz="2800" b="1" dirty="0">
                <a:solidFill>
                  <a:schemeClr val="tx1"/>
                </a:solidFill>
              </a:rPr>
              <a:t>3 , 3</a:t>
            </a:r>
            <a:endParaRPr lang="en-US" sz="2800" dirty="0"/>
          </a:p>
          <a:p>
            <a:pPr algn="ctr" indent="0" marL="0">
              <a:buNone/>
            </a:pPr>
            <a:r>
              <a:rPr lang="en-US" sz="1300" dirty="0">
                <a:solidFill>
                  <a:schemeClr val="tx1"/>
                </a:solidFill>
              </a:rPr>
              <a:t>recompensa mútua</a:t>
            </a:r>
            <a:endParaRPr lang="en-US" sz="2800" dirty="0"/>
          </a:p>
        </p:txBody>
      </p:sp>
      <p:sp>
        <p:nvSpPr>
          <p:cNvPr id="9" name="Text 6"/>
          <p:cNvSpPr/>
          <p:nvPr/>
        </p:nvSpPr>
        <p:spPr>
          <a:xfrm>
            <a:off x="4800600" y="2148840"/>
            <a:ext cx="2194560" cy="1234440"/>
          </a:xfrm>
          <a:prstGeom prst="rect">
            <a:avLst/>
          </a:prstGeom>
          <a:solidFill>
            <a:schemeClr val="bg2"/>
          </a:solidFill>
          <a:ln w="38100">
            <a:solidFill>
              <a:schemeClr val="bg1"/>
            </a:solidFill>
          </a:ln>
        </p:spPr>
        <p:txBody>
          <a:bodyPr wrap="square" lIns="0" tIns="0" rIns="0" bIns="0" rtlCol="0" anchor="ctr"/>
          <a:lstStyle/>
          <a:p>
            <a:pPr algn="ctr" indent="0" marL="0">
              <a:buNone/>
            </a:pPr>
            <a:r>
              <a:rPr lang="en-US" sz="2800" b="1" dirty="0">
                <a:solidFill>
                  <a:schemeClr val="tx1"/>
                </a:solidFill>
              </a:rPr>
              <a:t>0 , 5</a:t>
            </a:r>
            <a:endParaRPr lang="en-US" sz="2800" dirty="0"/>
          </a:p>
          <a:p>
            <a:pPr algn="ctr" indent="0" marL="0">
              <a:buNone/>
            </a:pPr>
            <a:r>
              <a:rPr lang="en-US" sz="1300" dirty="0">
                <a:solidFill>
                  <a:schemeClr val="tx1"/>
                </a:solidFill>
              </a:rPr>
              <a:t>eu sou o “otário”</a:t>
            </a:r>
            <a:endParaRPr lang="en-US" sz="2800" dirty="0"/>
          </a:p>
        </p:txBody>
      </p:sp>
      <p:sp>
        <p:nvSpPr>
          <p:cNvPr id="10" name="Text 7"/>
          <p:cNvSpPr/>
          <p:nvPr/>
        </p:nvSpPr>
        <p:spPr>
          <a:xfrm>
            <a:off x="2514600" y="3474720"/>
            <a:ext cx="2194560" cy="1234440"/>
          </a:xfrm>
          <a:prstGeom prst="rect">
            <a:avLst/>
          </a:prstGeom>
          <a:solidFill>
            <a:schemeClr val="bg2"/>
          </a:solidFill>
          <a:ln w="38100">
            <a:solidFill>
              <a:schemeClr val="bg1"/>
            </a:solidFill>
          </a:ln>
        </p:spPr>
        <p:txBody>
          <a:bodyPr wrap="square" lIns="0" tIns="0" rIns="0" bIns="0" rtlCol="0" anchor="ctr"/>
          <a:lstStyle/>
          <a:p>
            <a:pPr algn="ctr" indent="0" marL="0">
              <a:buNone/>
            </a:pPr>
            <a:r>
              <a:rPr lang="en-US" sz="2800" b="1" dirty="0">
                <a:solidFill>
                  <a:schemeClr val="tx1"/>
                </a:solidFill>
              </a:rPr>
              <a:t>5 , 0</a:t>
            </a:r>
            <a:endParaRPr lang="en-US" sz="2800" dirty="0"/>
          </a:p>
          <a:p>
            <a:pPr algn="ctr" indent="0" marL="0">
              <a:buNone/>
            </a:pPr>
            <a:r>
              <a:rPr lang="en-US" sz="1300" dirty="0">
                <a:solidFill>
                  <a:schemeClr val="tx1"/>
                </a:solidFill>
              </a:rPr>
              <a:t>tentação</a:t>
            </a:r>
            <a:endParaRPr lang="en-US" sz="2800" dirty="0"/>
          </a:p>
        </p:txBody>
      </p:sp>
      <p:sp>
        <p:nvSpPr>
          <p:cNvPr id="11" name="Text 8"/>
          <p:cNvSpPr/>
          <p:nvPr/>
        </p:nvSpPr>
        <p:spPr>
          <a:xfrm>
            <a:off x="4800600" y="3474720"/>
            <a:ext cx="2194560" cy="1234440"/>
          </a:xfrm>
          <a:prstGeom prst="rect">
            <a:avLst/>
          </a:prstGeom>
          <a:solidFill>
            <a:schemeClr val="accent1"/>
          </a:solidFill>
          <a:ln w="38100">
            <a:solidFill>
              <a:schemeClr val="bg1"/>
            </a:solidFill>
          </a:ln>
        </p:spPr>
        <p:txBody>
          <a:bodyPr wrap="square" lIns="0" tIns="0" rIns="0" bIns="0" rtlCol="0" anchor="ctr"/>
          <a:lstStyle/>
          <a:p>
            <a:pPr algn="ctr" indent="0" marL="0">
              <a:buNone/>
            </a:pPr>
            <a:r>
              <a:rPr lang="en-US" sz="2800" b="1" dirty="0">
                <a:solidFill>
                  <a:schemeClr val="bg1"/>
                </a:solidFill>
              </a:rPr>
              <a:t>1 , 1</a:t>
            </a:r>
            <a:endParaRPr lang="en-US" sz="2800" dirty="0"/>
          </a:p>
          <a:p>
            <a:pPr algn="ctr" indent="0" marL="0">
              <a:buNone/>
            </a:pPr>
            <a:r>
              <a:rPr lang="en-US" sz="1300" dirty="0">
                <a:solidFill>
                  <a:schemeClr val="bg1"/>
                </a:solidFill>
              </a:rPr>
              <a:t>equilíbrio de Nash</a:t>
            </a:r>
            <a:endParaRPr lang="en-US" sz="2800" dirty="0"/>
          </a:p>
        </p:txBody>
      </p:sp>
      <p:sp>
        <p:nvSpPr>
          <p:cNvPr id="12" name="Text 9"/>
          <p:cNvSpPr txBox="1"/>
          <p:nvPr/>
        </p:nvSpPr>
        <p:spPr>
          <a:xfrm>
            <a:off x="2514600" y="4754880"/>
            <a:ext cx="4480560" cy="274320"/>
          </a:xfrm>
          <a:prstGeom prst="rect">
            <a:avLst/>
          </a:prstGeom>
          <a:noFill/>
          <a:ln/>
        </p:spPr>
        <p:txBody>
          <a:bodyPr wrap="square" lIns="0" tIns="0" rIns="0" bIns="0" rtlCol="0" anchor="t"/>
          <a:lstStyle/>
          <a:p>
            <a:pPr algn="ctr" indent="0" marL="0">
              <a:buNone/>
            </a:pPr>
            <a:r>
              <a:rPr lang="en-US" sz="1200" i="1" dirty="0">
                <a:solidFill>
                  <a:schemeClr val="accent6"/>
                </a:solidFill>
              </a:rPr>
              <a:t>pontos: (eu, outro)</a:t>
            </a:r>
            <a:endParaRPr lang="en-US" sz="1200" dirty="0"/>
          </a:p>
        </p:txBody>
      </p:sp>
      <p:sp>
        <p:nvSpPr>
          <p:cNvPr id="13" name="Text 10"/>
          <p:cNvSpPr txBox="1"/>
          <p:nvPr/>
        </p:nvSpPr>
        <p:spPr>
          <a:xfrm>
            <a:off x="7406640" y="1737360"/>
            <a:ext cx="420624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Seja qual for a escolha do outro, trair rende mais para mim: 5 &gt; 3 e 1 &gt; 0.</a:t>
            </a:r>
            <a:endParaRPr lang="en-US" sz="1600" dirty="0"/>
          </a:p>
          <a:p>
            <a:pPr marL="342900" indent="-342900">
              <a:spcAft>
                <a:spcPts val="1000"/>
              </a:spcAft>
              <a:buSzPct val="100000"/>
              <a:buChar char="•"/>
            </a:pPr>
            <a:r>
              <a:rPr lang="en-US" sz="1600" dirty="0">
                <a:solidFill>
                  <a:schemeClr val="tx1"/>
                </a:solidFill>
              </a:rPr>
              <a:t>Se os dois pensam assim, ambos ganham 1, quando poderiam ganhar 3.</a:t>
            </a:r>
            <a:endParaRPr lang="en-US" sz="1600" dirty="0"/>
          </a:p>
          <a:p>
            <a:pPr marL="342900" indent="-342900">
              <a:buSzPct val="100000"/>
              <a:buChar char="•"/>
            </a:pPr>
            <a:r>
              <a:rPr lang="en-US" sz="1600" dirty="0">
                <a:solidFill>
                  <a:schemeClr val="tx1"/>
                </a:solidFill>
              </a:rPr>
              <a:t>Equilíbrio de Nash (1950): ninguém ganha mudando sozinho, e mesmo assim todos ficam pior.</a:t>
            </a:r>
            <a:endParaRPr lang="en-US" sz="1600" dirty="0"/>
          </a:p>
        </p:txBody>
      </p:sp>
      <p:sp>
        <p:nvSpPr>
          <p:cNvPr id="14" name="Text 11"/>
          <p:cNvSpPr txBox="1"/>
          <p:nvPr/>
        </p:nvSpPr>
        <p:spPr>
          <a:xfrm>
            <a:off x="7406640" y="4754880"/>
            <a:ext cx="4206240" cy="274320"/>
          </a:xfrm>
          <a:prstGeom prst="rect">
            <a:avLst/>
          </a:prstGeom>
          <a:noFill/>
          <a:ln/>
        </p:spPr>
        <p:txBody>
          <a:bodyPr wrap="square" lIns="0" tIns="0" rIns="0" bIns="0" rtlCol="0" anchor="t"/>
          <a:lstStyle/>
          <a:p>
            <a:pPr indent="0" marL="0">
              <a:buNone/>
            </a:pPr>
            <a:r>
              <a:rPr lang="en-US" sz="1100" i="1" dirty="0">
                <a:solidFill>
                  <a:schemeClr val="accent6"/>
                </a:solidFill>
              </a:rPr>
              <a:t>Flood e Dresher (RAND, 1950); nome dado por Albert Tucker</a:t>
            </a:r>
            <a:endParaRPr lang="en-US" sz="1100" dirty="0"/>
          </a:p>
        </p:txBody>
      </p:sp>
      <p:sp>
        <p:nvSpPr>
          <p:cNvPr id="15" name="Shape 12"/>
          <p:cNvSpPr/>
          <p:nvPr/>
        </p:nvSpPr>
        <p:spPr>
          <a:xfrm>
            <a:off x="548640" y="5212080"/>
            <a:ext cx="11064240" cy="868680"/>
          </a:xfrm>
          <a:prstGeom prst="roundRect">
            <a:avLst>
              <a:gd name="adj" fmla="val 8421"/>
            </a:avLst>
          </a:prstGeom>
          <a:solidFill>
            <a:schemeClr val="tx2"/>
          </a:solidFill>
          <a:ln/>
        </p:spPr>
      </p:sp>
      <p:sp>
        <p:nvSpPr>
          <p:cNvPr id="16" name="Text 13"/>
          <p:cNvSpPr txBox="1"/>
          <p:nvPr/>
        </p:nvSpPr>
        <p:spPr>
          <a:xfrm>
            <a:off x="777240" y="5212080"/>
            <a:ext cx="10607040" cy="868680"/>
          </a:xfrm>
          <a:prstGeom prst="rect">
            <a:avLst/>
          </a:prstGeom>
          <a:noFill/>
          <a:ln/>
        </p:spPr>
        <p:txBody>
          <a:bodyPr wrap="square" lIns="0" tIns="0" rIns="0" bIns="0" rtlCol="0" anchor="ctr"/>
          <a:lstStyle/>
          <a:p>
            <a:pPr algn="ctr" indent="0" marL="0">
              <a:buNone/>
            </a:pPr>
            <a:r>
              <a:rPr lang="en-US" sz="2200" b="1" dirty="0">
                <a:solidFill>
                  <a:schemeClr val="bg1"/>
                </a:solidFill>
              </a:rPr>
              <a:t>Racionalidade individual não garante um bom resultado coletivo.</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O torneio de Axelrod</a:t>
            </a:r>
            <a:endParaRPr lang="en-US" sz="3400" dirty="0"/>
          </a:p>
        </p:txBody>
      </p:sp>
      <p:graphicFrame>
        <p:nvGraphicFramePr>
          <p:cNvPr id="4" name="Chart 0" descr=""/>
          <p:cNvGraphicFramePr/>
          <p:nvPr/>
        </p:nvGraphicFramePr>
        <p:xfrm>
          <a:off x="548640" y="137160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589520" y="14173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O que as vencedoras têm em comum</a:t>
            </a:r>
            <a:endParaRPr lang="en-US" sz="1800" dirty="0"/>
          </a:p>
        </p:txBody>
      </p:sp>
      <p:sp>
        <p:nvSpPr>
          <p:cNvPr id="6" name="Shape 2"/>
          <p:cNvSpPr/>
          <p:nvPr/>
        </p:nvSpPr>
        <p:spPr>
          <a:xfrm>
            <a:off x="7589520" y="1965960"/>
            <a:ext cx="566928" cy="566928"/>
          </a:xfrm>
          <a:prstGeom prst="ellipse">
            <a:avLst/>
          </a:prstGeom>
          <a:solidFill>
            <a:schemeClr val="accent2"/>
          </a:solidFill>
          <a:ln/>
        </p:spPr>
      </p:sp>
      <p:pic>
        <p:nvPicPr>
          <p:cNvPr id="7" name="Image 0" descr="preencoded.png">    </p:cNvPr>
          <p:cNvPicPr>
            <a:picLocks noChangeAspect="1"/>
          </p:cNvPicPr>
          <p:nvPr/>
        </p:nvPicPr>
        <p:blipFill>
          <a:blip r:embed="rId2"/>
          <a:stretch>
            <a:fillRect/>
          </a:stretch>
        </p:blipFill>
        <p:spPr>
          <a:xfrm>
            <a:off x="7725583" y="2102023"/>
            <a:ext cx="294803" cy="294803"/>
          </a:xfrm>
          <a:prstGeom prst="rect">
            <a:avLst/>
          </a:prstGeom>
        </p:spPr>
      </p:pic>
      <p:sp>
        <p:nvSpPr>
          <p:cNvPr id="8" name="Text 3"/>
          <p:cNvSpPr txBox="1"/>
          <p:nvPr/>
        </p:nvSpPr>
        <p:spPr>
          <a:xfrm>
            <a:off x="8321040" y="1965960"/>
            <a:ext cx="3291840" cy="566928"/>
          </a:xfrm>
          <a:prstGeom prst="rect">
            <a:avLst/>
          </a:prstGeom>
          <a:noFill/>
          <a:ln/>
        </p:spPr>
        <p:txBody>
          <a:bodyPr wrap="square" lIns="0" tIns="0" rIns="0" bIns="0" rtlCol="0" anchor="ctr"/>
          <a:lstStyle/>
          <a:p>
            <a:pPr indent="0" marL="0">
              <a:buNone/>
            </a:pPr>
            <a:r>
              <a:rPr lang="en-US" sz="1600" b="1" dirty="0">
                <a:solidFill>
                  <a:schemeClr val="tx1"/>
                </a:solidFill>
              </a:rPr>
              <a:t>Gentil: </a:t>
            </a:r>
            <a:pPr indent="0" marL="0">
              <a:buNone/>
            </a:pPr>
            <a:r>
              <a:rPr lang="en-US" sz="1600" dirty="0">
                <a:solidFill>
                  <a:schemeClr val="tx1"/>
                </a:solidFill>
              </a:rPr>
              <a:t>nunca trai primeiro</a:t>
            </a:r>
            <a:endParaRPr lang="en-US" sz="1600" dirty="0"/>
          </a:p>
        </p:txBody>
      </p:sp>
      <p:sp>
        <p:nvSpPr>
          <p:cNvPr id="9" name="Shape 4"/>
          <p:cNvSpPr/>
          <p:nvPr/>
        </p:nvSpPr>
        <p:spPr>
          <a:xfrm>
            <a:off x="7589520" y="2743200"/>
            <a:ext cx="566928" cy="566928"/>
          </a:xfrm>
          <a:prstGeom prst="ellipse">
            <a:avLst/>
          </a:prstGeom>
          <a:solidFill>
            <a:schemeClr val="accent1"/>
          </a:solidFill>
          <a:ln/>
        </p:spPr>
      </p:sp>
      <p:pic>
        <p:nvPicPr>
          <p:cNvPr id="10" name="Image 1" descr="preencoded.png">    </p:cNvPr>
          <p:cNvPicPr>
            <a:picLocks noChangeAspect="1"/>
          </p:cNvPicPr>
          <p:nvPr/>
        </p:nvPicPr>
        <p:blipFill>
          <a:blip r:embed="rId3"/>
          <a:stretch>
            <a:fillRect/>
          </a:stretch>
        </p:blipFill>
        <p:spPr>
          <a:xfrm>
            <a:off x="7725583" y="2879263"/>
            <a:ext cx="294803" cy="294803"/>
          </a:xfrm>
          <a:prstGeom prst="rect">
            <a:avLst/>
          </a:prstGeom>
        </p:spPr>
      </p:pic>
      <p:sp>
        <p:nvSpPr>
          <p:cNvPr id="11" name="Text 5"/>
          <p:cNvSpPr txBox="1"/>
          <p:nvPr/>
        </p:nvSpPr>
        <p:spPr>
          <a:xfrm>
            <a:off x="8321040" y="2743200"/>
            <a:ext cx="3291840" cy="566928"/>
          </a:xfrm>
          <a:prstGeom prst="rect">
            <a:avLst/>
          </a:prstGeom>
          <a:noFill/>
          <a:ln/>
        </p:spPr>
        <p:txBody>
          <a:bodyPr wrap="square" lIns="0" tIns="0" rIns="0" bIns="0" rtlCol="0" anchor="ctr"/>
          <a:lstStyle/>
          <a:p>
            <a:pPr indent="0" marL="0">
              <a:buNone/>
            </a:pPr>
            <a:r>
              <a:rPr lang="en-US" sz="1600" b="1" dirty="0">
                <a:solidFill>
                  <a:schemeClr val="tx1"/>
                </a:solidFill>
              </a:rPr>
              <a:t>Retaliadora: </a:t>
            </a:r>
            <a:pPr indent="0" marL="0">
              <a:buNone/>
            </a:pPr>
            <a:r>
              <a:rPr lang="en-US" sz="1600" dirty="0">
                <a:solidFill>
                  <a:schemeClr val="tx1"/>
                </a:solidFill>
              </a:rPr>
              <a:t>responde à traição</a:t>
            </a:r>
            <a:endParaRPr lang="en-US" sz="1600" dirty="0"/>
          </a:p>
        </p:txBody>
      </p:sp>
      <p:sp>
        <p:nvSpPr>
          <p:cNvPr id="12" name="Shape 6"/>
          <p:cNvSpPr/>
          <p:nvPr/>
        </p:nvSpPr>
        <p:spPr>
          <a:xfrm>
            <a:off x="7589520" y="3520440"/>
            <a:ext cx="566928" cy="566928"/>
          </a:xfrm>
          <a:prstGeom prst="ellipse">
            <a:avLst/>
          </a:prstGeom>
          <a:solidFill>
            <a:schemeClr val="accent4"/>
          </a:solidFill>
          <a:ln/>
        </p:spPr>
      </p:sp>
      <p:pic>
        <p:nvPicPr>
          <p:cNvPr id="13" name="Image 2" descr="preencoded.png">    </p:cNvPr>
          <p:cNvPicPr>
            <a:picLocks noChangeAspect="1"/>
          </p:cNvPicPr>
          <p:nvPr/>
        </p:nvPicPr>
        <p:blipFill>
          <a:blip r:embed="rId4"/>
          <a:stretch>
            <a:fillRect/>
          </a:stretch>
        </p:blipFill>
        <p:spPr>
          <a:xfrm>
            <a:off x="7725583" y="3656503"/>
            <a:ext cx="294803" cy="294803"/>
          </a:xfrm>
          <a:prstGeom prst="rect">
            <a:avLst/>
          </a:prstGeom>
        </p:spPr>
      </p:pic>
      <p:sp>
        <p:nvSpPr>
          <p:cNvPr id="14" name="Text 7"/>
          <p:cNvSpPr txBox="1"/>
          <p:nvPr/>
        </p:nvSpPr>
        <p:spPr>
          <a:xfrm>
            <a:off x="8321040" y="3520440"/>
            <a:ext cx="3291840" cy="566928"/>
          </a:xfrm>
          <a:prstGeom prst="rect">
            <a:avLst/>
          </a:prstGeom>
          <a:noFill/>
          <a:ln/>
        </p:spPr>
        <p:txBody>
          <a:bodyPr wrap="square" lIns="0" tIns="0" rIns="0" bIns="0" rtlCol="0" anchor="ctr"/>
          <a:lstStyle/>
          <a:p>
            <a:pPr indent="0" marL="0">
              <a:buNone/>
            </a:pPr>
            <a:r>
              <a:rPr lang="en-US" sz="1600" b="1" dirty="0">
                <a:solidFill>
                  <a:schemeClr val="tx1"/>
                </a:solidFill>
              </a:rPr>
              <a:t>Perdoadora: </a:t>
            </a:r>
            <a:pPr indent="0" marL="0">
              <a:buNone/>
            </a:pPr>
            <a:r>
              <a:rPr lang="en-US" sz="1600" dirty="0">
                <a:solidFill>
                  <a:schemeClr val="tx1"/>
                </a:solidFill>
              </a:rPr>
              <a:t>volta a cooperar</a:t>
            </a:r>
            <a:endParaRPr lang="en-US" sz="1600" dirty="0"/>
          </a:p>
        </p:txBody>
      </p:sp>
      <p:sp>
        <p:nvSpPr>
          <p:cNvPr id="15" name="Shape 8"/>
          <p:cNvSpPr/>
          <p:nvPr/>
        </p:nvSpPr>
        <p:spPr>
          <a:xfrm>
            <a:off x="7589520" y="4297680"/>
            <a:ext cx="566928" cy="566928"/>
          </a:xfrm>
          <a:prstGeom prst="ellipse">
            <a:avLst/>
          </a:prstGeom>
          <a:solidFill>
            <a:schemeClr val="accent5"/>
          </a:solidFill>
          <a:ln/>
        </p:spPr>
      </p:sp>
      <p:pic>
        <p:nvPicPr>
          <p:cNvPr id="16" name="Image 3" descr="preencoded.png">    </p:cNvPr>
          <p:cNvPicPr>
            <a:picLocks noChangeAspect="1"/>
          </p:cNvPicPr>
          <p:nvPr/>
        </p:nvPicPr>
        <p:blipFill>
          <a:blip r:embed="rId5"/>
          <a:stretch>
            <a:fillRect/>
          </a:stretch>
        </p:blipFill>
        <p:spPr>
          <a:xfrm>
            <a:off x="7725583" y="4433743"/>
            <a:ext cx="294803" cy="294803"/>
          </a:xfrm>
          <a:prstGeom prst="rect">
            <a:avLst/>
          </a:prstGeom>
        </p:spPr>
      </p:pic>
      <p:sp>
        <p:nvSpPr>
          <p:cNvPr id="17" name="Text 9"/>
          <p:cNvSpPr txBox="1"/>
          <p:nvPr/>
        </p:nvSpPr>
        <p:spPr>
          <a:xfrm>
            <a:off x="8321040" y="4297680"/>
            <a:ext cx="3291840" cy="566928"/>
          </a:xfrm>
          <a:prstGeom prst="rect">
            <a:avLst/>
          </a:prstGeom>
          <a:noFill/>
          <a:ln/>
        </p:spPr>
        <p:txBody>
          <a:bodyPr wrap="square" lIns="0" tIns="0" rIns="0" bIns="0" rtlCol="0" anchor="ctr"/>
          <a:lstStyle/>
          <a:p>
            <a:pPr indent="0" marL="0">
              <a:buNone/>
            </a:pPr>
            <a:r>
              <a:rPr lang="en-US" sz="1600" b="1" dirty="0">
                <a:solidFill>
                  <a:schemeClr val="tx1"/>
                </a:solidFill>
              </a:rPr>
              <a:t>Clara: </a:t>
            </a:r>
            <a:pPr indent="0" marL="0">
              <a:buNone/>
            </a:pPr>
            <a:r>
              <a:rPr lang="en-US" sz="1600" dirty="0">
                <a:solidFill>
                  <a:schemeClr val="tx1"/>
                </a:solidFill>
              </a:rPr>
              <a:t>fácil de reconhecer</a:t>
            </a:r>
            <a:endParaRPr lang="en-US" sz="1600" dirty="0"/>
          </a:p>
        </p:txBody>
      </p:sp>
      <p:sp>
        <p:nvSpPr>
          <p:cNvPr id="18" name="Text 10"/>
          <p:cNvSpPr txBox="1"/>
          <p:nvPr/>
        </p:nvSpPr>
        <p:spPr>
          <a:xfrm>
            <a:off x="7589520" y="5166360"/>
            <a:ext cx="4023360" cy="914400"/>
          </a:xfrm>
          <a:prstGeom prst="rect">
            <a:avLst/>
          </a:prstGeom>
          <a:noFill/>
          <a:ln/>
        </p:spPr>
        <p:txBody>
          <a:bodyPr wrap="square" lIns="0" tIns="0" rIns="0" bIns="0" rtlCol="0" anchor="t"/>
          <a:lstStyle/>
          <a:p>
            <a:pPr indent="0" marL="0">
              <a:buNone/>
            </a:pPr>
            <a:r>
              <a:rPr lang="en-US" sz="1300" i="1" dirty="0">
                <a:solidFill>
                  <a:schemeClr val="accent6"/>
                </a:solidFill>
              </a:rPr>
              <a:t>Axelrod (1984). Verde-azulado: estratégias gentis; cinza: traem primeiro ou ao acaso. No torneio real (1980), venceu o Olho por olho.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Evolução: quem pontua mais tem mais filhos</a:t>
            </a:r>
            <a:endParaRPr lang="en-US" sz="3400" dirty="0"/>
          </a:p>
        </p:txBody>
      </p:sp>
      <p:pic>
        <p:nvPicPr>
          <p:cNvPr id="4" name="Image 0" descr="/private/tmp/claude-501/-Users-macbookpro--claude-spares-spare-wdbrp0/739b5760-ca18-40e0-ab06-85dbfcc54c60/scratchpad/deck/img/c43_0.png">    </p:cNvPr>
          <p:cNvPicPr>
            <a:picLocks noChangeAspect="1"/>
          </p:cNvPicPr>
          <p:nvPr/>
        </p:nvPicPr>
        <p:blipFill>
          <a:blip r:embed="rId1"/>
          <a:stretch>
            <a:fillRect/>
          </a:stretch>
        </p:blipFill>
        <p:spPr>
          <a:xfrm>
            <a:off x="548640" y="1371600"/>
            <a:ext cx="7406640" cy="3108960"/>
          </a:xfrm>
          <a:prstGeom prst="rect">
            <a:avLst/>
          </a:prstGeom>
        </p:spPr>
      </p:pic>
      <p:sp>
        <p:nvSpPr>
          <p:cNvPr id="5" name="Text 1"/>
          <p:cNvSpPr txBox="1"/>
          <p:nvPr/>
        </p:nvSpPr>
        <p:spPr>
          <a:xfrm>
            <a:off x="8229600" y="1371600"/>
            <a:ext cx="3383280" cy="731520"/>
          </a:xfrm>
          <a:prstGeom prst="rect">
            <a:avLst/>
          </a:prstGeom>
          <a:noFill/>
          <a:ln/>
        </p:spPr>
        <p:txBody>
          <a:bodyPr wrap="square" lIns="0" tIns="0" rIns="0" bIns="0" rtlCol="0" anchor="t"/>
          <a:lstStyle/>
          <a:p>
            <a:pPr indent="0" marL="0">
              <a:buNone/>
            </a:pPr>
            <a:r>
              <a:rPr lang="en-US" sz="4400" b="1" dirty="0">
                <a:solidFill>
                  <a:schemeClr val="accent1"/>
                </a:solidFill>
              </a:rPr>
              <a:t>68%</a:t>
            </a:r>
            <a:endParaRPr lang="en-US" sz="4400" dirty="0"/>
          </a:p>
        </p:txBody>
      </p:sp>
      <p:sp>
        <p:nvSpPr>
          <p:cNvPr id="6" name="Text 2"/>
          <p:cNvSpPr txBox="1"/>
          <p:nvPr/>
        </p:nvSpPr>
        <p:spPr>
          <a:xfrm>
            <a:off x="8229600" y="2103120"/>
            <a:ext cx="3383280" cy="777240"/>
          </a:xfrm>
          <a:prstGeom prst="rect">
            <a:avLst/>
          </a:prstGeom>
          <a:noFill/>
          <a:ln/>
        </p:spPr>
        <p:txBody>
          <a:bodyPr wrap="square" lIns="0" tIns="0" rIns="0" bIns="0" rtlCol="0" anchor="t"/>
          <a:lstStyle/>
          <a:p>
            <a:pPr indent="0" marL="0">
              <a:buNone/>
            </a:pPr>
            <a:r>
              <a:rPr lang="en-US" sz="1400" dirty="0">
                <a:solidFill>
                  <a:schemeClr val="tx1"/>
                </a:solidFill>
              </a:rPr>
              <a:t>pico do “Sempre trai” na geração 15, explorando uma população ingênua</a:t>
            </a:r>
            <a:endParaRPr lang="en-US" sz="1400" dirty="0"/>
          </a:p>
        </p:txBody>
      </p:sp>
      <p:sp>
        <p:nvSpPr>
          <p:cNvPr id="7" name="Text 3"/>
          <p:cNvSpPr txBox="1"/>
          <p:nvPr/>
        </p:nvSpPr>
        <p:spPr>
          <a:xfrm>
            <a:off x="8229600" y="2971800"/>
            <a:ext cx="3383280" cy="731520"/>
          </a:xfrm>
          <a:prstGeom prst="rect">
            <a:avLst/>
          </a:prstGeom>
          <a:noFill/>
          <a:ln/>
        </p:spPr>
        <p:txBody>
          <a:bodyPr wrap="square" lIns="0" tIns="0" rIns="0" bIns="0" rtlCol="0" anchor="t"/>
          <a:lstStyle/>
          <a:p>
            <a:pPr indent="0" marL="0">
              <a:buNone/>
            </a:pPr>
            <a:r>
              <a:rPr lang="en-US" sz="4400" b="1" dirty="0">
                <a:solidFill>
                  <a:schemeClr val="accent2"/>
                </a:solidFill>
              </a:rPr>
              <a:t>0%</a:t>
            </a:r>
            <a:endParaRPr lang="en-US" sz="4400" dirty="0"/>
          </a:p>
        </p:txBody>
      </p:sp>
      <p:sp>
        <p:nvSpPr>
          <p:cNvPr id="8" name="Text 4"/>
          <p:cNvSpPr txBox="1"/>
          <p:nvPr/>
        </p:nvSpPr>
        <p:spPr>
          <a:xfrm>
            <a:off x="8229600" y="3703320"/>
            <a:ext cx="3383280" cy="777240"/>
          </a:xfrm>
          <a:prstGeom prst="rect">
            <a:avLst/>
          </a:prstGeom>
          <a:noFill/>
          <a:ln/>
        </p:spPr>
        <p:txBody>
          <a:bodyPr wrap="square" lIns="0" tIns="0" rIns="0" bIns="0" rtlCol="0" anchor="t"/>
          <a:lstStyle/>
          <a:p>
            <a:pPr indent="0" marL="0">
              <a:buNone/>
            </a:pPr>
            <a:r>
              <a:rPr lang="en-US" sz="1400" dirty="0">
                <a:solidFill>
                  <a:schemeClr val="tx1"/>
                </a:solidFill>
              </a:rPr>
              <a:t>por volta da geração 25: acabaram as vítimas</a:t>
            </a:r>
            <a:endParaRPr lang="en-US" sz="1400" dirty="0"/>
          </a:p>
        </p:txBody>
      </p:sp>
      <p:sp>
        <p:nvSpPr>
          <p:cNvPr id="9" name="Shape 5"/>
          <p:cNvSpPr/>
          <p:nvPr/>
        </p:nvSpPr>
        <p:spPr>
          <a:xfrm>
            <a:off x="548640" y="4709160"/>
            <a:ext cx="5440680" cy="1371600"/>
          </a:xfrm>
          <a:prstGeom prst="roundRect">
            <a:avLst>
              <a:gd name="adj" fmla="val 5333"/>
            </a:avLst>
          </a:prstGeom>
          <a:solidFill>
            <a:schemeClr val="bg2"/>
          </a:solidFill>
          <a:ln/>
        </p:spPr>
      </p:sp>
      <p:sp>
        <p:nvSpPr>
          <p:cNvPr id="10" name="Shape 6"/>
          <p:cNvSpPr/>
          <p:nvPr/>
        </p:nvSpPr>
        <p:spPr>
          <a:xfrm>
            <a:off x="777240" y="5001768"/>
            <a:ext cx="777240" cy="777240"/>
          </a:xfrm>
          <a:prstGeom prst="ellipse">
            <a:avLst/>
          </a:prstGeom>
          <a:solidFill>
            <a:schemeClr val="accent4"/>
          </a:solidFill>
          <a:ln/>
        </p:spPr>
      </p:sp>
      <p:pic>
        <p:nvPicPr>
          <p:cNvPr id="11" name="Image 1" descr="preencoded.png">    </p:cNvPr>
          <p:cNvPicPr>
            <a:picLocks noChangeAspect="1"/>
          </p:cNvPicPr>
          <p:nvPr/>
        </p:nvPicPr>
        <p:blipFill>
          <a:blip r:embed="rId2"/>
          <a:stretch>
            <a:fillRect/>
          </a:stretch>
        </p:blipFill>
        <p:spPr>
          <a:xfrm>
            <a:off x="963778" y="5188306"/>
            <a:ext cx="404165" cy="404165"/>
          </a:xfrm>
          <a:prstGeom prst="rect">
            <a:avLst/>
          </a:prstGeom>
        </p:spPr>
      </p:pic>
      <p:sp>
        <p:nvSpPr>
          <p:cNvPr id="12" name="Text 7"/>
          <p:cNvSpPr txBox="1"/>
          <p:nvPr/>
        </p:nvSpPr>
        <p:spPr>
          <a:xfrm>
            <a:off x="1737360" y="4754880"/>
            <a:ext cx="4069080" cy="1280160"/>
          </a:xfrm>
          <a:prstGeom prst="rect">
            <a:avLst/>
          </a:prstGeom>
          <a:noFill/>
          <a:ln/>
        </p:spPr>
        <p:txBody>
          <a:bodyPr wrap="square" lIns="0" tIns="0" rIns="0" bIns="0" rtlCol="0" anchor="ctr"/>
          <a:lstStyle/>
          <a:p>
            <a:pPr indent="0" marL="0">
              <a:buNone/>
            </a:pPr>
            <a:r>
              <a:rPr lang="en-US" sz="1500" dirty="0">
                <a:solidFill>
                  <a:schemeClr val="tx1"/>
                </a:solidFill>
              </a:rPr>
              <a:t>Com ruído, o Olho por olho cai: 5º lugar com 5% de mal-entendidos e 8º com 10% (Wu e Axelrod, 1995).</a:t>
            </a:r>
            <a:endParaRPr lang="en-US" sz="1500" dirty="0"/>
          </a:p>
        </p:txBody>
      </p:sp>
      <p:sp>
        <p:nvSpPr>
          <p:cNvPr id="13" name="Shape 8"/>
          <p:cNvSpPr/>
          <p:nvPr/>
        </p:nvSpPr>
        <p:spPr>
          <a:xfrm>
            <a:off x="6172200" y="4709160"/>
            <a:ext cx="5440680" cy="1371600"/>
          </a:xfrm>
          <a:prstGeom prst="roundRect">
            <a:avLst>
              <a:gd name="adj" fmla="val 5333"/>
            </a:avLst>
          </a:prstGeom>
          <a:solidFill>
            <a:schemeClr val="bg2"/>
          </a:solidFill>
          <a:ln/>
        </p:spPr>
      </p:sp>
      <p:sp>
        <p:nvSpPr>
          <p:cNvPr id="14" name="Shape 9"/>
          <p:cNvSpPr/>
          <p:nvPr/>
        </p:nvSpPr>
        <p:spPr>
          <a:xfrm>
            <a:off x="6400800" y="5001768"/>
            <a:ext cx="777240" cy="777240"/>
          </a:xfrm>
          <a:prstGeom prst="ellipse">
            <a:avLst/>
          </a:prstGeom>
          <a:solidFill>
            <a:schemeClr val="accent3"/>
          </a:solidFill>
          <a:ln/>
        </p:spPr>
      </p:sp>
      <p:pic>
        <p:nvPicPr>
          <p:cNvPr id="15" name="Image 2" descr="preencoded.png">    </p:cNvPr>
          <p:cNvPicPr>
            <a:picLocks noChangeAspect="1"/>
          </p:cNvPicPr>
          <p:nvPr/>
        </p:nvPicPr>
        <p:blipFill>
          <a:blip r:embed="rId3"/>
          <a:stretch>
            <a:fillRect/>
          </a:stretch>
        </p:blipFill>
        <p:spPr>
          <a:xfrm>
            <a:off x="6587338" y="5188306"/>
            <a:ext cx="404165" cy="404165"/>
          </a:xfrm>
          <a:prstGeom prst="rect">
            <a:avLst/>
          </a:prstGeom>
        </p:spPr>
      </p:pic>
      <p:sp>
        <p:nvSpPr>
          <p:cNvPr id="16" name="Text 10"/>
          <p:cNvSpPr txBox="1"/>
          <p:nvPr/>
        </p:nvSpPr>
        <p:spPr>
          <a:xfrm>
            <a:off x="7360920" y="4754880"/>
            <a:ext cx="4069080" cy="1280160"/>
          </a:xfrm>
          <a:prstGeom prst="rect">
            <a:avLst/>
          </a:prstGeom>
          <a:noFill/>
          <a:ln/>
        </p:spPr>
        <p:txBody>
          <a:bodyPr wrap="square" lIns="0" tIns="0" rIns="0" bIns="0" rtlCol="0" anchor="ctr"/>
          <a:lstStyle/>
          <a:p>
            <a:pPr indent="0" marL="0">
              <a:buNone/>
            </a:pPr>
            <a:r>
              <a:rPr lang="en-US" sz="1500" dirty="0">
                <a:solidFill>
                  <a:schemeClr val="tx1"/>
                </a:solidFill>
              </a:rPr>
              <a:t>Na vida real: a reputação em marketplaces e apps de transporte sustenta a cooperação entre desconhecidos.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O livro de US$ 23 milhões</a:t>
            </a:r>
            <a:endParaRPr lang="en-US" sz="3400" dirty="0"/>
          </a:p>
        </p:txBody>
      </p:sp>
      <p:sp>
        <p:nvSpPr>
          <p:cNvPr id="4" name="Shape 1"/>
          <p:cNvSpPr/>
          <p:nvPr/>
        </p:nvSpPr>
        <p:spPr>
          <a:xfrm>
            <a:off x="548640" y="1417320"/>
            <a:ext cx="4846320" cy="1188720"/>
          </a:xfrm>
          <a:prstGeom prst="roundRect">
            <a:avLst>
              <a:gd name="adj" fmla="val 6154"/>
            </a:avLst>
          </a:prstGeom>
          <a:solidFill>
            <a:schemeClr val="bg2"/>
          </a:solidFill>
          <a:ln/>
        </p:spPr>
      </p:sp>
      <p:sp>
        <p:nvSpPr>
          <p:cNvPr id="5" name="Shape 2"/>
          <p:cNvSpPr/>
          <p:nvPr/>
        </p:nvSpPr>
        <p:spPr>
          <a:xfrm>
            <a:off x="731520" y="1645920"/>
            <a:ext cx="731520" cy="73152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07085" y="1821485"/>
            <a:ext cx="380390" cy="380390"/>
          </a:xfrm>
          <a:prstGeom prst="rect">
            <a:avLst/>
          </a:prstGeom>
        </p:spPr>
      </p:pic>
      <p:sp>
        <p:nvSpPr>
          <p:cNvPr id="7" name="Text 3"/>
          <p:cNvSpPr txBox="1"/>
          <p:nvPr/>
        </p:nvSpPr>
        <p:spPr>
          <a:xfrm>
            <a:off x="1645920" y="1527048"/>
            <a:ext cx="3657600" cy="457200"/>
          </a:xfrm>
          <a:prstGeom prst="rect">
            <a:avLst/>
          </a:prstGeom>
          <a:noFill/>
          <a:ln/>
        </p:spPr>
        <p:txBody>
          <a:bodyPr wrap="square" lIns="0" tIns="0" rIns="0" bIns="0" rtlCol="0" anchor="t"/>
          <a:lstStyle/>
          <a:p>
            <a:pPr indent="0" marL="0">
              <a:buNone/>
            </a:pPr>
            <a:r>
              <a:rPr lang="en-US" sz="1600" b="1" dirty="0">
                <a:solidFill>
                  <a:schemeClr val="tx1"/>
                </a:solidFill>
              </a:rPr>
              <a:t>Robô A: </a:t>
            </a:r>
            <a:pPr indent="0" marL="0">
              <a:buNone/>
            </a:pPr>
            <a:r>
              <a:rPr lang="en-US" sz="1600" b="1" dirty="0">
                <a:solidFill>
                  <a:schemeClr val="accent2"/>
                </a:solidFill>
              </a:rPr>
              <a:t>preço = 0,9983 × preço de B</a:t>
            </a:r>
            <a:endParaRPr lang="en-US" sz="1600" dirty="0"/>
          </a:p>
        </p:txBody>
      </p:sp>
      <p:sp>
        <p:nvSpPr>
          <p:cNvPr id="8" name="Text 4"/>
          <p:cNvSpPr txBox="1"/>
          <p:nvPr/>
        </p:nvSpPr>
        <p:spPr>
          <a:xfrm>
            <a:off x="1645920" y="1965960"/>
            <a:ext cx="3657600" cy="548640"/>
          </a:xfrm>
          <a:prstGeom prst="rect">
            <a:avLst/>
          </a:prstGeom>
          <a:noFill/>
          <a:ln/>
        </p:spPr>
        <p:txBody>
          <a:bodyPr wrap="square" lIns="0" tIns="0" rIns="0" bIns="0" rtlCol="0" anchor="t"/>
          <a:lstStyle/>
          <a:p>
            <a:pPr indent="0" marL="0">
              <a:buNone/>
            </a:pPr>
            <a:r>
              <a:rPr lang="en-US" sz="1400" dirty="0">
                <a:solidFill>
                  <a:schemeClr val="accent6"/>
                </a:solidFill>
              </a:rPr>
              <a:t>ficar um pouco mais barato e aparecer primeiro</a:t>
            </a:r>
            <a:endParaRPr lang="en-US" sz="1400" dirty="0"/>
          </a:p>
        </p:txBody>
      </p:sp>
      <p:sp>
        <p:nvSpPr>
          <p:cNvPr id="9" name="Shape 5"/>
          <p:cNvSpPr/>
          <p:nvPr/>
        </p:nvSpPr>
        <p:spPr>
          <a:xfrm>
            <a:off x="548640" y="2743200"/>
            <a:ext cx="4846320" cy="1188720"/>
          </a:xfrm>
          <a:prstGeom prst="roundRect">
            <a:avLst>
              <a:gd name="adj" fmla="val 6154"/>
            </a:avLst>
          </a:prstGeom>
          <a:solidFill>
            <a:schemeClr val="bg2"/>
          </a:solidFill>
          <a:ln/>
        </p:spPr>
      </p:sp>
      <p:sp>
        <p:nvSpPr>
          <p:cNvPr id="10" name="Shape 6"/>
          <p:cNvSpPr/>
          <p:nvPr/>
        </p:nvSpPr>
        <p:spPr>
          <a:xfrm>
            <a:off x="731520" y="2971800"/>
            <a:ext cx="731520" cy="7315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907085" y="3147365"/>
            <a:ext cx="380390" cy="380390"/>
          </a:xfrm>
          <a:prstGeom prst="rect">
            <a:avLst/>
          </a:prstGeom>
        </p:spPr>
      </p:pic>
      <p:sp>
        <p:nvSpPr>
          <p:cNvPr id="12" name="Text 7"/>
          <p:cNvSpPr txBox="1"/>
          <p:nvPr/>
        </p:nvSpPr>
        <p:spPr>
          <a:xfrm>
            <a:off x="1645920" y="2852928"/>
            <a:ext cx="3657600" cy="457200"/>
          </a:xfrm>
          <a:prstGeom prst="rect">
            <a:avLst/>
          </a:prstGeom>
          <a:noFill/>
          <a:ln/>
        </p:spPr>
        <p:txBody>
          <a:bodyPr wrap="square" lIns="0" tIns="0" rIns="0" bIns="0" rtlCol="0" anchor="t"/>
          <a:lstStyle/>
          <a:p>
            <a:pPr indent="0" marL="0">
              <a:buNone/>
            </a:pPr>
            <a:r>
              <a:rPr lang="en-US" sz="1600" b="1" dirty="0">
                <a:solidFill>
                  <a:schemeClr val="tx1"/>
                </a:solidFill>
              </a:rPr>
              <a:t>Robô B: </a:t>
            </a:r>
            <a:pPr indent="0" marL="0">
              <a:buNone/>
            </a:pPr>
            <a:r>
              <a:rPr lang="en-US" sz="1600" b="1" dirty="0">
                <a:solidFill>
                  <a:schemeClr val="accent1"/>
                </a:solidFill>
              </a:rPr>
              <a:t>preço = 1,270589 × preço de A</a:t>
            </a:r>
            <a:endParaRPr lang="en-US" sz="1600" dirty="0"/>
          </a:p>
        </p:txBody>
      </p:sp>
      <p:sp>
        <p:nvSpPr>
          <p:cNvPr id="13" name="Text 8"/>
          <p:cNvSpPr txBox="1"/>
          <p:nvPr/>
        </p:nvSpPr>
        <p:spPr>
          <a:xfrm>
            <a:off x="1645920" y="3291840"/>
            <a:ext cx="3657600" cy="548640"/>
          </a:xfrm>
          <a:prstGeom prst="rect">
            <a:avLst/>
          </a:prstGeom>
          <a:noFill/>
          <a:ln/>
        </p:spPr>
        <p:txBody>
          <a:bodyPr wrap="square" lIns="0" tIns="0" rIns="0" bIns="0" rtlCol="0" anchor="t"/>
          <a:lstStyle/>
          <a:p>
            <a:pPr indent="0" marL="0">
              <a:buNone/>
            </a:pPr>
            <a:r>
              <a:rPr lang="en-US" sz="1400" dirty="0">
                <a:solidFill>
                  <a:schemeClr val="accent6"/>
                </a:solidFill>
              </a:rPr>
              <a:t>provavelmente sem o livro: compraria de A e revenderia</a:t>
            </a:r>
            <a:endParaRPr lang="en-US" sz="1400" dirty="0"/>
          </a:p>
        </p:txBody>
      </p:sp>
      <p:sp>
        <p:nvSpPr>
          <p:cNvPr id="14" name="Text 9"/>
          <p:cNvSpPr txBox="1"/>
          <p:nvPr/>
        </p:nvSpPr>
        <p:spPr>
          <a:xfrm>
            <a:off x="548640" y="4114800"/>
            <a:ext cx="4846320" cy="914400"/>
          </a:xfrm>
          <a:prstGeom prst="rect">
            <a:avLst/>
          </a:prstGeom>
          <a:noFill/>
          <a:ln/>
        </p:spPr>
        <p:txBody>
          <a:bodyPr wrap="square" lIns="0" tIns="0" rIns="0" bIns="0" rtlCol="0" anchor="t"/>
          <a:lstStyle/>
          <a:p>
            <a:pPr indent="0" marL="0">
              <a:buNone/>
            </a:pPr>
            <a:r>
              <a:rPr lang="en-US" sz="1800" b="1" dirty="0">
                <a:solidFill>
                  <a:schemeClr val="tx2"/>
                </a:solidFill>
              </a:rPr>
              <a:t>0,9983 × 1,270589 = 1,2684 → +26,8% ao dia</a:t>
            </a:r>
            <a:endParaRPr lang="en-US" sz="1600" dirty="0"/>
          </a:p>
          <a:p>
            <a:pPr indent="0" marL="0">
              <a:buNone/>
            </a:pPr>
            <a:r>
              <a:rPr lang="en-US" sz="1500" dirty="0">
                <a:solidFill>
                  <a:schemeClr val="tx1"/>
                </a:solidFill>
              </a:rPr>
              <a:t>A simulação passa de US$ 23,7 milhões (o recorde real) no dia 58.</a:t>
            </a:r>
            <a:endParaRPr lang="en-US" sz="1600" dirty="0"/>
          </a:p>
        </p:txBody>
      </p:sp>
      <p:sp>
        <p:nvSpPr>
          <p:cNvPr id="15" name="Shape 10"/>
          <p:cNvSpPr/>
          <p:nvPr/>
        </p:nvSpPr>
        <p:spPr>
          <a:xfrm>
            <a:off x="548640" y="5166360"/>
            <a:ext cx="4846320" cy="914400"/>
          </a:xfrm>
          <a:prstGeom prst="roundRect">
            <a:avLst>
              <a:gd name="adj" fmla="val 8000"/>
            </a:avLst>
          </a:prstGeom>
          <a:solidFill>
            <a:schemeClr val="tx2"/>
          </a:solidFill>
          <a:ln/>
        </p:spPr>
      </p:sp>
      <p:sp>
        <p:nvSpPr>
          <p:cNvPr id="16" name="Text 11"/>
          <p:cNvSpPr txBox="1"/>
          <p:nvPr/>
        </p:nvSpPr>
        <p:spPr>
          <a:xfrm>
            <a:off x="777240" y="5166360"/>
            <a:ext cx="4480560" cy="914400"/>
          </a:xfrm>
          <a:prstGeom prst="rect">
            <a:avLst/>
          </a:prstGeom>
          <a:noFill/>
          <a:ln/>
        </p:spPr>
        <p:txBody>
          <a:bodyPr wrap="square" lIns="0" tIns="0" rIns="0" bIns="0" rtlCol="0" anchor="ctr"/>
          <a:lstStyle/>
          <a:p>
            <a:pPr indent="0" marL="0">
              <a:buNone/>
            </a:pPr>
            <a:r>
              <a:rPr lang="en-US" sz="1500" b="1" dirty="0">
                <a:solidFill>
                  <a:schemeClr val="accent3"/>
                </a:solidFill>
              </a:rPr>
              <a:t>Guardrail: </a:t>
            </a:r>
            <a:pPr indent="0" marL="0">
              <a:buNone/>
            </a:pPr>
            <a:r>
              <a:rPr lang="en-US" sz="1500" dirty="0">
                <a:solidFill>
                  <a:schemeClr val="bg1"/>
                </a:solidFill>
              </a:rPr>
              <a:t>trava de 3× o preço de referência → máximo de US$ 106,62</a:t>
            </a:r>
            <a:endParaRPr lang="en-US" sz="1500" dirty="0"/>
          </a:p>
        </p:txBody>
      </p:sp>
      <p:pic>
        <p:nvPicPr>
          <p:cNvPr id="17" name="Image 2" descr="/private/tmp/claude-501/-Users-macbookpro--claude-spares-spare-wdbrp0/739b5760-ca18-40e0-ab06-85dbfcc54c60/scratchpad/deck/img/c48_1.png">    </p:cNvPr>
          <p:cNvPicPr>
            <a:picLocks noChangeAspect="1"/>
          </p:cNvPicPr>
          <p:nvPr/>
        </p:nvPicPr>
        <p:blipFill>
          <a:blip r:embed="rId3"/>
          <a:stretch>
            <a:fillRect/>
          </a:stretch>
        </p:blipFill>
        <p:spPr>
          <a:xfrm>
            <a:off x="5669280" y="1417320"/>
            <a:ext cx="5943600" cy="2743200"/>
          </a:xfrm>
          <a:prstGeom prst="rect">
            <a:avLst/>
          </a:prstGeom>
        </p:spPr>
      </p:pic>
      <p:sp>
        <p:nvSpPr>
          <p:cNvPr id="18" name="Shape 12"/>
          <p:cNvSpPr/>
          <p:nvPr/>
        </p:nvSpPr>
        <p:spPr>
          <a:xfrm>
            <a:off x="5669280" y="4343400"/>
            <a:ext cx="5943600" cy="1737360"/>
          </a:xfrm>
          <a:prstGeom prst="roundRect">
            <a:avLst>
              <a:gd name="adj" fmla="val 4211"/>
            </a:avLst>
          </a:prstGeom>
          <a:solidFill>
            <a:schemeClr val="bg2"/>
          </a:solidFill>
          <a:ln/>
        </p:spPr>
      </p:sp>
      <p:sp>
        <p:nvSpPr>
          <p:cNvPr id="19" name="Text 13"/>
          <p:cNvSpPr txBox="1"/>
          <p:nvPr/>
        </p:nvSpPr>
        <p:spPr>
          <a:xfrm>
            <a:off x="5897880" y="4434840"/>
            <a:ext cx="5486400" cy="1188720"/>
          </a:xfrm>
          <a:prstGeom prst="rect">
            <a:avLst/>
          </a:prstGeom>
          <a:noFill/>
          <a:ln/>
        </p:spPr>
        <p:txBody>
          <a:bodyPr wrap="square" lIns="0" tIns="0" rIns="0" bIns="0" rtlCol="0" anchor="t"/>
          <a:lstStyle/>
          <a:p>
            <a:pPr indent="0" marL="0">
              <a:buNone/>
            </a:pPr>
            <a:r>
              <a:rPr lang="en-US" sz="1500" b="1" dirty="0">
                <a:solidFill>
                  <a:schemeClr val="tx1"/>
                </a:solidFill>
              </a:rPr>
              <a:t>Hoje: </a:t>
            </a:r>
            <a:pPr indent="0" marL="0">
              <a:buNone/>
            </a:pPr>
            <a:r>
              <a:rPr lang="en-US" sz="1500" dirty="0">
                <a:solidFill>
                  <a:schemeClr val="tx1"/>
                </a:solidFill>
              </a:rPr>
              <a:t>robôs que aprendem preços podem chegar sozinhos a preços altos, sem trocar mensagens (Calvano et al., 2020; Assad et al., 2024). Foi conluio? Quem responde?</a:t>
            </a:r>
            <a:endParaRPr lang="en-US" sz="1500" dirty="0"/>
          </a:p>
        </p:txBody>
      </p:sp>
      <p:sp>
        <p:nvSpPr>
          <p:cNvPr id="20" name="Text 14"/>
          <p:cNvSpPr txBox="1"/>
          <p:nvPr/>
        </p:nvSpPr>
        <p:spPr>
          <a:xfrm>
            <a:off x="5897880" y="5669280"/>
            <a:ext cx="5486400" cy="320040"/>
          </a:xfrm>
          <a:prstGeom prst="rect">
            <a:avLst/>
          </a:prstGeom>
          <a:noFill/>
          <a:ln/>
        </p:spPr>
        <p:txBody>
          <a:bodyPr wrap="square" lIns="0" tIns="0" rIns="0" bIns="0" rtlCol="0" anchor="t"/>
          <a:lstStyle/>
          <a:p>
            <a:pPr indent="0" marL="0">
              <a:buNone/>
            </a:pPr>
            <a:r>
              <a:rPr lang="en-US" sz="1200" i="1" dirty="0">
                <a:solidFill>
                  <a:schemeClr val="accent6"/>
                </a:solidFill>
              </a:rPr>
              <a:t>Eisen (2011): The Making of a Fly, abril de 2011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Tragédia dos comuns: 10 pescadores, um lago</a:t>
            </a:r>
            <a:endParaRPr lang="en-US" sz="3400" dirty="0"/>
          </a:p>
        </p:txBody>
      </p:sp>
      <p:pic>
        <p:nvPicPr>
          <p:cNvPr id="4" name="Image 0" descr="/private/tmp/claude-501/-Users-macbookpro--claude-spares-spare-wdbrp0/739b5760-ca18-40e0-ab06-85dbfcc54c60/scratchpad/deck/img/c51_1.png">    </p:cNvPr>
          <p:cNvPicPr>
            <a:picLocks noChangeAspect="1"/>
          </p:cNvPicPr>
          <p:nvPr/>
        </p:nvPicPr>
        <p:blipFill>
          <a:blip r:embed="rId1"/>
          <a:stretch>
            <a:fillRect/>
          </a:stretch>
        </p:blipFill>
        <p:spPr>
          <a:xfrm>
            <a:off x="548640" y="1371600"/>
            <a:ext cx="7589520" cy="2743200"/>
          </a:xfrm>
          <a:prstGeom prst="rect">
            <a:avLst/>
          </a:prstGeom>
        </p:spPr>
      </p:pic>
      <p:sp>
        <p:nvSpPr>
          <p:cNvPr id="5" name="Text 1"/>
          <p:cNvSpPr txBox="1"/>
          <p:nvPr/>
        </p:nvSpPr>
        <p:spPr>
          <a:xfrm>
            <a:off x="8412480" y="1417320"/>
            <a:ext cx="3200400" cy="2743200"/>
          </a:xfrm>
          <a:prstGeom prst="rect">
            <a:avLst/>
          </a:prstGeom>
          <a:noFill/>
          <a:ln/>
        </p:spPr>
        <p:txBody>
          <a:bodyPr wrap="square" lIns="0" tIns="0" rIns="0" bIns="0" rtlCol="0" anchor="t"/>
          <a:lstStyle/>
          <a:p>
            <a:pPr indent="0" marL="0">
              <a:buNone/>
            </a:pPr>
            <a:r>
              <a:rPr lang="en-US" sz="1500" b="1" dirty="0">
                <a:solidFill>
                  <a:schemeClr val="tx1"/>
                </a:solidFill>
              </a:rPr>
              <a:t>Hardin (1968): </a:t>
            </a:r>
            <a:pPr indent="0" marL="0">
              <a:buNone/>
            </a:pPr>
            <a:r>
              <a:rPr lang="en-US" sz="1500" dirty="0">
                <a:solidFill>
                  <a:schemeClr val="tx1"/>
                </a:solidFill>
              </a:rPr>
              <a:t>sem regras, o recurso compartilhado colapsa.</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Ostrom (1990; Nobel 2009): </a:t>
            </a:r>
            <a:pPr indent="0" marL="0">
              <a:buNone/>
            </a:pPr>
            <a:r>
              <a:rPr lang="en-US" sz="1500" dirty="0">
                <a:solidFill>
                  <a:schemeClr val="tx1"/>
                </a:solidFill>
              </a:rPr>
              <a:t>comunidades criam regras, fiscalização e sanções, e o recurso sobrevive.</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No Brasil: </a:t>
            </a:r>
            <a:pPr indent="0" marL="0">
              <a:buNone/>
            </a:pPr>
            <a:r>
              <a:rPr lang="en-US" sz="1500" dirty="0">
                <a:solidFill>
                  <a:schemeClr val="tx1"/>
                </a:solidFill>
              </a:rPr>
              <a:t>seguro-defeso e manejo do pirarucu.</a:t>
            </a:r>
            <a:endParaRPr lang="en-US" sz="1500" dirty="0"/>
          </a:p>
        </p:txBody>
      </p:sp>
      <p:sp>
        <p:nvSpPr>
          <p:cNvPr id="6" name="Shape 2"/>
          <p:cNvSpPr/>
          <p:nvPr/>
        </p:nvSpPr>
        <p:spPr>
          <a:xfrm>
            <a:off x="548640" y="4343400"/>
            <a:ext cx="3566160" cy="1737360"/>
          </a:xfrm>
          <a:prstGeom prst="roundRect">
            <a:avLst>
              <a:gd name="adj" fmla="val 4211"/>
            </a:avLst>
          </a:prstGeom>
          <a:solidFill>
            <a:schemeClr val="bg2"/>
          </a:solidFill>
          <a:ln/>
        </p:spPr>
      </p:sp>
      <p:sp>
        <p:nvSpPr>
          <p:cNvPr id="7" name="Shape 3"/>
          <p:cNvSpPr/>
          <p:nvPr/>
        </p:nvSpPr>
        <p:spPr>
          <a:xfrm>
            <a:off x="822960" y="4617720"/>
            <a:ext cx="274320" cy="274320"/>
          </a:xfrm>
          <a:prstGeom prst="ellipse">
            <a:avLst/>
          </a:prstGeom>
          <a:solidFill>
            <a:srgbClr val="D62728"/>
          </a:solidFill>
          <a:ln/>
        </p:spPr>
      </p:sp>
      <p:sp>
        <p:nvSpPr>
          <p:cNvPr id="8" name="Text 4"/>
          <p:cNvSpPr txBox="1"/>
          <p:nvPr/>
        </p:nvSpPr>
        <p:spPr>
          <a:xfrm>
            <a:off x="1234440" y="4480560"/>
            <a:ext cx="2651760" cy="548640"/>
          </a:xfrm>
          <a:prstGeom prst="rect">
            <a:avLst/>
          </a:prstGeom>
          <a:noFill/>
          <a:ln/>
        </p:spPr>
        <p:txBody>
          <a:bodyPr wrap="square" lIns="0" tIns="0" rIns="0" bIns="0" rtlCol="0" anchor="ctr"/>
          <a:lstStyle/>
          <a:p>
            <a:pPr indent="0" marL="0">
              <a:buNone/>
            </a:pPr>
            <a:r>
              <a:rPr lang="en-US" sz="3000" b="1" dirty="0">
                <a:solidFill>
                  <a:schemeClr val="tx2"/>
                </a:solidFill>
              </a:rPr>
              <a:t>Ano 8</a:t>
            </a:r>
            <a:endParaRPr lang="en-US" sz="3000" dirty="0"/>
          </a:p>
        </p:txBody>
      </p:sp>
      <p:sp>
        <p:nvSpPr>
          <p:cNvPr id="9" name="Text 5"/>
          <p:cNvSpPr txBox="1"/>
          <p:nvPr/>
        </p:nvSpPr>
        <p:spPr>
          <a:xfrm>
            <a:off x="822960" y="5074920"/>
            <a:ext cx="3063240" cy="914400"/>
          </a:xfrm>
          <a:prstGeom prst="rect">
            <a:avLst/>
          </a:prstGeom>
          <a:noFill/>
          <a:ln/>
        </p:spPr>
        <p:txBody>
          <a:bodyPr wrap="square" lIns="0" tIns="0" rIns="0" bIns="0" rtlCol="0" anchor="t"/>
          <a:lstStyle/>
          <a:p>
            <a:pPr indent="0" marL="0">
              <a:buNone/>
            </a:pPr>
            <a:r>
              <a:rPr lang="en-US" sz="1400" dirty="0">
                <a:solidFill>
                  <a:schemeClr val="tx1"/>
                </a:solidFill>
              </a:rPr>
              <a:t>Livre acesso (15 t cada): o lago colapsa; 1.148 t pescadas no total</a:t>
            </a:r>
            <a:endParaRPr lang="en-US" sz="1400" dirty="0"/>
          </a:p>
        </p:txBody>
      </p:sp>
      <p:sp>
        <p:nvSpPr>
          <p:cNvPr id="10" name="Shape 6"/>
          <p:cNvSpPr/>
          <p:nvPr/>
        </p:nvSpPr>
        <p:spPr>
          <a:xfrm>
            <a:off x="4297680" y="4343400"/>
            <a:ext cx="3566160" cy="1737360"/>
          </a:xfrm>
          <a:prstGeom prst="roundRect">
            <a:avLst>
              <a:gd name="adj" fmla="val 4211"/>
            </a:avLst>
          </a:prstGeom>
          <a:solidFill>
            <a:schemeClr val="bg2"/>
          </a:solidFill>
          <a:ln/>
        </p:spPr>
      </p:sp>
      <p:sp>
        <p:nvSpPr>
          <p:cNvPr id="11" name="Shape 7"/>
          <p:cNvSpPr/>
          <p:nvPr/>
        </p:nvSpPr>
        <p:spPr>
          <a:xfrm>
            <a:off x="4572000" y="4617720"/>
            <a:ext cx="274320" cy="274320"/>
          </a:xfrm>
          <a:prstGeom prst="ellipse">
            <a:avLst/>
          </a:prstGeom>
          <a:solidFill>
            <a:srgbClr val="2CA02C"/>
          </a:solidFill>
          <a:ln/>
        </p:spPr>
      </p:sp>
      <p:sp>
        <p:nvSpPr>
          <p:cNvPr id="12" name="Text 8"/>
          <p:cNvSpPr txBox="1"/>
          <p:nvPr/>
        </p:nvSpPr>
        <p:spPr>
          <a:xfrm>
            <a:off x="4983480" y="4480560"/>
            <a:ext cx="2651760" cy="548640"/>
          </a:xfrm>
          <a:prstGeom prst="rect">
            <a:avLst/>
          </a:prstGeom>
          <a:noFill/>
          <a:ln/>
        </p:spPr>
        <p:txBody>
          <a:bodyPr wrap="square" lIns="0" tIns="0" rIns="0" bIns="0" rtlCol="0" anchor="ctr"/>
          <a:lstStyle/>
          <a:p>
            <a:pPr indent="0" marL="0">
              <a:buNone/>
            </a:pPr>
            <a:r>
              <a:rPr lang="en-US" sz="3000" b="1" dirty="0">
                <a:solidFill>
                  <a:schemeClr val="tx2"/>
                </a:solidFill>
              </a:rPr>
              <a:t>3.000 t</a:t>
            </a:r>
            <a:endParaRPr lang="en-US" sz="3000" dirty="0"/>
          </a:p>
        </p:txBody>
      </p:sp>
      <p:sp>
        <p:nvSpPr>
          <p:cNvPr id="13" name="Text 9"/>
          <p:cNvSpPr txBox="1"/>
          <p:nvPr/>
        </p:nvSpPr>
        <p:spPr>
          <a:xfrm>
            <a:off x="4572000" y="5074920"/>
            <a:ext cx="3063240" cy="914400"/>
          </a:xfrm>
          <a:prstGeom prst="rect">
            <a:avLst/>
          </a:prstGeom>
          <a:noFill/>
          <a:ln/>
        </p:spPr>
        <p:txBody>
          <a:bodyPr wrap="square" lIns="0" tIns="0" rIns="0" bIns="0" rtlCol="0" anchor="t"/>
          <a:lstStyle/>
          <a:p>
            <a:pPr indent="0" marL="0">
              <a:buNone/>
            </a:pPr>
            <a:r>
              <a:rPr lang="en-US" sz="1400" dirty="0">
                <a:solidFill>
                  <a:schemeClr val="tx1"/>
                </a:solidFill>
              </a:rPr>
              <a:t>Cota de 5 t + defeso: estoque estável em 774 t; a maior pesca em 60 anos</a:t>
            </a:r>
            <a:endParaRPr lang="en-US" sz="1400" dirty="0"/>
          </a:p>
        </p:txBody>
      </p:sp>
      <p:sp>
        <p:nvSpPr>
          <p:cNvPr id="14" name="Shape 10"/>
          <p:cNvSpPr/>
          <p:nvPr/>
        </p:nvSpPr>
        <p:spPr>
          <a:xfrm>
            <a:off x="8046720" y="4343400"/>
            <a:ext cx="3566160" cy="1737360"/>
          </a:xfrm>
          <a:prstGeom prst="roundRect">
            <a:avLst>
              <a:gd name="adj" fmla="val 4211"/>
            </a:avLst>
          </a:prstGeom>
          <a:solidFill>
            <a:schemeClr val="bg2"/>
          </a:solidFill>
          <a:ln/>
        </p:spPr>
      </p:sp>
      <p:sp>
        <p:nvSpPr>
          <p:cNvPr id="15" name="Shape 11"/>
          <p:cNvSpPr/>
          <p:nvPr/>
        </p:nvSpPr>
        <p:spPr>
          <a:xfrm>
            <a:off x="8321040" y="4617720"/>
            <a:ext cx="274320" cy="274320"/>
          </a:xfrm>
          <a:prstGeom prst="ellipse">
            <a:avLst/>
          </a:prstGeom>
          <a:solidFill>
            <a:srgbClr val="FF7F0E"/>
          </a:solidFill>
          <a:ln/>
        </p:spPr>
      </p:sp>
      <p:sp>
        <p:nvSpPr>
          <p:cNvPr id="16" name="Text 12"/>
          <p:cNvSpPr txBox="1"/>
          <p:nvPr/>
        </p:nvSpPr>
        <p:spPr>
          <a:xfrm>
            <a:off x="8732520" y="4480560"/>
            <a:ext cx="2651760" cy="548640"/>
          </a:xfrm>
          <a:prstGeom prst="rect">
            <a:avLst/>
          </a:prstGeom>
          <a:noFill/>
          <a:ln/>
        </p:spPr>
        <p:txBody>
          <a:bodyPr wrap="square" lIns="0" tIns="0" rIns="0" bIns="0" rtlCol="0" anchor="ctr"/>
          <a:lstStyle/>
          <a:p>
            <a:pPr indent="0" marL="0">
              <a:buNone/>
            </a:pPr>
            <a:r>
              <a:rPr lang="en-US" sz="3000" b="1" dirty="0">
                <a:solidFill>
                  <a:schemeClr val="tx2"/>
                </a:solidFill>
              </a:rPr>
              <a:t>Ano 29</a:t>
            </a:r>
            <a:endParaRPr lang="en-US" sz="3000" dirty="0"/>
          </a:p>
        </p:txBody>
      </p:sp>
      <p:sp>
        <p:nvSpPr>
          <p:cNvPr id="17" name="Text 13"/>
          <p:cNvSpPr txBox="1"/>
          <p:nvPr/>
        </p:nvSpPr>
        <p:spPr>
          <a:xfrm>
            <a:off x="8321040" y="5074920"/>
            <a:ext cx="3063240" cy="914400"/>
          </a:xfrm>
          <a:prstGeom prst="rect">
            <a:avLst/>
          </a:prstGeom>
          <a:noFill/>
          <a:ln/>
        </p:spPr>
        <p:txBody>
          <a:bodyPr wrap="square" lIns="0" tIns="0" rIns="0" bIns="0" rtlCol="0" anchor="t"/>
          <a:lstStyle/>
          <a:p>
            <a:pPr indent="0" marL="0">
              <a:buNone/>
            </a:pPr>
            <a:r>
              <a:rPr lang="en-US" sz="1400" dirty="0">
                <a:solidFill>
                  <a:schemeClr val="tx1"/>
                </a:solidFill>
              </a:rPr>
              <a:t>3 caronas pescando 15 t: o colapso só é adiado; 2.268 t no total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Boids: um bando sem líder</a:t>
            </a:r>
            <a:endParaRPr lang="en-US" sz="3400" dirty="0"/>
          </a:p>
        </p:txBody>
      </p:sp>
      <p:pic>
        <p:nvPicPr>
          <p:cNvPr id="4" name="Image 0" descr="/private/tmp/claude-501/-Users-macbookpro--claude-spares-spare-wdbrp0/739b5760-ca18-40e0-ab06-85dbfcc54c60/scratchpad/deck/img/boids.png">    </p:cNvPr>
          <p:cNvPicPr>
            <a:picLocks noChangeAspect="1"/>
          </p:cNvPicPr>
          <p:nvPr/>
        </p:nvPicPr>
        <p:blipFill>
          <a:blip r:embed="rId1"/>
          <a:stretch>
            <a:fillRect/>
          </a:stretch>
        </p:blipFill>
        <p:spPr>
          <a:xfrm>
            <a:off x="548640" y="1417320"/>
            <a:ext cx="7680960" cy="2688336"/>
          </a:xfrm>
          <a:prstGeom prst="rect">
            <a:avLst/>
          </a:prstGeom>
        </p:spPr>
      </p:pic>
      <p:sp>
        <p:nvSpPr>
          <p:cNvPr id="5" name="Text 1"/>
          <p:cNvSpPr txBox="1"/>
          <p:nvPr/>
        </p:nvSpPr>
        <p:spPr>
          <a:xfrm>
            <a:off x="548640" y="4251960"/>
            <a:ext cx="7680960" cy="457200"/>
          </a:xfrm>
          <a:prstGeom prst="rect">
            <a:avLst/>
          </a:prstGeom>
          <a:noFill/>
          <a:ln/>
        </p:spPr>
        <p:txBody>
          <a:bodyPr wrap="square" lIns="0" tIns="0" rIns="0" bIns="0" rtlCol="0" anchor="t"/>
          <a:lstStyle/>
          <a:p>
            <a:pPr indent="0" marL="0">
              <a:buNone/>
            </a:pPr>
            <a:r>
              <a:rPr lang="en-US" sz="1500" b="1" dirty="0">
                <a:solidFill>
                  <a:schemeClr val="accent4"/>
                </a:solidFill>
              </a:rPr>
              <a:t>Ordem do bando (1 = todos alinhados): 0,01 → 0,31 no passo 50 → 1,00 no passo 300</a:t>
            </a:r>
            <a:endParaRPr lang="en-US" sz="1500" dirty="0"/>
          </a:p>
        </p:txBody>
      </p:sp>
      <p:sp>
        <p:nvSpPr>
          <p:cNvPr id="6" name="Shape 2"/>
          <p:cNvSpPr/>
          <p:nvPr/>
        </p:nvSpPr>
        <p:spPr>
          <a:xfrm>
            <a:off x="548640" y="4892040"/>
            <a:ext cx="7680960" cy="1188720"/>
          </a:xfrm>
          <a:prstGeom prst="roundRect">
            <a:avLst>
              <a:gd name="adj" fmla="val 6154"/>
            </a:avLst>
          </a:prstGeom>
          <a:solidFill>
            <a:schemeClr val="bg2"/>
          </a:solidFill>
          <a:ln/>
        </p:spPr>
      </p:sp>
      <p:sp>
        <p:nvSpPr>
          <p:cNvPr id="7" name="Text 3"/>
          <p:cNvSpPr txBox="1"/>
          <p:nvPr/>
        </p:nvSpPr>
        <p:spPr>
          <a:xfrm>
            <a:off x="777240" y="4937760"/>
            <a:ext cx="7223760" cy="1097280"/>
          </a:xfrm>
          <a:prstGeom prst="rect">
            <a:avLst/>
          </a:prstGeom>
          <a:noFill/>
          <a:ln/>
        </p:spPr>
        <p:txBody>
          <a:bodyPr wrap="square" lIns="0" tIns="0" rIns="0" bIns="0" rtlCol="0" anchor="ctr"/>
          <a:lstStyle/>
          <a:p>
            <a:pPr indent="0" marL="0">
              <a:buNone/>
            </a:pPr>
            <a:r>
              <a:rPr lang="en-US" sz="1500" dirty="0">
                <a:solidFill>
                  <a:schemeClr val="tx1"/>
                </a:solidFill>
              </a:rPr>
              <a:t>Sem líder e sem plano global: cada boid só enxerga os vizinhos próximos. Aplicações: shows de drones, multidões em filmes e jogos, robótica de enxame.</a:t>
            </a:r>
            <a:endParaRPr lang="en-US" sz="1500" dirty="0"/>
          </a:p>
        </p:txBody>
      </p:sp>
      <p:sp>
        <p:nvSpPr>
          <p:cNvPr id="8" name="Text 4"/>
          <p:cNvSpPr txBox="1"/>
          <p:nvPr/>
        </p:nvSpPr>
        <p:spPr>
          <a:xfrm>
            <a:off x="8595360" y="1417320"/>
            <a:ext cx="3017520" cy="411480"/>
          </a:xfrm>
          <a:prstGeom prst="rect">
            <a:avLst/>
          </a:prstGeom>
          <a:noFill/>
          <a:ln/>
        </p:spPr>
        <p:txBody>
          <a:bodyPr wrap="square" lIns="0" tIns="0" rIns="0" bIns="0" rtlCol="0" anchor="t"/>
          <a:lstStyle/>
          <a:p>
            <a:pPr indent="0" marL="0">
              <a:buNone/>
            </a:pPr>
            <a:r>
              <a:rPr lang="en-US" sz="1700" b="1" dirty="0">
                <a:solidFill>
                  <a:schemeClr val="tx2"/>
                </a:solidFill>
              </a:rPr>
              <a:t>3 regras locais (Reynolds, 1987)</a:t>
            </a:r>
            <a:endParaRPr lang="en-US" sz="1700" dirty="0"/>
          </a:p>
        </p:txBody>
      </p:sp>
      <p:sp>
        <p:nvSpPr>
          <p:cNvPr id="9" name="Shape 5"/>
          <p:cNvSpPr/>
          <p:nvPr/>
        </p:nvSpPr>
        <p:spPr>
          <a:xfrm>
            <a:off x="8595360" y="2011680"/>
            <a:ext cx="685800" cy="6858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8759952" y="2176272"/>
            <a:ext cx="356616" cy="356616"/>
          </a:xfrm>
          <a:prstGeom prst="rect">
            <a:avLst/>
          </a:prstGeom>
        </p:spPr>
      </p:pic>
      <p:sp>
        <p:nvSpPr>
          <p:cNvPr id="11" name="Text 6"/>
          <p:cNvSpPr txBox="1"/>
          <p:nvPr/>
        </p:nvSpPr>
        <p:spPr>
          <a:xfrm>
            <a:off x="9464040" y="1965960"/>
            <a:ext cx="2148840" cy="1234440"/>
          </a:xfrm>
          <a:prstGeom prst="rect">
            <a:avLst/>
          </a:prstGeom>
          <a:noFill/>
          <a:ln/>
        </p:spPr>
        <p:txBody>
          <a:bodyPr wrap="square" lIns="0" tIns="0" rIns="0" bIns="0" rtlCol="0" anchor="t"/>
          <a:lstStyle/>
          <a:p>
            <a:pPr indent="0" marL="0">
              <a:buNone/>
            </a:pPr>
            <a:r>
              <a:rPr lang="en-US" sz="1800" b="1" dirty="0">
                <a:solidFill>
                  <a:schemeClr val="tx2"/>
                </a:solidFill>
              </a:rPr>
              <a:t>Separação</a:t>
            </a:r>
            <a:endParaRPr lang="en-US" sz="1600" dirty="0"/>
          </a:p>
          <a:p>
            <a:pPr indent="0" marL="0">
              <a:buNone/>
            </a:pPr>
            <a:r>
              <a:rPr lang="en-US" sz="1500" dirty="0">
                <a:solidFill>
                  <a:schemeClr val="tx1"/>
                </a:solidFill>
              </a:rPr>
              <a:t>afaste-se de quem está perto demais</a:t>
            </a:r>
            <a:endParaRPr lang="en-US" sz="1600" dirty="0"/>
          </a:p>
        </p:txBody>
      </p:sp>
      <p:sp>
        <p:nvSpPr>
          <p:cNvPr id="12" name="Shape 7"/>
          <p:cNvSpPr/>
          <p:nvPr/>
        </p:nvSpPr>
        <p:spPr>
          <a:xfrm>
            <a:off x="8595360" y="3383280"/>
            <a:ext cx="685800" cy="68580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759952" y="3547872"/>
            <a:ext cx="356616" cy="356616"/>
          </a:xfrm>
          <a:prstGeom prst="rect">
            <a:avLst/>
          </a:prstGeom>
        </p:spPr>
      </p:pic>
      <p:sp>
        <p:nvSpPr>
          <p:cNvPr id="14" name="Text 8"/>
          <p:cNvSpPr txBox="1"/>
          <p:nvPr/>
        </p:nvSpPr>
        <p:spPr>
          <a:xfrm>
            <a:off x="9464040" y="3337560"/>
            <a:ext cx="2148840" cy="1234440"/>
          </a:xfrm>
          <a:prstGeom prst="rect">
            <a:avLst/>
          </a:prstGeom>
          <a:noFill/>
          <a:ln/>
        </p:spPr>
        <p:txBody>
          <a:bodyPr wrap="square" lIns="0" tIns="0" rIns="0" bIns="0" rtlCol="0" anchor="t"/>
          <a:lstStyle/>
          <a:p>
            <a:pPr indent="0" marL="0">
              <a:buNone/>
            </a:pPr>
            <a:r>
              <a:rPr lang="en-US" sz="1800" b="1" dirty="0">
                <a:solidFill>
                  <a:schemeClr val="tx2"/>
                </a:solidFill>
              </a:rPr>
              <a:t>Alinhamento</a:t>
            </a:r>
            <a:endParaRPr lang="en-US" sz="1600" dirty="0"/>
          </a:p>
          <a:p>
            <a:pPr indent="0" marL="0">
              <a:buNone/>
            </a:pPr>
            <a:r>
              <a:rPr lang="en-US" sz="1500" dirty="0">
                <a:solidFill>
                  <a:schemeClr val="tx1"/>
                </a:solidFill>
              </a:rPr>
              <a:t>voe na direção média dos vizinhos</a:t>
            </a:r>
            <a:endParaRPr lang="en-US" sz="1600" dirty="0"/>
          </a:p>
        </p:txBody>
      </p:sp>
      <p:sp>
        <p:nvSpPr>
          <p:cNvPr id="15" name="Shape 9"/>
          <p:cNvSpPr/>
          <p:nvPr/>
        </p:nvSpPr>
        <p:spPr>
          <a:xfrm>
            <a:off x="8595360" y="4754880"/>
            <a:ext cx="685800" cy="685800"/>
          </a:xfrm>
          <a:prstGeom prst="ellipse">
            <a:avLst/>
          </a:prstGeom>
          <a:solidFill>
            <a:schemeClr val="accent4"/>
          </a:solidFill>
          <a:ln/>
        </p:spPr>
      </p:sp>
      <p:pic>
        <p:nvPicPr>
          <p:cNvPr id="16" name="Image 3" descr="preencoded.png">    </p:cNvPr>
          <p:cNvPicPr>
            <a:picLocks noChangeAspect="1"/>
          </p:cNvPicPr>
          <p:nvPr/>
        </p:nvPicPr>
        <p:blipFill>
          <a:blip r:embed="rId4"/>
          <a:stretch>
            <a:fillRect/>
          </a:stretch>
        </p:blipFill>
        <p:spPr>
          <a:xfrm>
            <a:off x="8759952" y="4919472"/>
            <a:ext cx="356616" cy="356616"/>
          </a:xfrm>
          <a:prstGeom prst="rect">
            <a:avLst/>
          </a:prstGeom>
        </p:spPr>
      </p:pic>
      <p:sp>
        <p:nvSpPr>
          <p:cNvPr id="17" name="Text 10"/>
          <p:cNvSpPr txBox="1"/>
          <p:nvPr/>
        </p:nvSpPr>
        <p:spPr>
          <a:xfrm>
            <a:off x="9464040" y="4709160"/>
            <a:ext cx="2148840" cy="1234440"/>
          </a:xfrm>
          <a:prstGeom prst="rect">
            <a:avLst/>
          </a:prstGeom>
          <a:noFill/>
          <a:ln/>
        </p:spPr>
        <p:txBody>
          <a:bodyPr wrap="square" lIns="0" tIns="0" rIns="0" bIns="0" rtlCol="0" anchor="t"/>
          <a:lstStyle/>
          <a:p>
            <a:pPr indent="0" marL="0">
              <a:buNone/>
            </a:pPr>
            <a:r>
              <a:rPr lang="en-US" sz="1800" b="1" dirty="0">
                <a:solidFill>
                  <a:schemeClr val="tx2"/>
                </a:solidFill>
              </a:rPr>
              <a:t>Coesão</a:t>
            </a:r>
            <a:endParaRPr lang="en-US" sz="1600" dirty="0"/>
          </a:p>
          <a:p>
            <a:pPr indent="0" marL="0">
              <a:buNone/>
            </a:pPr>
            <a:r>
              <a:rPr lang="en-US" sz="1500" dirty="0">
                <a:solidFill>
                  <a:schemeClr val="tx1"/>
                </a:solidFill>
              </a:rPr>
              <a:t>vá para o centro dos vizinhos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Schelling: preferências leves, bairros separados</a:t>
            </a:r>
            <a:endParaRPr lang="en-US" sz="3400" dirty="0"/>
          </a:p>
        </p:txBody>
      </p:sp>
      <p:pic>
        <p:nvPicPr>
          <p:cNvPr id="4" name="Image 0" descr="/private/tmp/claude-501/-Users-macbookpro--claude-spares-spare-wdbrp0/739b5760-ca18-40e0-ab06-85dbfcc54c60/scratchpad/deck/img/schelling.png">    </p:cNvPr>
          <p:cNvPicPr>
            <a:picLocks noChangeAspect="1"/>
          </p:cNvPicPr>
          <p:nvPr/>
        </p:nvPicPr>
        <p:blipFill>
          <a:blip r:embed="rId1"/>
          <a:stretch>
            <a:fillRect/>
          </a:stretch>
        </p:blipFill>
        <p:spPr>
          <a:xfrm>
            <a:off x="548640" y="1371600"/>
            <a:ext cx="5577840" cy="2852928"/>
          </a:xfrm>
          <a:prstGeom prst="rect">
            <a:avLst/>
          </a:prstGeom>
        </p:spPr>
      </p:pic>
      <p:graphicFrame>
        <p:nvGraphicFramePr>
          <p:cNvPr id="5" name="Chart 0" descr=""/>
          <p:cNvGraphicFramePr/>
          <p:nvPr/>
        </p:nvGraphicFramePr>
        <p:xfrm>
          <a:off x="6400800" y="1325880"/>
          <a:ext cx="5212080" cy="301752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4480560"/>
            <a:ext cx="5440680" cy="1600200"/>
          </a:xfrm>
          <a:prstGeom prst="roundRect">
            <a:avLst>
              <a:gd name="adj" fmla="val 4571"/>
            </a:avLst>
          </a:prstGeom>
          <a:solidFill>
            <a:schemeClr val="bg2"/>
          </a:solidFill>
          <a:ln/>
        </p:spPr>
      </p:sp>
      <p:sp>
        <p:nvSpPr>
          <p:cNvPr id="7" name="Text 2"/>
          <p:cNvSpPr txBox="1"/>
          <p:nvPr/>
        </p:nvSpPr>
        <p:spPr>
          <a:xfrm>
            <a:off x="777240" y="4526280"/>
            <a:ext cx="4983480" cy="1508760"/>
          </a:xfrm>
          <a:prstGeom prst="rect">
            <a:avLst/>
          </a:prstGeom>
          <a:noFill/>
          <a:ln/>
        </p:spPr>
        <p:txBody>
          <a:bodyPr wrap="square" lIns="0" tIns="0" rIns="0" bIns="0" rtlCol="0" anchor="ctr"/>
          <a:lstStyle/>
          <a:p>
            <a:pPr indent="0" marL="0">
              <a:buNone/>
            </a:pPr>
            <a:r>
              <a:rPr lang="en-US" sz="1500" b="1" dirty="0">
                <a:solidFill>
                  <a:schemeClr val="tx1"/>
                </a:solidFill>
              </a:rPr>
              <a:t>Exigência de 30% → 76% de vizinhos iguais. </a:t>
            </a:r>
            <a:pPr indent="0" marL="0">
              <a:buNone/>
            </a:pPr>
            <a:r>
              <a:rPr lang="en-US" sz="1500" dirty="0">
                <a:solidFill>
                  <a:schemeClr val="tx1"/>
                </a:solidFill>
              </a:rPr>
              <a:t>Micromotivos leves, macrocomportamento extremo (Schelling, 1971; 1978).</a:t>
            </a:r>
            <a:endParaRPr lang="en-US" sz="1500" dirty="0"/>
          </a:p>
        </p:txBody>
      </p:sp>
      <p:sp>
        <p:nvSpPr>
          <p:cNvPr id="8" name="Shape 3"/>
          <p:cNvSpPr/>
          <p:nvPr/>
        </p:nvSpPr>
        <p:spPr>
          <a:xfrm>
            <a:off x="6172200" y="4480560"/>
            <a:ext cx="5440680" cy="1600200"/>
          </a:xfrm>
          <a:prstGeom prst="roundRect">
            <a:avLst>
              <a:gd name="adj" fmla="val 4571"/>
            </a:avLst>
          </a:prstGeom>
          <a:solidFill>
            <a:schemeClr val="bg2"/>
          </a:solidFill>
          <a:ln/>
        </p:spPr>
      </p:sp>
      <p:sp>
        <p:nvSpPr>
          <p:cNvPr id="9" name="Text 4"/>
          <p:cNvSpPr txBox="1"/>
          <p:nvPr/>
        </p:nvSpPr>
        <p:spPr>
          <a:xfrm>
            <a:off x="6400800" y="4526280"/>
            <a:ext cx="4983480" cy="1508760"/>
          </a:xfrm>
          <a:prstGeom prst="rect">
            <a:avLst/>
          </a:prstGeom>
          <a:noFill/>
          <a:ln/>
        </p:spPr>
        <p:txBody>
          <a:bodyPr wrap="square" lIns="0" tIns="0" rIns="0" bIns="0" rtlCol="0" anchor="ctr"/>
          <a:lstStyle/>
          <a:p>
            <a:pPr indent="0" marL="0">
              <a:buNone/>
            </a:pPr>
            <a:r>
              <a:rPr lang="en-US" sz="1500" dirty="0">
                <a:solidFill>
                  <a:schemeClr val="tx1"/>
                </a:solidFill>
              </a:rPr>
              <a:t>Com 70% ou 80%, quase ninguém fica satisfeito e o modelo não se estabiliza. </a:t>
            </a:r>
            <a:pPr indent="0" marL="0">
              <a:buNone/>
            </a:pPr>
            <a:r>
              <a:rPr lang="en-US" sz="1500" i="1" dirty="0">
                <a:solidFill>
                  <a:schemeClr val="accent4"/>
                </a:solidFill>
              </a:rPr>
              <a:t>Paralelos: segregação urbana, bolhas em redes sociais.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06</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Decisão coletiva</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Quando os agentes precisam votar · Notebook, Seção 7</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Mesmos votos, regras diferentes, vencedores diferentes</a:t>
            </a:r>
            <a:endParaRPr lang="en-US" sz="3400" dirty="0"/>
          </a:p>
        </p:txBody>
      </p:sp>
      <p:sp>
        <p:nvSpPr>
          <p:cNvPr id="4" name="Shape 1"/>
          <p:cNvSpPr/>
          <p:nvPr/>
        </p:nvSpPr>
        <p:spPr>
          <a:xfrm>
            <a:off x="548640" y="1417320"/>
            <a:ext cx="4206240" cy="3657600"/>
          </a:xfrm>
          <a:prstGeom prst="roundRect">
            <a:avLst>
              <a:gd name="adj" fmla="val 2000"/>
            </a:avLst>
          </a:prstGeom>
          <a:solidFill>
            <a:schemeClr val="bg2"/>
          </a:solidFill>
          <a:ln/>
        </p:spPr>
      </p:sp>
      <p:sp>
        <p:nvSpPr>
          <p:cNvPr id="5" name="Text 2"/>
          <p:cNvSpPr txBox="1"/>
          <p:nvPr/>
        </p:nvSpPr>
        <p:spPr>
          <a:xfrm>
            <a:off x="777240" y="1554480"/>
            <a:ext cx="3749040" cy="685800"/>
          </a:xfrm>
          <a:prstGeom prst="rect">
            <a:avLst/>
          </a:prstGeom>
          <a:noFill/>
          <a:ln/>
        </p:spPr>
        <p:txBody>
          <a:bodyPr wrap="square" lIns="0" tIns="0" rIns="0" bIns="0" rtlCol="0" anchor="t"/>
          <a:lstStyle/>
          <a:p>
            <a:pPr indent="0" marL="0">
              <a:buNone/>
            </a:pPr>
            <a:r>
              <a:rPr lang="en-US" sz="1800" b="1" dirty="0">
                <a:solidFill>
                  <a:schemeClr val="tx2"/>
                </a:solidFill>
              </a:rPr>
              <a:t>19 alunos escolhem a confraternização</a:t>
            </a:r>
            <a:endParaRPr lang="en-US" sz="1800" dirty="0"/>
          </a:p>
        </p:txBody>
      </p:sp>
      <p:sp>
        <p:nvSpPr>
          <p:cNvPr id="6" name="Text 3"/>
          <p:cNvSpPr txBox="1"/>
          <p:nvPr/>
        </p:nvSpPr>
        <p:spPr>
          <a:xfrm>
            <a:off x="777240" y="2377440"/>
            <a:ext cx="3749040" cy="777240"/>
          </a:xfrm>
          <a:prstGeom prst="rect">
            <a:avLst/>
          </a:prstGeom>
          <a:noFill/>
          <a:ln/>
        </p:spPr>
        <p:txBody>
          <a:bodyPr wrap="square" lIns="0" tIns="0" rIns="0" bIns="0" rtlCol="0" anchor="t"/>
          <a:lstStyle/>
          <a:p>
            <a:pPr indent="0" marL="0">
              <a:buNone/>
            </a:pPr>
            <a:r>
              <a:rPr lang="en-US" sz="1600" b="1" dirty="0">
                <a:solidFill>
                  <a:schemeClr val="accent1"/>
                </a:solidFill>
              </a:rPr>
              <a:t>8 alunos</a:t>
            </a:r>
            <a:endParaRPr lang="en-US" sz="1600" dirty="0"/>
          </a:p>
          <a:p>
            <a:pPr indent="0" marL="0">
              <a:buNone/>
            </a:pPr>
            <a:r>
              <a:rPr lang="en-US" sz="1600" dirty="0">
                <a:solidFill>
                  <a:schemeClr val="tx1"/>
                </a:solidFill>
              </a:rPr>
              <a:t>Pizzaria &gt; Japonês &gt; Churrascaria</a:t>
            </a:r>
            <a:endParaRPr lang="en-US" sz="1600" dirty="0"/>
          </a:p>
        </p:txBody>
      </p:sp>
      <p:sp>
        <p:nvSpPr>
          <p:cNvPr id="7" name="Text 4"/>
          <p:cNvSpPr txBox="1"/>
          <p:nvPr/>
        </p:nvSpPr>
        <p:spPr>
          <a:xfrm>
            <a:off x="777240" y="3246120"/>
            <a:ext cx="3749040" cy="777240"/>
          </a:xfrm>
          <a:prstGeom prst="rect">
            <a:avLst/>
          </a:prstGeom>
          <a:noFill/>
          <a:ln/>
        </p:spPr>
        <p:txBody>
          <a:bodyPr wrap="square" lIns="0" tIns="0" rIns="0" bIns="0" rtlCol="0" anchor="t"/>
          <a:lstStyle/>
          <a:p>
            <a:pPr indent="0" marL="0">
              <a:buNone/>
            </a:pPr>
            <a:r>
              <a:rPr lang="en-US" sz="1600" b="1" dirty="0">
                <a:solidFill>
                  <a:schemeClr val="accent1"/>
                </a:solidFill>
              </a:rPr>
              <a:t>6 alunos</a:t>
            </a:r>
            <a:endParaRPr lang="en-US" sz="1600" dirty="0"/>
          </a:p>
          <a:p>
            <a:pPr indent="0" marL="0">
              <a:buNone/>
            </a:pPr>
            <a:r>
              <a:rPr lang="en-US" sz="1600" dirty="0">
                <a:solidFill>
                  <a:schemeClr val="tx1"/>
                </a:solidFill>
              </a:rPr>
              <a:t>Churrascaria &gt; Japonês &gt; Pizzaria</a:t>
            </a:r>
            <a:endParaRPr lang="en-US" sz="1600" dirty="0"/>
          </a:p>
        </p:txBody>
      </p:sp>
      <p:sp>
        <p:nvSpPr>
          <p:cNvPr id="8" name="Text 5"/>
          <p:cNvSpPr txBox="1"/>
          <p:nvPr/>
        </p:nvSpPr>
        <p:spPr>
          <a:xfrm>
            <a:off x="777240" y="4114800"/>
            <a:ext cx="3749040" cy="777240"/>
          </a:xfrm>
          <a:prstGeom prst="rect">
            <a:avLst/>
          </a:prstGeom>
          <a:noFill/>
          <a:ln/>
        </p:spPr>
        <p:txBody>
          <a:bodyPr wrap="square" lIns="0" tIns="0" rIns="0" bIns="0" rtlCol="0" anchor="t"/>
          <a:lstStyle/>
          <a:p>
            <a:pPr indent="0" marL="0">
              <a:buNone/>
            </a:pPr>
            <a:r>
              <a:rPr lang="en-US" sz="1600" b="1" dirty="0">
                <a:solidFill>
                  <a:schemeClr val="accent1"/>
                </a:solidFill>
              </a:rPr>
              <a:t>5 alunos</a:t>
            </a:r>
            <a:endParaRPr lang="en-US" sz="1600" dirty="0"/>
          </a:p>
          <a:p>
            <a:pPr indent="0" marL="0">
              <a:buNone/>
            </a:pPr>
            <a:r>
              <a:rPr lang="en-US" sz="1600" dirty="0">
                <a:solidFill>
                  <a:schemeClr val="tx1"/>
                </a:solidFill>
              </a:rPr>
              <a:t>Japonês &gt; Churrascaria &gt; Pizzaria</a:t>
            </a:r>
            <a:endParaRPr lang="en-US" sz="1600" dirty="0"/>
          </a:p>
        </p:txBody>
      </p:sp>
      <p:sp>
        <p:nvSpPr>
          <p:cNvPr id="9" name="Shape 6"/>
          <p:cNvSpPr/>
          <p:nvPr/>
        </p:nvSpPr>
        <p:spPr>
          <a:xfrm>
            <a:off x="5029200" y="1417320"/>
            <a:ext cx="3246120" cy="1783080"/>
          </a:xfrm>
          <a:prstGeom prst="roundRect">
            <a:avLst>
              <a:gd name="adj" fmla="val 4103"/>
            </a:avLst>
          </a:prstGeom>
          <a:solidFill>
            <a:schemeClr val="bg2"/>
          </a:solidFill>
          <a:ln/>
        </p:spPr>
      </p:sp>
      <p:sp>
        <p:nvSpPr>
          <p:cNvPr id="10" name="Text 7"/>
          <p:cNvSpPr txBox="1"/>
          <p:nvPr/>
        </p:nvSpPr>
        <p:spPr>
          <a:xfrm>
            <a:off x="5257800" y="1600200"/>
            <a:ext cx="2788920" cy="365760"/>
          </a:xfrm>
          <a:prstGeom prst="rect">
            <a:avLst/>
          </a:prstGeom>
          <a:noFill/>
          <a:ln/>
        </p:spPr>
        <p:txBody>
          <a:bodyPr wrap="square" lIns="0" tIns="0" rIns="0" bIns="0" rtlCol="0" anchor="t"/>
          <a:lstStyle/>
          <a:p>
            <a:pPr indent="0" marL="0">
              <a:buNone/>
            </a:pPr>
            <a:r>
              <a:rPr lang="en-US" sz="1600" b="1" dirty="0">
                <a:solidFill>
                  <a:schemeClr val="accent6"/>
                </a:solidFill>
              </a:rPr>
              <a:t>Maioria simples</a:t>
            </a:r>
            <a:endParaRPr lang="en-US" sz="1600" dirty="0"/>
          </a:p>
        </p:txBody>
      </p:sp>
      <p:sp>
        <p:nvSpPr>
          <p:cNvPr id="11" name="Text 8"/>
          <p:cNvSpPr txBox="1"/>
          <p:nvPr/>
        </p:nvSpPr>
        <p:spPr>
          <a:xfrm>
            <a:off x="5257800" y="1965960"/>
            <a:ext cx="2788920" cy="548640"/>
          </a:xfrm>
          <a:prstGeom prst="rect">
            <a:avLst/>
          </a:prstGeom>
          <a:noFill/>
          <a:ln/>
        </p:spPr>
        <p:txBody>
          <a:bodyPr wrap="square" lIns="0" tIns="0" rIns="0" bIns="0" rtlCol="0" anchor="t"/>
          <a:lstStyle/>
          <a:p>
            <a:pPr indent="0" marL="0">
              <a:buNone/>
            </a:pPr>
            <a:r>
              <a:rPr lang="en-US" sz="2600" b="1" dirty="0">
                <a:solidFill>
                  <a:schemeClr val="accent1"/>
                </a:solidFill>
              </a:rPr>
              <a:t>Pizzaria</a:t>
            </a:r>
            <a:endParaRPr lang="en-US" sz="2600" dirty="0"/>
          </a:p>
        </p:txBody>
      </p:sp>
      <p:sp>
        <p:nvSpPr>
          <p:cNvPr id="12" name="Text 9"/>
          <p:cNvSpPr txBox="1"/>
          <p:nvPr/>
        </p:nvSpPr>
        <p:spPr>
          <a:xfrm>
            <a:off x="5257800" y="2514600"/>
            <a:ext cx="2788920" cy="548640"/>
          </a:xfrm>
          <a:prstGeom prst="rect">
            <a:avLst/>
          </a:prstGeom>
          <a:noFill/>
          <a:ln/>
        </p:spPr>
        <p:txBody>
          <a:bodyPr wrap="square" lIns="0" tIns="0" rIns="0" bIns="0" rtlCol="0" anchor="t"/>
          <a:lstStyle/>
          <a:p>
            <a:pPr indent="0" marL="0">
              <a:buNone/>
            </a:pPr>
            <a:r>
              <a:rPr lang="en-US" sz="1400" dirty="0">
                <a:solidFill>
                  <a:schemeClr val="tx1"/>
                </a:solidFill>
              </a:rPr>
              <a:t>8 × 6 × 5 votos</a:t>
            </a:r>
            <a:endParaRPr lang="en-US" sz="1400" dirty="0"/>
          </a:p>
        </p:txBody>
      </p:sp>
      <p:sp>
        <p:nvSpPr>
          <p:cNvPr id="13" name="Shape 10"/>
          <p:cNvSpPr/>
          <p:nvPr/>
        </p:nvSpPr>
        <p:spPr>
          <a:xfrm>
            <a:off x="8366760" y="1417320"/>
            <a:ext cx="3246120" cy="1783080"/>
          </a:xfrm>
          <a:prstGeom prst="roundRect">
            <a:avLst>
              <a:gd name="adj" fmla="val 4103"/>
            </a:avLst>
          </a:prstGeom>
          <a:solidFill>
            <a:schemeClr val="bg2"/>
          </a:solidFill>
          <a:ln/>
        </p:spPr>
      </p:sp>
      <p:sp>
        <p:nvSpPr>
          <p:cNvPr id="14" name="Text 11"/>
          <p:cNvSpPr txBox="1"/>
          <p:nvPr/>
        </p:nvSpPr>
        <p:spPr>
          <a:xfrm>
            <a:off x="8595360" y="1600200"/>
            <a:ext cx="2788920" cy="365760"/>
          </a:xfrm>
          <a:prstGeom prst="rect">
            <a:avLst/>
          </a:prstGeom>
          <a:noFill/>
          <a:ln/>
        </p:spPr>
        <p:txBody>
          <a:bodyPr wrap="square" lIns="0" tIns="0" rIns="0" bIns="0" rtlCol="0" anchor="t"/>
          <a:lstStyle/>
          <a:p>
            <a:pPr indent="0" marL="0">
              <a:buNone/>
            </a:pPr>
            <a:r>
              <a:rPr lang="en-US" sz="1600" b="1" dirty="0">
                <a:solidFill>
                  <a:schemeClr val="accent6"/>
                </a:solidFill>
              </a:rPr>
              <a:t>Dois turnos</a:t>
            </a:r>
            <a:endParaRPr lang="en-US" sz="1600" dirty="0"/>
          </a:p>
        </p:txBody>
      </p:sp>
      <p:sp>
        <p:nvSpPr>
          <p:cNvPr id="15" name="Text 12"/>
          <p:cNvSpPr txBox="1"/>
          <p:nvPr/>
        </p:nvSpPr>
        <p:spPr>
          <a:xfrm>
            <a:off x="8595360" y="1965960"/>
            <a:ext cx="2788920" cy="548640"/>
          </a:xfrm>
          <a:prstGeom prst="rect">
            <a:avLst/>
          </a:prstGeom>
          <a:noFill/>
          <a:ln/>
        </p:spPr>
        <p:txBody>
          <a:bodyPr wrap="square" lIns="0" tIns="0" rIns="0" bIns="0" rtlCol="0" anchor="t"/>
          <a:lstStyle/>
          <a:p>
            <a:pPr indent="0" marL="0">
              <a:buNone/>
            </a:pPr>
            <a:r>
              <a:rPr lang="en-US" sz="2600" b="1" dirty="0">
                <a:solidFill>
                  <a:schemeClr val="accent4"/>
                </a:solidFill>
              </a:rPr>
              <a:t>Churrascaria</a:t>
            </a:r>
            <a:endParaRPr lang="en-US" sz="2600" dirty="0"/>
          </a:p>
        </p:txBody>
      </p:sp>
      <p:sp>
        <p:nvSpPr>
          <p:cNvPr id="16" name="Text 13"/>
          <p:cNvSpPr txBox="1"/>
          <p:nvPr/>
        </p:nvSpPr>
        <p:spPr>
          <a:xfrm>
            <a:off x="8595360" y="2514600"/>
            <a:ext cx="2788920" cy="548640"/>
          </a:xfrm>
          <a:prstGeom prst="rect">
            <a:avLst/>
          </a:prstGeom>
          <a:noFill/>
          <a:ln/>
        </p:spPr>
        <p:txBody>
          <a:bodyPr wrap="square" lIns="0" tIns="0" rIns="0" bIns="0" rtlCol="0" anchor="t"/>
          <a:lstStyle/>
          <a:p>
            <a:pPr indent="0" marL="0">
              <a:buNone/>
            </a:pPr>
            <a:r>
              <a:rPr lang="en-US" sz="1400" dirty="0">
                <a:solidFill>
                  <a:schemeClr val="tx1"/>
                </a:solidFill>
              </a:rPr>
              <a:t>2º turno: 11 × 8 contra a Pizzaria</a:t>
            </a:r>
            <a:endParaRPr lang="en-US" sz="1400" dirty="0"/>
          </a:p>
        </p:txBody>
      </p:sp>
      <p:sp>
        <p:nvSpPr>
          <p:cNvPr id="17" name="Shape 14"/>
          <p:cNvSpPr/>
          <p:nvPr/>
        </p:nvSpPr>
        <p:spPr>
          <a:xfrm>
            <a:off x="5029200" y="3291840"/>
            <a:ext cx="3246120" cy="1783080"/>
          </a:xfrm>
          <a:prstGeom prst="roundRect">
            <a:avLst>
              <a:gd name="adj" fmla="val 4103"/>
            </a:avLst>
          </a:prstGeom>
          <a:solidFill>
            <a:schemeClr val="bg2"/>
          </a:solidFill>
          <a:ln/>
        </p:spPr>
      </p:sp>
      <p:sp>
        <p:nvSpPr>
          <p:cNvPr id="18" name="Text 15"/>
          <p:cNvSpPr txBox="1"/>
          <p:nvPr/>
        </p:nvSpPr>
        <p:spPr>
          <a:xfrm>
            <a:off x="5257800" y="3474720"/>
            <a:ext cx="2788920" cy="365760"/>
          </a:xfrm>
          <a:prstGeom prst="rect">
            <a:avLst/>
          </a:prstGeom>
          <a:noFill/>
          <a:ln/>
        </p:spPr>
        <p:txBody>
          <a:bodyPr wrap="square" lIns="0" tIns="0" rIns="0" bIns="0" rtlCol="0" anchor="t"/>
          <a:lstStyle/>
          <a:p>
            <a:pPr indent="0" marL="0">
              <a:buNone/>
            </a:pPr>
            <a:r>
              <a:rPr lang="en-US" sz="1600" b="1" dirty="0">
                <a:solidFill>
                  <a:schemeClr val="accent6"/>
                </a:solidFill>
              </a:rPr>
              <a:t>Borda</a:t>
            </a:r>
            <a:endParaRPr lang="en-US" sz="1600" dirty="0"/>
          </a:p>
        </p:txBody>
      </p:sp>
      <p:sp>
        <p:nvSpPr>
          <p:cNvPr id="19" name="Text 16"/>
          <p:cNvSpPr txBox="1"/>
          <p:nvPr/>
        </p:nvSpPr>
        <p:spPr>
          <a:xfrm>
            <a:off x="5257800" y="3840480"/>
            <a:ext cx="2788920" cy="548640"/>
          </a:xfrm>
          <a:prstGeom prst="rect">
            <a:avLst/>
          </a:prstGeom>
          <a:noFill/>
          <a:ln/>
        </p:spPr>
        <p:txBody>
          <a:bodyPr wrap="square" lIns="0" tIns="0" rIns="0" bIns="0" rtlCol="0" anchor="t"/>
          <a:lstStyle/>
          <a:p>
            <a:pPr indent="0" marL="0">
              <a:buNone/>
            </a:pPr>
            <a:r>
              <a:rPr lang="en-US" sz="2600" b="1" dirty="0">
                <a:solidFill>
                  <a:schemeClr val="accent2"/>
                </a:solidFill>
              </a:rPr>
              <a:t>Japonês</a:t>
            </a:r>
            <a:endParaRPr lang="en-US" sz="2600" dirty="0"/>
          </a:p>
        </p:txBody>
      </p:sp>
      <p:sp>
        <p:nvSpPr>
          <p:cNvPr id="20" name="Text 17"/>
          <p:cNvSpPr txBox="1"/>
          <p:nvPr/>
        </p:nvSpPr>
        <p:spPr>
          <a:xfrm>
            <a:off x="5257800" y="4389120"/>
            <a:ext cx="2788920" cy="548640"/>
          </a:xfrm>
          <a:prstGeom prst="rect">
            <a:avLst/>
          </a:prstGeom>
          <a:noFill/>
          <a:ln/>
        </p:spPr>
        <p:txBody>
          <a:bodyPr wrap="square" lIns="0" tIns="0" rIns="0" bIns="0" rtlCol="0" anchor="t"/>
          <a:lstStyle/>
          <a:p>
            <a:pPr indent="0" marL="0">
              <a:buNone/>
            </a:pPr>
            <a:r>
              <a:rPr lang="en-US" sz="1400" dirty="0">
                <a:solidFill>
                  <a:schemeClr val="tx1"/>
                </a:solidFill>
              </a:rPr>
              <a:t>24 pontos × 17 × 16</a:t>
            </a:r>
            <a:endParaRPr lang="en-US" sz="1400" dirty="0"/>
          </a:p>
        </p:txBody>
      </p:sp>
      <p:sp>
        <p:nvSpPr>
          <p:cNvPr id="21" name="Shape 18"/>
          <p:cNvSpPr/>
          <p:nvPr/>
        </p:nvSpPr>
        <p:spPr>
          <a:xfrm>
            <a:off x="8366760" y="3291840"/>
            <a:ext cx="3246120" cy="1783080"/>
          </a:xfrm>
          <a:prstGeom prst="roundRect">
            <a:avLst>
              <a:gd name="adj" fmla="val 4103"/>
            </a:avLst>
          </a:prstGeom>
          <a:solidFill>
            <a:schemeClr val="bg2"/>
          </a:solidFill>
          <a:ln/>
        </p:spPr>
      </p:sp>
      <p:sp>
        <p:nvSpPr>
          <p:cNvPr id="22" name="Text 19"/>
          <p:cNvSpPr txBox="1"/>
          <p:nvPr/>
        </p:nvSpPr>
        <p:spPr>
          <a:xfrm>
            <a:off x="8595360" y="3474720"/>
            <a:ext cx="2788920" cy="365760"/>
          </a:xfrm>
          <a:prstGeom prst="rect">
            <a:avLst/>
          </a:prstGeom>
          <a:noFill/>
          <a:ln/>
        </p:spPr>
        <p:txBody>
          <a:bodyPr wrap="square" lIns="0" tIns="0" rIns="0" bIns="0" rtlCol="0" anchor="t"/>
          <a:lstStyle/>
          <a:p>
            <a:pPr indent="0" marL="0">
              <a:buNone/>
            </a:pPr>
            <a:r>
              <a:rPr lang="en-US" sz="1600" b="1" dirty="0">
                <a:solidFill>
                  <a:schemeClr val="accent6"/>
                </a:solidFill>
              </a:rPr>
              <a:t>Condorcet</a:t>
            </a:r>
            <a:endParaRPr lang="en-US" sz="1600" dirty="0"/>
          </a:p>
        </p:txBody>
      </p:sp>
      <p:sp>
        <p:nvSpPr>
          <p:cNvPr id="23" name="Text 20"/>
          <p:cNvSpPr txBox="1"/>
          <p:nvPr/>
        </p:nvSpPr>
        <p:spPr>
          <a:xfrm>
            <a:off x="8595360" y="3840480"/>
            <a:ext cx="2788920" cy="548640"/>
          </a:xfrm>
          <a:prstGeom prst="rect">
            <a:avLst/>
          </a:prstGeom>
          <a:noFill/>
          <a:ln/>
        </p:spPr>
        <p:txBody>
          <a:bodyPr wrap="square" lIns="0" tIns="0" rIns="0" bIns="0" rtlCol="0" anchor="t"/>
          <a:lstStyle/>
          <a:p>
            <a:pPr indent="0" marL="0">
              <a:buNone/>
            </a:pPr>
            <a:r>
              <a:rPr lang="en-US" sz="2600" b="1" dirty="0">
                <a:solidFill>
                  <a:schemeClr val="accent2"/>
                </a:solidFill>
              </a:rPr>
              <a:t>Japonês</a:t>
            </a:r>
            <a:endParaRPr lang="en-US" sz="2600" dirty="0"/>
          </a:p>
        </p:txBody>
      </p:sp>
      <p:sp>
        <p:nvSpPr>
          <p:cNvPr id="24" name="Text 21"/>
          <p:cNvSpPr txBox="1"/>
          <p:nvPr/>
        </p:nvSpPr>
        <p:spPr>
          <a:xfrm>
            <a:off x="8595360" y="4389120"/>
            <a:ext cx="2788920" cy="548640"/>
          </a:xfrm>
          <a:prstGeom prst="rect">
            <a:avLst/>
          </a:prstGeom>
          <a:noFill/>
          <a:ln/>
        </p:spPr>
        <p:txBody>
          <a:bodyPr wrap="square" lIns="0" tIns="0" rIns="0" bIns="0" rtlCol="0" anchor="t"/>
          <a:lstStyle/>
          <a:p>
            <a:pPr indent="0" marL="0">
              <a:buNone/>
            </a:pPr>
            <a:r>
              <a:rPr lang="en-US" sz="1400" dirty="0">
                <a:solidFill>
                  <a:schemeClr val="tx1"/>
                </a:solidFill>
              </a:rPr>
              <a:t>vence todos os confrontos diretos</a:t>
            </a:r>
            <a:endParaRPr lang="en-US" sz="1400" dirty="0"/>
          </a:p>
        </p:txBody>
      </p:sp>
      <p:sp>
        <p:nvSpPr>
          <p:cNvPr id="25" name="Shape 22"/>
          <p:cNvSpPr/>
          <p:nvPr/>
        </p:nvSpPr>
        <p:spPr>
          <a:xfrm>
            <a:off x="548640" y="5257800"/>
            <a:ext cx="11064240" cy="822960"/>
          </a:xfrm>
          <a:prstGeom prst="roundRect">
            <a:avLst>
              <a:gd name="adj" fmla="val 8889"/>
            </a:avLst>
          </a:prstGeom>
          <a:solidFill>
            <a:schemeClr val="tx2"/>
          </a:solidFill>
          <a:ln/>
        </p:spPr>
      </p:sp>
      <p:sp>
        <p:nvSpPr>
          <p:cNvPr id="26" name="Text 23"/>
          <p:cNvSpPr txBox="1"/>
          <p:nvPr/>
        </p:nvSpPr>
        <p:spPr>
          <a:xfrm>
            <a:off x="777240" y="5257800"/>
            <a:ext cx="10607040" cy="822960"/>
          </a:xfrm>
          <a:prstGeom prst="rect">
            <a:avLst/>
          </a:prstGeom>
          <a:noFill/>
          <a:ln/>
        </p:spPr>
        <p:txBody>
          <a:bodyPr wrap="square" lIns="0" tIns="0" rIns="0" bIns="0" rtlCol="0" anchor="ctr"/>
          <a:lstStyle/>
          <a:p>
            <a:pPr indent="0" marL="0">
              <a:buNone/>
            </a:pPr>
            <a:r>
              <a:rPr lang="en-US" sz="1500" b="1" dirty="0">
                <a:solidFill>
                  <a:schemeClr val="accent3"/>
                </a:solidFill>
              </a:rPr>
              <a:t>Arrow (1951): </a:t>
            </a:r>
            <a:pPr indent="0" marL="0">
              <a:buNone/>
            </a:pPr>
            <a:r>
              <a:rPr lang="en-US" sz="1500" dirty="0">
                <a:solidFill>
                  <a:schemeClr val="bg1"/>
                </a:solidFill>
              </a:rPr>
              <a:t>nenhuma regra satisfaz todos os critérios de justiça.  </a:t>
            </a:r>
            <a:pPr indent="0" marL="0">
              <a:buNone/>
            </a:pPr>
            <a:r>
              <a:rPr lang="en-US" sz="1500" b="1" dirty="0">
                <a:solidFill>
                  <a:schemeClr val="accent3"/>
                </a:solidFill>
              </a:rPr>
              <a:t>Gibbard–Satterthwaite: </a:t>
            </a:r>
            <a:pPr indent="0" marL="0">
              <a:buNone/>
            </a:pPr>
            <a:r>
              <a:rPr lang="en-US" sz="1500" dirty="0">
                <a:solidFill>
                  <a:schemeClr val="bg1"/>
                </a:solidFill>
              </a:rPr>
              <a:t>toda regra razoável pode ser manipulada.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Paradoxo de Condorcet</a:t>
            </a:r>
            <a:endParaRPr lang="en-US" sz="3400" dirty="0"/>
          </a:p>
        </p:txBody>
      </p:sp>
      <p:sp>
        <p:nvSpPr>
          <p:cNvPr id="4" name="Shape 1"/>
          <p:cNvSpPr/>
          <p:nvPr/>
        </p:nvSpPr>
        <p:spPr>
          <a:xfrm>
            <a:off x="3897897" y="2882778"/>
            <a:ext cx="1073886" cy="1366764"/>
          </a:xfrm>
          <a:prstGeom prst="line">
            <a:avLst/>
          </a:prstGeom>
          <a:noFill/>
          <a:ln w="31750">
            <a:solidFill>
              <a:schemeClr val="accent6"/>
            </a:solidFill>
            <a:prstDash val="solid"/>
            <a:tailEnd type="triangle"/>
          </a:ln>
        </p:spPr>
      </p:sp>
      <p:sp>
        <p:nvSpPr>
          <p:cNvPr id="5" name="Text 2"/>
          <p:cNvSpPr txBox="1"/>
          <p:nvPr/>
        </p:nvSpPr>
        <p:spPr>
          <a:xfrm>
            <a:off x="4572000" y="2651760"/>
            <a:ext cx="1737360" cy="365760"/>
          </a:xfrm>
          <a:prstGeom prst="rect">
            <a:avLst/>
          </a:prstGeom>
          <a:noFill/>
          <a:ln/>
        </p:spPr>
        <p:txBody>
          <a:bodyPr wrap="square" lIns="0" tIns="0" rIns="0" bIns="0" rtlCol="0" anchor="t"/>
          <a:lstStyle/>
          <a:p>
            <a:pPr algn="ctr" indent="0" marL="0">
              <a:buNone/>
            </a:pPr>
            <a:r>
              <a:rPr lang="en-US" sz="1400" b="1" dirty="0">
                <a:solidFill>
                  <a:schemeClr val="accent4"/>
                </a:solidFill>
              </a:rPr>
              <a:t>vence por 2 × 1</a:t>
            </a:r>
            <a:endParaRPr lang="en-US" sz="1400" dirty="0"/>
          </a:p>
        </p:txBody>
      </p:sp>
      <p:sp>
        <p:nvSpPr>
          <p:cNvPr id="6" name="Shape 3"/>
          <p:cNvSpPr/>
          <p:nvPr/>
        </p:nvSpPr>
        <p:spPr>
          <a:xfrm flipH="1">
            <a:off x="2176272" y="4846320"/>
            <a:ext cx="2505456" cy="0"/>
          </a:xfrm>
          <a:prstGeom prst="line">
            <a:avLst/>
          </a:prstGeom>
          <a:noFill/>
          <a:ln w="31750">
            <a:solidFill>
              <a:schemeClr val="accent6"/>
            </a:solidFill>
            <a:prstDash val="solid"/>
            <a:tailEnd type="triangle"/>
          </a:ln>
        </p:spPr>
      </p:sp>
      <p:sp>
        <p:nvSpPr>
          <p:cNvPr id="7" name="Text 4"/>
          <p:cNvSpPr txBox="1"/>
          <p:nvPr/>
        </p:nvSpPr>
        <p:spPr>
          <a:xfrm>
            <a:off x="2560320" y="5257800"/>
            <a:ext cx="1737360" cy="365760"/>
          </a:xfrm>
          <a:prstGeom prst="rect">
            <a:avLst/>
          </a:prstGeom>
          <a:noFill/>
          <a:ln/>
        </p:spPr>
        <p:txBody>
          <a:bodyPr wrap="square" lIns="0" tIns="0" rIns="0" bIns="0" rtlCol="0" anchor="t"/>
          <a:lstStyle/>
          <a:p>
            <a:pPr algn="ctr" indent="0" marL="0">
              <a:buNone/>
            </a:pPr>
            <a:r>
              <a:rPr lang="en-US" sz="1400" b="1" dirty="0">
                <a:solidFill>
                  <a:schemeClr val="accent4"/>
                </a:solidFill>
              </a:rPr>
              <a:t>vence por 2 × 1</a:t>
            </a:r>
            <a:endParaRPr lang="en-US" sz="1400" dirty="0"/>
          </a:p>
        </p:txBody>
      </p:sp>
      <p:sp>
        <p:nvSpPr>
          <p:cNvPr id="8" name="Shape 5"/>
          <p:cNvSpPr/>
          <p:nvPr/>
        </p:nvSpPr>
        <p:spPr>
          <a:xfrm flipV="1">
            <a:off x="1886217" y="2882778"/>
            <a:ext cx="1073886" cy="1366764"/>
          </a:xfrm>
          <a:prstGeom prst="line">
            <a:avLst/>
          </a:prstGeom>
          <a:noFill/>
          <a:ln w="31750">
            <a:solidFill>
              <a:schemeClr val="accent6"/>
            </a:solidFill>
            <a:prstDash val="solid"/>
            <a:tailEnd type="triangle"/>
          </a:ln>
        </p:spPr>
      </p:sp>
      <p:sp>
        <p:nvSpPr>
          <p:cNvPr id="9" name="Text 6"/>
          <p:cNvSpPr txBox="1"/>
          <p:nvPr/>
        </p:nvSpPr>
        <p:spPr>
          <a:xfrm>
            <a:off x="502920" y="2651760"/>
            <a:ext cx="1737360" cy="365760"/>
          </a:xfrm>
          <a:prstGeom prst="rect">
            <a:avLst/>
          </a:prstGeom>
          <a:noFill/>
          <a:ln/>
        </p:spPr>
        <p:txBody>
          <a:bodyPr wrap="square" lIns="0" tIns="0" rIns="0" bIns="0" rtlCol="0" anchor="t"/>
          <a:lstStyle/>
          <a:p>
            <a:pPr algn="ctr" indent="0" marL="0">
              <a:buNone/>
            </a:pPr>
            <a:r>
              <a:rPr lang="en-US" sz="1400" b="1" dirty="0">
                <a:solidFill>
                  <a:schemeClr val="accent4"/>
                </a:solidFill>
              </a:rPr>
              <a:t>vence por 2 × 1</a:t>
            </a:r>
            <a:endParaRPr lang="en-US" sz="1400" dirty="0"/>
          </a:p>
        </p:txBody>
      </p:sp>
      <p:sp>
        <p:nvSpPr>
          <p:cNvPr id="10" name="Text 7"/>
          <p:cNvSpPr/>
          <p:nvPr/>
        </p:nvSpPr>
        <p:spPr>
          <a:xfrm>
            <a:off x="2743200" y="1600200"/>
            <a:ext cx="1371600" cy="13716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Ação</a:t>
            </a:r>
            <a:endParaRPr lang="en-US" sz="1800" dirty="0"/>
          </a:p>
        </p:txBody>
      </p:sp>
      <p:sp>
        <p:nvSpPr>
          <p:cNvPr id="11" name="Text 8"/>
          <p:cNvSpPr/>
          <p:nvPr/>
        </p:nvSpPr>
        <p:spPr>
          <a:xfrm>
            <a:off x="4754880" y="4160520"/>
            <a:ext cx="1371600" cy="137160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Comédia</a:t>
            </a:r>
            <a:endParaRPr lang="en-US" sz="1800" dirty="0"/>
          </a:p>
        </p:txBody>
      </p:sp>
      <p:sp>
        <p:nvSpPr>
          <p:cNvPr id="12" name="Text 9"/>
          <p:cNvSpPr/>
          <p:nvPr/>
        </p:nvSpPr>
        <p:spPr>
          <a:xfrm>
            <a:off x="731520" y="4160520"/>
            <a:ext cx="1371600" cy="137160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Terror</a:t>
            </a:r>
            <a:endParaRPr lang="en-US" sz="1800" dirty="0"/>
          </a:p>
        </p:txBody>
      </p:sp>
      <p:sp>
        <p:nvSpPr>
          <p:cNvPr id="13" name="Shape 10"/>
          <p:cNvSpPr/>
          <p:nvPr/>
        </p:nvSpPr>
        <p:spPr>
          <a:xfrm>
            <a:off x="7223760" y="1417320"/>
            <a:ext cx="4389120" cy="4617720"/>
          </a:xfrm>
          <a:prstGeom prst="roundRect">
            <a:avLst>
              <a:gd name="adj" fmla="val 1667"/>
            </a:avLst>
          </a:prstGeom>
          <a:solidFill>
            <a:schemeClr val="bg2"/>
          </a:solidFill>
          <a:ln/>
        </p:spPr>
      </p:sp>
      <p:sp>
        <p:nvSpPr>
          <p:cNvPr id="14" name="Text 11"/>
          <p:cNvSpPr txBox="1"/>
          <p:nvPr/>
        </p:nvSpPr>
        <p:spPr>
          <a:xfrm>
            <a:off x="7498080" y="1645920"/>
            <a:ext cx="3840480" cy="4206240"/>
          </a:xfrm>
          <a:prstGeom prst="rect">
            <a:avLst/>
          </a:prstGeom>
          <a:noFill/>
          <a:ln/>
        </p:spPr>
        <p:txBody>
          <a:bodyPr wrap="square" lIns="0" tIns="0" rIns="0" bIns="0" rtlCol="0" anchor="t"/>
          <a:lstStyle/>
          <a:p>
            <a:pPr indent="0" marL="0">
              <a:spcAft>
                <a:spcPts val="1200"/>
              </a:spcAft>
              <a:buNone/>
            </a:pPr>
            <a:r>
              <a:rPr lang="en-US" sz="1700" b="1" dirty="0">
                <a:solidFill>
                  <a:schemeClr val="tx2"/>
                </a:solidFill>
              </a:rPr>
              <a:t>3 amigos, 3 filmes, cada par decidido por maioria.</a:t>
            </a:r>
            <a:endParaRPr lang="en-US" sz="1700" dirty="0"/>
          </a:p>
          <a:p>
            <a:pPr indent="0" marL="0">
              <a:spcAft>
                <a:spcPts val="1200"/>
              </a:spcAft>
              <a:buNone/>
            </a:pPr>
            <a:r>
              <a:rPr lang="en-US" sz="1700" dirty="0">
                <a:solidFill>
                  <a:schemeClr val="tx1"/>
                </a:solidFill>
              </a:rPr>
              <a:t>A preferência de cada pessoa é coerente, mas a do grupo anda em círculo: não existe um favorito.</a:t>
            </a:r>
            <a:endParaRPr lang="en-US" sz="1700" dirty="0"/>
          </a:p>
          <a:p>
            <a:pPr indent="0" marL="0">
              <a:spcAft>
                <a:spcPts val="1200"/>
              </a:spcAft>
              <a:buNone/>
            </a:pPr>
            <a:r>
              <a:rPr lang="en-US" sz="1700" b="1" dirty="0">
                <a:solidFill>
                  <a:schemeClr val="accent1"/>
                </a:solidFill>
              </a:rPr>
              <a:t>Quem define a ordem das votações pode definir o resultado.</a:t>
            </a:r>
            <a:endParaRPr lang="en-US" sz="1700" dirty="0"/>
          </a:p>
          <a:p>
            <a:pPr indent="0" marL="0">
              <a:buNone/>
            </a:pPr>
            <a:r>
              <a:rPr lang="en-US" sz="1700" i="1" dirty="0">
                <a:solidFill>
                  <a:schemeClr val="accent4"/>
                </a:solidFill>
              </a:rPr>
              <a:t>Vale para comitês, assembleias e agentes que votam.</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07</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Sistemas multiagentes com LLMs</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Os agentes de IA de hoje · Notebook, Seção 8</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Do agente BDI ao agente com LLM</a:t>
            </a:r>
            <a:endParaRPr lang="en-US" sz="3400" dirty="0"/>
          </a:p>
        </p:txBody>
      </p:sp>
      <p:sp>
        <p:nvSpPr>
          <p:cNvPr id="4" name="Text 1"/>
          <p:cNvSpPr/>
          <p:nvPr/>
        </p:nvSpPr>
        <p:spPr>
          <a:xfrm>
            <a:off x="2057400" y="1508760"/>
            <a:ext cx="1600200" cy="1600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Pensamento</a:t>
            </a:r>
            <a:endParaRPr lang="en-US" sz="1600" dirty="0"/>
          </a:p>
        </p:txBody>
      </p:sp>
      <p:sp>
        <p:nvSpPr>
          <p:cNvPr id="5" name="Text 2"/>
          <p:cNvSpPr/>
          <p:nvPr/>
        </p:nvSpPr>
        <p:spPr>
          <a:xfrm>
            <a:off x="3749040" y="3931920"/>
            <a:ext cx="1600200" cy="1600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Ação</a:t>
            </a:r>
            <a:endParaRPr lang="en-US" sz="1600" dirty="0"/>
          </a:p>
        </p:txBody>
      </p:sp>
      <p:sp>
        <p:nvSpPr>
          <p:cNvPr id="6" name="Text 3"/>
          <p:cNvSpPr/>
          <p:nvPr/>
        </p:nvSpPr>
        <p:spPr>
          <a:xfrm>
            <a:off x="365760" y="3931920"/>
            <a:ext cx="1600200" cy="160020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Observação</a:t>
            </a:r>
            <a:endParaRPr lang="en-US" sz="1600" dirty="0"/>
          </a:p>
        </p:txBody>
      </p:sp>
      <p:sp>
        <p:nvSpPr>
          <p:cNvPr id="7" name="Shape 4"/>
          <p:cNvSpPr/>
          <p:nvPr/>
        </p:nvSpPr>
        <p:spPr>
          <a:xfrm>
            <a:off x="3611880" y="2880360"/>
            <a:ext cx="594360" cy="960120"/>
          </a:xfrm>
          <a:prstGeom prst="line">
            <a:avLst/>
          </a:prstGeom>
          <a:noFill/>
          <a:ln w="31750">
            <a:solidFill>
              <a:schemeClr val="accent6"/>
            </a:solidFill>
            <a:prstDash val="solid"/>
            <a:tailEnd type="triangle"/>
          </a:ln>
        </p:spPr>
      </p:sp>
      <p:sp>
        <p:nvSpPr>
          <p:cNvPr id="8" name="Shape 5"/>
          <p:cNvSpPr/>
          <p:nvPr/>
        </p:nvSpPr>
        <p:spPr>
          <a:xfrm flipH="1">
            <a:off x="2057400" y="4754880"/>
            <a:ext cx="1600200" cy="0"/>
          </a:xfrm>
          <a:prstGeom prst="line">
            <a:avLst/>
          </a:prstGeom>
          <a:noFill/>
          <a:ln w="31750">
            <a:solidFill>
              <a:schemeClr val="accent6"/>
            </a:solidFill>
            <a:prstDash val="solid"/>
            <a:tailEnd type="triangle"/>
          </a:ln>
        </p:spPr>
      </p:sp>
      <p:sp>
        <p:nvSpPr>
          <p:cNvPr id="9" name="Shape 6"/>
          <p:cNvSpPr/>
          <p:nvPr/>
        </p:nvSpPr>
        <p:spPr>
          <a:xfrm flipV="1">
            <a:off x="1188720" y="2743200"/>
            <a:ext cx="731520" cy="1097280"/>
          </a:xfrm>
          <a:prstGeom prst="line">
            <a:avLst/>
          </a:prstGeom>
          <a:noFill/>
          <a:ln w="31750">
            <a:solidFill>
              <a:schemeClr val="accent6"/>
            </a:solidFill>
            <a:prstDash val="solid"/>
            <a:tailEnd type="triangle"/>
          </a:ln>
        </p:spPr>
      </p:sp>
      <p:sp>
        <p:nvSpPr>
          <p:cNvPr id="10" name="Text 7"/>
          <p:cNvSpPr txBox="1"/>
          <p:nvPr/>
        </p:nvSpPr>
        <p:spPr>
          <a:xfrm>
            <a:off x="548640" y="5715000"/>
            <a:ext cx="5120640" cy="320040"/>
          </a:xfrm>
          <a:prstGeom prst="rect">
            <a:avLst/>
          </a:prstGeom>
          <a:noFill/>
          <a:ln/>
        </p:spPr>
        <p:txBody>
          <a:bodyPr wrap="square" lIns="0" tIns="0" rIns="0" bIns="0" rtlCol="0" anchor="t"/>
          <a:lstStyle/>
          <a:p>
            <a:pPr algn="ctr" indent="0" marL="0">
              <a:buNone/>
            </a:pPr>
            <a:r>
              <a:rPr lang="en-US" sz="1400" i="1" dirty="0">
                <a:solidFill>
                  <a:schemeClr val="accent6"/>
                </a:solidFill>
              </a:rPr>
              <a:t>ReAct (Yao et al., 2023)</a:t>
            </a:r>
            <a:endParaRPr lang="en-US" sz="1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69280" cy="914400"/>
        </p:xfrm>
        <a:graphic>
          <a:graphicData uri="http://schemas.openxmlformats.org/drawingml/2006/table">
            <a:tbl>
              <a:tblPr/>
              <a:tblGrid>
                <a:gridCol w="2240280"/>
                <a:gridCol w="3429000"/>
              </a:tblGrid>
              <a:tr h="640080">
                <a:tc>
                  <a:txBody>
                    <a:bodyPr/>
                    <a:lstStyle/>
                    <a:p>
                      <a:pPr indent="0" marL="0">
                        <a:buNone/>
                      </a:pPr>
                      <a:r>
                        <a:rPr lang="en-US" sz="1400" b="1" dirty="0">
                          <a:solidFill>
                            <a:schemeClr val="bg1"/>
                          </a:solidFill>
                        </a:rPr>
                        <a:t>Conceito clássico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No agente com LLM</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Crenças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Contexto, memória, documentos (RAG)</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Desejos e intenções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Objetivo no prompt e plano escrito pelo modelo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Sensores e atuadores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Ferramentas: APIs, buscas, código (MCP)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ACL e protocolos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Mensagens em texto ou JSON (A2A)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Contract Net</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Padrão orquestrador-trabalhadores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Compromisso (Seção 2.9)</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Quando replanejar: cada replanejamento é pago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Padrões de organização</a:t>
            </a:r>
            <a:endParaRPr lang="en-US" sz="3400" dirty="0"/>
          </a:p>
        </p:txBody>
      </p:sp>
      <p:sp>
        <p:nvSpPr>
          <p:cNvPr id="4" name="Shape 1"/>
          <p:cNvSpPr/>
          <p:nvPr/>
        </p:nvSpPr>
        <p:spPr>
          <a:xfrm>
            <a:off x="548640" y="1417320"/>
            <a:ext cx="3566160" cy="2057400"/>
          </a:xfrm>
          <a:prstGeom prst="roundRect">
            <a:avLst>
              <a:gd name="adj" fmla="val 3556"/>
            </a:avLst>
          </a:prstGeom>
          <a:solidFill>
            <a:schemeClr val="bg2"/>
          </a:solidFill>
          <a:ln/>
        </p:spPr>
      </p:sp>
      <p:sp>
        <p:nvSpPr>
          <p:cNvPr id="5" name="Shape 2"/>
          <p:cNvSpPr/>
          <p:nvPr/>
        </p:nvSpPr>
        <p:spPr>
          <a:xfrm>
            <a:off x="777240" y="1645920"/>
            <a:ext cx="640080" cy="640080"/>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7" name="Text 3"/>
          <p:cNvSpPr txBox="1"/>
          <p:nvPr/>
        </p:nvSpPr>
        <p:spPr>
          <a:xfrm>
            <a:off x="1600200" y="173736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Cadeia</a:t>
            </a:r>
            <a:endParaRPr lang="en-US" sz="1900" dirty="0"/>
          </a:p>
        </p:txBody>
      </p:sp>
      <p:sp>
        <p:nvSpPr>
          <p:cNvPr id="8" name="Text 4"/>
          <p:cNvSpPr txBox="1"/>
          <p:nvPr/>
        </p:nvSpPr>
        <p:spPr>
          <a:xfrm>
            <a:off x="777240" y="2423160"/>
            <a:ext cx="3108960" cy="502920"/>
          </a:xfrm>
          <a:prstGeom prst="rect">
            <a:avLst/>
          </a:prstGeom>
          <a:noFill/>
          <a:ln/>
        </p:spPr>
        <p:txBody>
          <a:bodyPr wrap="square" lIns="0" tIns="0" rIns="0" bIns="0" rtlCol="0" anchor="t"/>
          <a:lstStyle/>
          <a:p>
            <a:pPr indent="0" marL="0">
              <a:buNone/>
            </a:pPr>
            <a:r>
              <a:rPr lang="en-US" sz="1500" dirty="0">
                <a:solidFill>
                  <a:schemeClr val="tx1"/>
                </a:solidFill>
              </a:rPr>
              <a:t>A saída de um é a entrada do próximo.</a:t>
            </a:r>
            <a:endParaRPr lang="en-US" sz="1500" dirty="0"/>
          </a:p>
        </p:txBody>
      </p:sp>
      <p:sp>
        <p:nvSpPr>
          <p:cNvPr id="9" name="Text 5"/>
          <p:cNvSpPr txBox="1"/>
          <p:nvPr/>
        </p:nvSpPr>
        <p:spPr>
          <a:xfrm>
            <a:off x="777240" y="292608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Extrair contrato → revisar → resumir</a:t>
            </a:r>
            <a:endParaRPr lang="en-US" sz="1400" dirty="0"/>
          </a:p>
        </p:txBody>
      </p:sp>
      <p:sp>
        <p:nvSpPr>
          <p:cNvPr id="10" name="Shape 6"/>
          <p:cNvSpPr/>
          <p:nvPr/>
        </p:nvSpPr>
        <p:spPr>
          <a:xfrm>
            <a:off x="4297680" y="1417320"/>
            <a:ext cx="3566160" cy="2057400"/>
          </a:xfrm>
          <a:prstGeom prst="roundRect">
            <a:avLst>
              <a:gd name="adj" fmla="val 3556"/>
            </a:avLst>
          </a:prstGeom>
          <a:solidFill>
            <a:schemeClr val="bg2"/>
          </a:solidFill>
          <a:ln/>
        </p:spPr>
      </p:sp>
      <p:sp>
        <p:nvSpPr>
          <p:cNvPr id="11" name="Shape 7"/>
          <p:cNvSpPr/>
          <p:nvPr/>
        </p:nvSpPr>
        <p:spPr>
          <a:xfrm>
            <a:off x="4526280" y="1645920"/>
            <a:ext cx="640080" cy="64008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679899" y="1799539"/>
            <a:ext cx="332842" cy="332842"/>
          </a:xfrm>
          <a:prstGeom prst="rect">
            <a:avLst/>
          </a:prstGeom>
        </p:spPr>
      </p:pic>
      <p:sp>
        <p:nvSpPr>
          <p:cNvPr id="13" name="Text 8"/>
          <p:cNvSpPr txBox="1"/>
          <p:nvPr/>
        </p:nvSpPr>
        <p:spPr>
          <a:xfrm>
            <a:off x="5349240" y="173736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Roteamento</a:t>
            </a:r>
            <a:endParaRPr lang="en-US" sz="1900" dirty="0"/>
          </a:p>
        </p:txBody>
      </p:sp>
      <p:sp>
        <p:nvSpPr>
          <p:cNvPr id="14" name="Text 9"/>
          <p:cNvSpPr txBox="1"/>
          <p:nvPr/>
        </p:nvSpPr>
        <p:spPr>
          <a:xfrm>
            <a:off x="4526280" y="2423160"/>
            <a:ext cx="3108960" cy="502920"/>
          </a:xfrm>
          <a:prstGeom prst="rect">
            <a:avLst/>
          </a:prstGeom>
          <a:noFill/>
          <a:ln/>
        </p:spPr>
        <p:txBody>
          <a:bodyPr wrap="square" lIns="0" tIns="0" rIns="0" bIns="0" rtlCol="0" anchor="t"/>
          <a:lstStyle/>
          <a:p>
            <a:pPr indent="0" marL="0">
              <a:buNone/>
            </a:pPr>
            <a:r>
              <a:rPr lang="en-US" sz="1500" dirty="0">
                <a:solidFill>
                  <a:schemeClr val="tx1"/>
                </a:solidFill>
              </a:rPr>
              <a:t>Um agente classifica e envia ao especialista.</a:t>
            </a:r>
            <a:endParaRPr lang="en-US" sz="1500" dirty="0"/>
          </a:p>
        </p:txBody>
      </p:sp>
      <p:sp>
        <p:nvSpPr>
          <p:cNvPr id="15" name="Text 10"/>
          <p:cNvSpPr txBox="1"/>
          <p:nvPr/>
        </p:nvSpPr>
        <p:spPr>
          <a:xfrm>
            <a:off x="4526280" y="292608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Atendimento: financeiro, logística, técnico</a:t>
            </a:r>
            <a:endParaRPr lang="en-US" sz="1400" dirty="0"/>
          </a:p>
        </p:txBody>
      </p:sp>
      <p:sp>
        <p:nvSpPr>
          <p:cNvPr id="16" name="Shape 11"/>
          <p:cNvSpPr/>
          <p:nvPr/>
        </p:nvSpPr>
        <p:spPr>
          <a:xfrm>
            <a:off x="8046720" y="1417320"/>
            <a:ext cx="3566160" cy="2057400"/>
          </a:xfrm>
          <a:prstGeom prst="roundRect">
            <a:avLst>
              <a:gd name="adj" fmla="val 3556"/>
            </a:avLst>
          </a:prstGeom>
          <a:solidFill>
            <a:schemeClr val="bg2"/>
          </a:solidFill>
          <a:ln/>
        </p:spPr>
      </p:sp>
      <p:sp>
        <p:nvSpPr>
          <p:cNvPr id="17" name="Shape 12"/>
          <p:cNvSpPr/>
          <p:nvPr/>
        </p:nvSpPr>
        <p:spPr>
          <a:xfrm>
            <a:off x="8275320" y="1645920"/>
            <a:ext cx="640080" cy="64008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428939" y="1799539"/>
            <a:ext cx="332842" cy="332842"/>
          </a:xfrm>
          <a:prstGeom prst="rect">
            <a:avLst/>
          </a:prstGeom>
        </p:spPr>
      </p:pic>
      <p:sp>
        <p:nvSpPr>
          <p:cNvPr id="19" name="Text 13"/>
          <p:cNvSpPr txBox="1"/>
          <p:nvPr/>
        </p:nvSpPr>
        <p:spPr>
          <a:xfrm>
            <a:off x="9098280" y="173736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Orquestrador</a:t>
            </a:r>
            <a:endParaRPr lang="en-US" sz="1900" dirty="0"/>
          </a:p>
        </p:txBody>
      </p:sp>
      <p:sp>
        <p:nvSpPr>
          <p:cNvPr id="20" name="Text 14"/>
          <p:cNvSpPr txBox="1"/>
          <p:nvPr/>
        </p:nvSpPr>
        <p:spPr>
          <a:xfrm>
            <a:off x="8275320" y="2423160"/>
            <a:ext cx="3108960" cy="502920"/>
          </a:xfrm>
          <a:prstGeom prst="rect">
            <a:avLst/>
          </a:prstGeom>
          <a:noFill/>
          <a:ln/>
        </p:spPr>
        <p:txBody>
          <a:bodyPr wrap="square" lIns="0" tIns="0" rIns="0" bIns="0" rtlCol="0" anchor="t"/>
          <a:lstStyle/>
          <a:p>
            <a:pPr indent="0" marL="0">
              <a:buNone/>
            </a:pPr>
            <a:r>
              <a:rPr lang="en-US" sz="1500" dirty="0">
                <a:solidFill>
                  <a:schemeClr val="tx1"/>
                </a:solidFill>
              </a:rPr>
              <a:t>Divide, delega em paralelo e junta os resultados.</a:t>
            </a:r>
            <a:endParaRPr lang="en-US" sz="1500" dirty="0"/>
          </a:p>
        </p:txBody>
      </p:sp>
      <p:sp>
        <p:nvSpPr>
          <p:cNvPr id="21" name="Text 15"/>
          <p:cNvSpPr txBox="1"/>
          <p:nvPr/>
        </p:nvSpPr>
        <p:spPr>
          <a:xfrm>
            <a:off x="8275320" y="292608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Pesquisa profunda</a:t>
            </a:r>
            <a:endParaRPr lang="en-US" sz="1400" dirty="0"/>
          </a:p>
        </p:txBody>
      </p:sp>
      <p:sp>
        <p:nvSpPr>
          <p:cNvPr id="22" name="Shape 16"/>
          <p:cNvSpPr/>
          <p:nvPr/>
        </p:nvSpPr>
        <p:spPr>
          <a:xfrm>
            <a:off x="548640" y="3657600"/>
            <a:ext cx="3566160" cy="2057400"/>
          </a:xfrm>
          <a:prstGeom prst="roundRect">
            <a:avLst>
              <a:gd name="adj" fmla="val 3556"/>
            </a:avLst>
          </a:prstGeom>
          <a:solidFill>
            <a:schemeClr val="bg2"/>
          </a:solidFill>
          <a:ln/>
        </p:spPr>
      </p:sp>
      <p:sp>
        <p:nvSpPr>
          <p:cNvPr id="23" name="Shape 17"/>
          <p:cNvSpPr/>
          <p:nvPr/>
        </p:nvSpPr>
        <p:spPr>
          <a:xfrm>
            <a:off x="777240" y="3886200"/>
            <a:ext cx="640080" cy="640080"/>
          </a:xfrm>
          <a:prstGeom prst="ellipse">
            <a:avLst/>
          </a:prstGeom>
          <a:solidFill>
            <a:schemeClr val="accent5"/>
          </a:solidFill>
          <a:ln/>
        </p:spPr>
      </p:sp>
      <p:pic>
        <p:nvPicPr>
          <p:cNvPr id="24" name="Image 3" descr="preencoded.png">    </p:cNvPr>
          <p:cNvPicPr>
            <a:picLocks noChangeAspect="1"/>
          </p:cNvPicPr>
          <p:nvPr/>
        </p:nvPicPr>
        <p:blipFill>
          <a:blip r:embed="rId4"/>
          <a:stretch>
            <a:fillRect/>
          </a:stretch>
        </p:blipFill>
        <p:spPr>
          <a:xfrm>
            <a:off x="930859" y="4039819"/>
            <a:ext cx="332842" cy="332842"/>
          </a:xfrm>
          <a:prstGeom prst="rect">
            <a:avLst/>
          </a:prstGeom>
        </p:spPr>
      </p:pic>
      <p:sp>
        <p:nvSpPr>
          <p:cNvPr id="25" name="Text 18"/>
          <p:cNvSpPr txBox="1"/>
          <p:nvPr/>
        </p:nvSpPr>
        <p:spPr>
          <a:xfrm>
            <a:off x="1600200" y="397764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Avaliador-otimizador</a:t>
            </a:r>
            <a:endParaRPr lang="en-US" sz="1900" dirty="0"/>
          </a:p>
        </p:txBody>
      </p:sp>
      <p:sp>
        <p:nvSpPr>
          <p:cNvPr id="26" name="Text 19"/>
          <p:cNvSpPr txBox="1"/>
          <p:nvPr/>
        </p:nvSpPr>
        <p:spPr>
          <a:xfrm>
            <a:off x="777240" y="4663440"/>
            <a:ext cx="3108960" cy="502920"/>
          </a:xfrm>
          <a:prstGeom prst="rect">
            <a:avLst/>
          </a:prstGeom>
          <a:noFill/>
          <a:ln/>
        </p:spPr>
        <p:txBody>
          <a:bodyPr wrap="square" lIns="0" tIns="0" rIns="0" bIns="0" rtlCol="0" anchor="t"/>
          <a:lstStyle/>
          <a:p>
            <a:pPr indent="0" marL="0">
              <a:buNone/>
            </a:pPr>
            <a:r>
              <a:rPr lang="en-US" sz="1500" dirty="0">
                <a:solidFill>
                  <a:schemeClr val="tx1"/>
                </a:solidFill>
              </a:rPr>
              <a:t>Um produz, outro critica, o primeiro corrige.</a:t>
            </a:r>
            <a:endParaRPr lang="en-US" sz="1500" dirty="0"/>
          </a:p>
        </p:txBody>
      </p:sp>
      <p:sp>
        <p:nvSpPr>
          <p:cNvPr id="27" name="Text 20"/>
          <p:cNvSpPr txBox="1"/>
          <p:nvPr/>
        </p:nvSpPr>
        <p:spPr>
          <a:xfrm>
            <a:off x="777240" y="516636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Código + testes automáticos</a:t>
            </a:r>
            <a:endParaRPr lang="en-US" sz="1400" dirty="0"/>
          </a:p>
        </p:txBody>
      </p:sp>
      <p:sp>
        <p:nvSpPr>
          <p:cNvPr id="28" name="Shape 21"/>
          <p:cNvSpPr/>
          <p:nvPr/>
        </p:nvSpPr>
        <p:spPr>
          <a:xfrm>
            <a:off x="4297680" y="3657600"/>
            <a:ext cx="3566160" cy="2057400"/>
          </a:xfrm>
          <a:prstGeom prst="roundRect">
            <a:avLst>
              <a:gd name="adj" fmla="val 3556"/>
            </a:avLst>
          </a:prstGeom>
          <a:solidFill>
            <a:schemeClr val="bg2"/>
          </a:solidFill>
          <a:ln/>
        </p:spPr>
      </p:sp>
      <p:sp>
        <p:nvSpPr>
          <p:cNvPr id="29" name="Shape 22"/>
          <p:cNvSpPr/>
          <p:nvPr/>
        </p:nvSpPr>
        <p:spPr>
          <a:xfrm>
            <a:off x="4526280" y="3886200"/>
            <a:ext cx="640080" cy="640080"/>
          </a:xfrm>
          <a:prstGeom prst="ellipse">
            <a:avLst/>
          </a:prstGeom>
          <a:solidFill>
            <a:schemeClr val="accent4"/>
          </a:solidFill>
          <a:ln/>
        </p:spPr>
      </p:sp>
      <p:pic>
        <p:nvPicPr>
          <p:cNvPr id="30" name="Image 4" descr="preencoded.png">    </p:cNvPr>
          <p:cNvPicPr>
            <a:picLocks noChangeAspect="1"/>
          </p:cNvPicPr>
          <p:nvPr/>
        </p:nvPicPr>
        <p:blipFill>
          <a:blip r:embed="rId5"/>
          <a:stretch>
            <a:fillRect/>
          </a:stretch>
        </p:blipFill>
        <p:spPr>
          <a:xfrm>
            <a:off x="4679899" y="4039819"/>
            <a:ext cx="332842" cy="332842"/>
          </a:xfrm>
          <a:prstGeom prst="rect">
            <a:avLst/>
          </a:prstGeom>
        </p:spPr>
      </p:pic>
      <p:sp>
        <p:nvSpPr>
          <p:cNvPr id="31" name="Text 23"/>
          <p:cNvSpPr txBox="1"/>
          <p:nvPr/>
        </p:nvSpPr>
        <p:spPr>
          <a:xfrm>
            <a:off x="5349240" y="397764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Debate</a:t>
            </a:r>
            <a:endParaRPr lang="en-US" sz="1900" dirty="0"/>
          </a:p>
        </p:txBody>
      </p:sp>
      <p:sp>
        <p:nvSpPr>
          <p:cNvPr id="32" name="Text 24"/>
          <p:cNvSpPr txBox="1"/>
          <p:nvPr/>
        </p:nvSpPr>
        <p:spPr>
          <a:xfrm>
            <a:off x="4526280" y="4663440"/>
            <a:ext cx="3108960" cy="502920"/>
          </a:xfrm>
          <a:prstGeom prst="rect">
            <a:avLst/>
          </a:prstGeom>
          <a:noFill/>
          <a:ln/>
        </p:spPr>
        <p:txBody>
          <a:bodyPr wrap="square" lIns="0" tIns="0" rIns="0" bIns="0" rtlCol="0" anchor="t"/>
          <a:lstStyle/>
          <a:p>
            <a:pPr indent="0" marL="0">
              <a:buNone/>
            </a:pPr>
            <a:r>
              <a:rPr lang="en-US" sz="1500" dirty="0">
                <a:solidFill>
                  <a:schemeClr val="tx1"/>
                </a:solidFill>
              </a:rPr>
              <a:t>Vários respondem e criticam uns aos outros.</a:t>
            </a:r>
            <a:endParaRPr lang="en-US" sz="1500" dirty="0"/>
          </a:p>
        </p:txBody>
      </p:sp>
      <p:sp>
        <p:nvSpPr>
          <p:cNvPr id="33" name="Text 25"/>
          <p:cNvSpPr txBox="1"/>
          <p:nvPr/>
        </p:nvSpPr>
        <p:spPr>
          <a:xfrm>
            <a:off x="4526280" y="516636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Mais precisão (Du et al., 2024)</a:t>
            </a:r>
            <a:endParaRPr lang="en-US" sz="1400" dirty="0"/>
          </a:p>
        </p:txBody>
      </p:sp>
      <p:sp>
        <p:nvSpPr>
          <p:cNvPr id="34" name="Shape 26"/>
          <p:cNvSpPr/>
          <p:nvPr/>
        </p:nvSpPr>
        <p:spPr>
          <a:xfrm>
            <a:off x="8046720" y="3657600"/>
            <a:ext cx="3566160" cy="2057400"/>
          </a:xfrm>
          <a:prstGeom prst="roundRect">
            <a:avLst>
              <a:gd name="adj" fmla="val 3556"/>
            </a:avLst>
          </a:prstGeom>
          <a:solidFill>
            <a:schemeClr val="bg2"/>
          </a:solidFill>
          <a:ln/>
        </p:spPr>
      </p:sp>
      <p:sp>
        <p:nvSpPr>
          <p:cNvPr id="35" name="Shape 27"/>
          <p:cNvSpPr/>
          <p:nvPr/>
        </p:nvSpPr>
        <p:spPr>
          <a:xfrm>
            <a:off x="8275320" y="3886200"/>
            <a:ext cx="640080" cy="640080"/>
          </a:xfrm>
          <a:prstGeom prst="ellipse">
            <a:avLst/>
          </a:prstGeom>
          <a:solidFill>
            <a:schemeClr val="accent2"/>
          </a:solidFill>
          <a:ln/>
        </p:spPr>
      </p:sp>
      <p:pic>
        <p:nvPicPr>
          <p:cNvPr id="36" name="Image 5" descr="preencoded.png">    </p:cNvPr>
          <p:cNvPicPr>
            <a:picLocks noChangeAspect="1"/>
          </p:cNvPicPr>
          <p:nvPr/>
        </p:nvPicPr>
        <p:blipFill>
          <a:blip r:embed="rId6"/>
          <a:stretch>
            <a:fillRect/>
          </a:stretch>
        </p:blipFill>
        <p:spPr>
          <a:xfrm>
            <a:off x="8428939" y="4039819"/>
            <a:ext cx="332842" cy="332842"/>
          </a:xfrm>
          <a:prstGeom prst="rect">
            <a:avLst/>
          </a:prstGeom>
        </p:spPr>
      </p:pic>
      <p:sp>
        <p:nvSpPr>
          <p:cNvPr id="37" name="Text 28"/>
          <p:cNvSpPr txBox="1"/>
          <p:nvPr/>
        </p:nvSpPr>
        <p:spPr>
          <a:xfrm>
            <a:off x="9098280" y="3977640"/>
            <a:ext cx="2331720" cy="457200"/>
          </a:xfrm>
          <a:prstGeom prst="rect">
            <a:avLst/>
          </a:prstGeom>
          <a:noFill/>
          <a:ln/>
        </p:spPr>
        <p:txBody>
          <a:bodyPr wrap="square" lIns="0" tIns="0" rIns="0" bIns="0" rtlCol="0" anchor="ctr"/>
          <a:lstStyle/>
          <a:p>
            <a:pPr indent="0" marL="0">
              <a:buNone/>
            </a:pPr>
            <a:r>
              <a:rPr lang="en-US" sz="1900" b="1" dirty="0">
                <a:solidFill>
                  <a:schemeClr val="tx2"/>
                </a:solidFill>
              </a:rPr>
              <a:t>Equipes com papéis</a:t>
            </a:r>
            <a:endParaRPr lang="en-US" sz="1900" dirty="0"/>
          </a:p>
        </p:txBody>
      </p:sp>
      <p:sp>
        <p:nvSpPr>
          <p:cNvPr id="38" name="Text 29"/>
          <p:cNvSpPr txBox="1"/>
          <p:nvPr/>
        </p:nvSpPr>
        <p:spPr>
          <a:xfrm>
            <a:off x="8275320" y="4663440"/>
            <a:ext cx="3108960" cy="502920"/>
          </a:xfrm>
          <a:prstGeom prst="rect">
            <a:avLst/>
          </a:prstGeom>
          <a:noFill/>
          <a:ln/>
        </p:spPr>
        <p:txBody>
          <a:bodyPr wrap="square" lIns="0" tIns="0" rIns="0" bIns="0" rtlCol="0" anchor="t"/>
          <a:lstStyle/>
          <a:p>
            <a:pPr indent="0" marL="0">
              <a:buNone/>
            </a:pPr>
            <a:r>
              <a:rPr lang="en-US" sz="1500" dirty="0">
                <a:solidFill>
                  <a:schemeClr val="tx1"/>
                </a:solidFill>
              </a:rPr>
              <a:t>Gerente, programador, testador.</a:t>
            </a:r>
            <a:endParaRPr lang="en-US" sz="1500" dirty="0"/>
          </a:p>
        </p:txBody>
      </p:sp>
      <p:sp>
        <p:nvSpPr>
          <p:cNvPr id="39" name="Text 30"/>
          <p:cNvSpPr txBox="1"/>
          <p:nvPr/>
        </p:nvSpPr>
        <p:spPr>
          <a:xfrm>
            <a:off x="8275320" y="5166360"/>
            <a:ext cx="3108960" cy="411480"/>
          </a:xfrm>
          <a:prstGeom prst="rect">
            <a:avLst/>
          </a:prstGeom>
          <a:noFill/>
          <a:ln/>
        </p:spPr>
        <p:txBody>
          <a:bodyPr wrap="square" lIns="0" tIns="0" rIns="0" bIns="0" rtlCol="0" anchor="t"/>
          <a:lstStyle/>
          <a:p>
            <a:pPr indent="0" marL="0">
              <a:buNone/>
            </a:pPr>
            <a:r>
              <a:rPr lang="en-US" sz="1400" i="1" dirty="0">
                <a:solidFill>
                  <a:schemeClr val="accent4"/>
                </a:solidFill>
              </a:rPr>
              <a:t>MetaGPT, ChatDev</a:t>
            </a:r>
            <a:endParaRPr lang="en-US" sz="1400" dirty="0"/>
          </a:p>
        </p:txBody>
      </p:sp>
      <p:sp>
        <p:nvSpPr>
          <p:cNvPr id="40" name="Text 31"/>
          <p:cNvSpPr txBox="1"/>
          <p:nvPr/>
        </p:nvSpPr>
        <p:spPr>
          <a:xfrm>
            <a:off x="548640" y="5852160"/>
            <a:ext cx="11064240" cy="274320"/>
          </a:xfrm>
          <a:prstGeom prst="rect">
            <a:avLst/>
          </a:prstGeom>
          <a:noFill/>
          <a:ln/>
        </p:spPr>
        <p:txBody>
          <a:bodyPr wrap="square" lIns="0" tIns="0" rIns="0" bIns="0" rtlCol="0" anchor="t"/>
          <a:lstStyle/>
          <a:p>
            <a:pPr indent="0" marL="0">
              <a:buNone/>
            </a:pPr>
            <a:r>
              <a:rPr lang="en-US" sz="1100" i="1" dirty="0">
                <a:solidFill>
                  <a:schemeClr val="accent6"/>
                </a:solidFill>
              </a:rPr>
              <a:t>Anthropic (2024), Building effective agents; Wu et al. (2023), AutoGen. Simulação social: Generative Agents (Park et al., 2023).</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Na prática: atendimento de e-commerce</a:t>
            </a:r>
            <a:endParaRPr lang="en-US" sz="3400" dirty="0"/>
          </a:p>
        </p:txBody>
      </p:sp>
      <p:sp>
        <p:nvSpPr>
          <p:cNvPr id="4" name="Shape 1"/>
          <p:cNvSpPr/>
          <p:nvPr/>
        </p:nvSpPr>
        <p:spPr>
          <a:xfrm>
            <a:off x="548640" y="3154680"/>
            <a:ext cx="1371600" cy="822960"/>
          </a:xfrm>
          <a:prstGeom prst="roundRect">
            <a:avLst>
              <a:gd name="adj" fmla="val 8889"/>
            </a:avLst>
          </a:prstGeom>
          <a:solidFill>
            <a:schemeClr val="bg2"/>
          </a:solidFill>
          <a:ln/>
        </p:spPr>
      </p:sp>
      <p:sp>
        <p:nvSpPr>
          <p:cNvPr id="5" name="Text 2"/>
          <p:cNvSpPr txBox="1"/>
          <p:nvPr/>
        </p:nvSpPr>
        <p:spPr>
          <a:xfrm>
            <a:off x="548640" y="3154680"/>
            <a:ext cx="1371600" cy="822960"/>
          </a:xfrm>
          <a:prstGeom prst="rect">
            <a:avLst/>
          </a:prstGeom>
          <a:noFill/>
          <a:ln/>
        </p:spPr>
        <p:txBody>
          <a:bodyPr wrap="square" lIns="0" tIns="0" rIns="0" bIns="0" rtlCol="0" anchor="ctr"/>
          <a:lstStyle/>
          <a:p>
            <a:pPr algn="ctr" indent="0" marL="0">
              <a:buNone/>
            </a:pPr>
            <a:r>
              <a:rPr lang="en-US" sz="1600" b="1" dirty="0">
                <a:solidFill>
                  <a:schemeClr val="tx2"/>
                </a:solidFill>
              </a:rPr>
              <a:t>Cliente</a:t>
            </a:r>
            <a:endParaRPr lang="en-US" sz="1600" dirty="0"/>
          </a:p>
        </p:txBody>
      </p:sp>
      <p:sp>
        <p:nvSpPr>
          <p:cNvPr id="6" name="Shape 3"/>
          <p:cNvSpPr/>
          <p:nvPr/>
        </p:nvSpPr>
        <p:spPr>
          <a:xfrm>
            <a:off x="2377440" y="3017520"/>
            <a:ext cx="1920240" cy="1097280"/>
          </a:xfrm>
          <a:prstGeom prst="roundRect">
            <a:avLst>
              <a:gd name="adj" fmla="val 6667"/>
            </a:avLst>
          </a:prstGeom>
          <a:solidFill>
            <a:schemeClr val="tx2"/>
          </a:solidFill>
          <a:ln/>
        </p:spPr>
      </p:sp>
      <p:sp>
        <p:nvSpPr>
          <p:cNvPr id="7" name="Text 4"/>
          <p:cNvSpPr txBox="1"/>
          <p:nvPr/>
        </p:nvSpPr>
        <p:spPr>
          <a:xfrm>
            <a:off x="2377440" y="3017520"/>
            <a:ext cx="1920240" cy="1097280"/>
          </a:xfrm>
          <a:prstGeom prst="rect">
            <a:avLst/>
          </a:prstGeom>
          <a:noFill/>
          <a:ln/>
        </p:spPr>
        <p:txBody>
          <a:bodyPr wrap="square" lIns="0" tIns="0" rIns="0" bIns="0" rtlCol="0" anchor="ctr"/>
          <a:lstStyle/>
          <a:p>
            <a:pPr algn="ctr" indent="0" marL="0">
              <a:buNone/>
            </a:pPr>
            <a:r>
              <a:rPr lang="en-US" sz="1600" b="1" dirty="0">
                <a:solidFill>
                  <a:schemeClr val="bg1"/>
                </a:solidFill>
              </a:rPr>
              <a:t>Orquestrador</a:t>
            </a:r>
            <a:endParaRPr lang="en-US" sz="1600" dirty="0"/>
          </a:p>
          <a:p>
            <a:pPr algn="ctr" indent="0" marL="0">
              <a:buNone/>
            </a:pPr>
            <a:r>
              <a:rPr lang="en-US" sz="1300" dirty="0">
                <a:solidFill>
                  <a:schemeClr val="bg1"/>
                </a:solidFill>
              </a:rPr>
              <a:t>triagem</a:t>
            </a:r>
            <a:endParaRPr lang="en-US" sz="1600" dirty="0"/>
          </a:p>
        </p:txBody>
      </p:sp>
      <p:sp>
        <p:nvSpPr>
          <p:cNvPr id="8" name="Shape 5"/>
          <p:cNvSpPr/>
          <p:nvPr/>
        </p:nvSpPr>
        <p:spPr>
          <a:xfrm>
            <a:off x="5120640" y="1554480"/>
            <a:ext cx="2286000" cy="914400"/>
          </a:xfrm>
          <a:prstGeom prst="roundRect">
            <a:avLst>
              <a:gd name="adj" fmla="val 8000"/>
            </a:avLst>
          </a:prstGeom>
          <a:solidFill>
            <a:schemeClr val="accent2"/>
          </a:solidFill>
          <a:ln/>
        </p:spPr>
      </p:sp>
      <p:sp>
        <p:nvSpPr>
          <p:cNvPr id="9" name="Text 6"/>
          <p:cNvSpPr txBox="1"/>
          <p:nvPr/>
        </p:nvSpPr>
        <p:spPr>
          <a:xfrm>
            <a:off x="5120640" y="155448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Logística</a:t>
            </a:r>
            <a:endParaRPr lang="en-US" sz="1600" dirty="0"/>
          </a:p>
          <a:p>
            <a:pPr algn="ctr" indent="0" marL="0">
              <a:buNone/>
            </a:pPr>
            <a:r>
              <a:rPr lang="en-US" sz="1300" dirty="0">
                <a:solidFill>
                  <a:schemeClr val="bg1"/>
                </a:solidFill>
              </a:rPr>
              <a:t>rastrear, trocar</a:t>
            </a:r>
            <a:endParaRPr lang="en-US" sz="1600" dirty="0"/>
          </a:p>
        </p:txBody>
      </p:sp>
      <p:sp>
        <p:nvSpPr>
          <p:cNvPr id="10" name="Shape 7"/>
          <p:cNvSpPr/>
          <p:nvPr/>
        </p:nvSpPr>
        <p:spPr>
          <a:xfrm>
            <a:off x="5120640" y="3108960"/>
            <a:ext cx="2286000" cy="914400"/>
          </a:xfrm>
          <a:prstGeom prst="roundRect">
            <a:avLst>
              <a:gd name="adj" fmla="val 8000"/>
            </a:avLst>
          </a:prstGeom>
          <a:solidFill>
            <a:schemeClr val="accent1"/>
          </a:solidFill>
          <a:ln/>
        </p:spPr>
      </p:sp>
      <p:sp>
        <p:nvSpPr>
          <p:cNvPr id="11" name="Text 8"/>
          <p:cNvSpPr txBox="1"/>
          <p:nvPr/>
        </p:nvSpPr>
        <p:spPr>
          <a:xfrm>
            <a:off x="5120640" y="310896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Financeiro</a:t>
            </a:r>
            <a:endParaRPr lang="en-US" sz="1600" dirty="0"/>
          </a:p>
          <a:p>
            <a:pPr algn="ctr" indent="0" marL="0">
              <a:buNone/>
            </a:pPr>
            <a:r>
              <a:rPr lang="en-US" sz="1300" dirty="0">
                <a:solidFill>
                  <a:schemeClr val="bg1"/>
                </a:solidFill>
              </a:rPr>
              <a:t>estorno, reembolso</a:t>
            </a:r>
            <a:endParaRPr lang="en-US" sz="1600" dirty="0"/>
          </a:p>
        </p:txBody>
      </p:sp>
      <p:sp>
        <p:nvSpPr>
          <p:cNvPr id="12" name="Shape 9"/>
          <p:cNvSpPr/>
          <p:nvPr/>
        </p:nvSpPr>
        <p:spPr>
          <a:xfrm>
            <a:off x="5120640" y="4663440"/>
            <a:ext cx="2286000" cy="914400"/>
          </a:xfrm>
          <a:prstGeom prst="roundRect">
            <a:avLst>
              <a:gd name="adj" fmla="val 8000"/>
            </a:avLst>
          </a:prstGeom>
          <a:solidFill>
            <a:schemeClr val="accent4"/>
          </a:solidFill>
          <a:ln/>
        </p:spPr>
      </p:sp>
      <p:sp>
        <p:nvSpPr>
          <p:cNvPr id="13" name="Text 10"/>
          <p:cNvSpPr txBox="1"/>
          <p:nvPr/>
        </p:nvSpPr>
        <p:spPr>
          <a:xfrm>
            <a:off x="5120640" y="466344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Técnico</a:t>
            </a:r>
            <a:endParaRPr lang="en-US" sz="1600" dirty="0"/>
          </a:p>
          <a:p>
            <a:pPr algn="ctr" indent="0" marL="0">
              <a:buNone/>
            </a:pPr>
            <a:r>
              <a:rPr lang="en-US" sz="1300" dirty="0">
                <a:solidFill>
                  <a:schemeClr val="bg1"/>
                </a:solidFill>
              </a:rPr>
              <a:t>instruções</a:t>
            </a:r>
            <a:endParaRPr lang="en-US" sz="1600" dirty="0"/>
          </a:p>
        </p:txBody>
      </p:sp>
      <p:sp>
        <p:nvSpPr>
          <p:cNvPr id="14" name="Shape 11"/>
          <p:cNvSpPr/>
          <p:nvPr/>
        </p:nvSpPr>
        <p:spPr>
          <a:xfrm>
            <a:off x="2377440" y="4937760"/>
            <a:ext cx="1920240" cy="777240"/>
          </a:xfrm>
          <a:prstGeom prst="roundRect">
            <a:avLst>
              <a:gd name="adj" fmla="val 9412"/>
            </a:avLst>
          </a:prstGeom>
          <a:solidFill>
            <a:schemeClr val="accent3"/>
          </a:solidFill>
          <a:ln/>
        </p:spPr>
      </p:sp>
      <p:sp>
        <p:nvSpPr>
          <p:cNvPr id="15" name="Text 12"/>
          <p:cNvSpPr txBox="1"/>
          <p:nvPr/>
        </p:nvSpPr>
        <p:spPr>
          <a:xfrm>
            <a:off x="2377440" y="4937760"/>
            <a:ext cx="1920240" cy="777240"/>
          </a:xfrm>
          <a:prstGeom prst="rect">
            <a:avLst/>
          </a:prstGeom>
          <a:noFill/>
          <a:ln/>
        </p:spPr>
        <p:txBody>
          <a:bodyPr wrap="square" lIns="0" tIns="0" rIns="0" bIns="0" rtlCol="0" anchor="ctr"/>
          <a:lstStyle/>
          <a:p>
            <a:pPr algn="ctr" indent="0" marL="0">
              <a:buNone/>
            </a:pPr>
            <a:r>
              <a:rPr lang="en-US" sz="1600" b="1" dirty="0">
                <a:solidFill>
                  <a:schemeClr val="tx2"/>
                </a:solidFill>
              </a:rPr>
              <a:t>Atendente humano</a:t>
            </a:r>
            <a:endParaRPr lang="en-US" sz="1600" dirty="0"/>
          </a:p>
        </p:txBody>
      </p:sp>
      <p:sp>
        <p:nvSpPr>
          <p:cNvPr id="16" name="Shape 13"/>
          <p:cNvSpPr/>
          <p:nvPr/>
        </p:nvSpPr>
        <p:spPr>
          <a:xfrm>
            <a:off x="1965960" y="3566160"/>
            <a:ext cx="365760" cy="0"/>
          </a:xfrm>
          <a:prstGeom prst="line">
            <a:avLst/>
          </a:prstGeom>
          <a:noFill/>
          <a:ln w="25400">
            <a:solidFill>
              <a:schemeClr val="accent6"/>
            </a:solidFill>
            <a:prstDash val="solid"/>
            <a:tailEnd type="triangle"/>
          </a:ln>
        </p:spPr>
      </p:sp>
      <p:sp>
        <p:nvSpPr>
          <p:cNvPr id="17" name="Shape 14"/>
          <p:cNvSpPr/>
          <p:nvPr/>
        </p:nvSpPr>
        <p:spPr>
          <a:xfrm flipV="1">
            <a:off x="4343400" y="2011680"/>
            <a:ext cx="731520" cy="1280160"/>
          </a:xfrm>
          <a:prstGeom prst="line">
            <a:avLst/>
          </a:prstGeom>
          <a:noFill/>
          <a:ln w="25400">
            <a:solidFill>
              <a:schemeClr val="accent6"/>
            </a:solidFill>
            <a:prstDash val="solid"/>
            <a:tailEnd type="triangle"/>
          </a:ln>
        </p:spPr>
      </p:sp>
      <p:sp>
        <p:nvSpPr>
          <p:cNvPr id="18" name="Shape 15"/>
          <p:cNvSpPr/>
          <p:nvPr/>
        </p:nvSpPr>
        <p:spPr>
          <a:xfrm>
            <a:off x="4343400" y="3566160"/>
            <a:ext cx="731520" cy="0"/>
          </a:xfrm>
          <a:prstGeom prst="line">
            <a:avLst/>
          </a:prstGeom>
          <a:noFill/>
          <a:ln w="25400">
            <a:solidFill>
              <a:schemeClr val="accent6"/>
            </a:solidFill>
            <a:prstDash val="solid"/>
            <a:tailEnd type="triangle"/>
          </a:ln>
        </p:spPr>
      </p:sp>
      <p:sp>
        <p:nvSpPr>
          <p:cNvPr id="19" name="Shape 16"/>
          <p:cNvSpPr/>
          <p:nvPr/>
        </p:nvSpPr>
        <p:spPr>
          <a:xfrm>
            <a:off x="4343400" y="3840480"/>
            <a:ext cx="731520" cy="1280160"/>
          </a:xfrm>
          <a:prstGeom prst="line">
            <a:avLst/>
          </a:prstGeom>
          <a:noFill/>
          <a:ln w="25400">
            <a:solidFill>
              <a:schemeClr val="accent6"/>
            </a:solidFill>
            <a:prstDash val="solid"/>
            <a:tailEnd type="triangle"/>
          </a:ln>
        </p:spPr>
      </p:sp>
      <p:sp>
        <p:nvSpPr>
          <p:cNvPr id="20" name="Shape 17"/>
          <p:cNvSpPr/>
          <p:nvPr/>
        </p:nvSpPr>
        <p:spPr>
          <a:xfrm>
            <a:off x="3337560" y="4160520"/>
            <a:ext cx="0" cy="731520"/>
          </a:xfrm>
          <a:prstGeom prst="line">
            <a:avLst/>
          </a:prstGeom>
          <a:noFill/>
          <a:ln w="31750">
            <a:solidFill>
              <a:schemeClr val="accent3"/>
            </a:solidFill>
            <a:prstDash val="solid"/>
            <a:tailEnd type="triangle"/>
          </a:ln>
        </p:spPr>
      </p:sp>
      <p:sp>
        <p:nvSpPr>
          <p:cNvPr id="21" name="Text 18"/>
          <p:cNvSpPr/>
          <p:nvPr/>
        </p:nvSpPr>
        <p:spPr>
          <a:xfrm>
            <a:off x="5120640" y="4087368"/>
            <a:ext cx="2286000" cy="457200"/>
          </a:xfrm>
          <a:prstGeom prst="roundRect">
            <a:avLst>
              <a:gd name="adj" fmla="val 16000"/>
            </a:avLst>
          </a:prstGeom>
          <a:solidFill>
            <a:schemeClr val="accent3"/>
          </a:solidFill>
          <a:ln/>
        </p:spPr>
        <p:txBody>
          <a:bodyPr wrap="square" lIns="0" tIns="0" rIns="0" bIns="0" rtlCol="0" anchor="ctr"/>
          <a:lstStyle/>
          <a:p>
            <a:pPr algn="ctr" indent="0" marL="0">
              <a:buNone/>
            </a:pPr>
            <a:r>
              <a:rPr lang="en-US" sz="1100" b="1" dirty="0">
                <a:solidFill>
                  <a:schemeClr val="tx2"/>
                </a:solidFill>
              </a:rPr>
              <a:t>guardrail: reembolso &gt; R$ 200 → humano</a:t>
            </a:r>
            <a:endParaRPr lang="en-US" sz="1100" dirty="0"/>
          </a:p>
        </p:txBody>
      </p:sp>
      <p:sp>
        <p:nvSpPr>
          <p:cNvPr id="22" name="Shape 19"/>
          <p:cNvSpPr/>
          <p:nvPr/>
        </p:nvSpPr>
        <p:spPr>
          <a:xfrm>
            <a:off x="7863840" y="1417320"/>
            <a:ext cx="3749040" cy="4663440"/>
          </a:xfrm>
          <a:prstGeom prst="roundRect">
            <a:avLst>
              <a:gd name="adj" fmla="val 1951"/>
            </a:avLst>
          </a:prstGeom>
          <a:solidFill>
            <a:schemeClr val="bg2"/>
          </a:solidFill>
          <a:ln/>
        </p:spPr>
      </p:sp>
      <p:sp>
        <p:nvSpPr>
          <p:cNvPr id="23" name="Text 20"/>
          <p:cNvSpPr txBox="1"/>
          <p:nvPr/>
        </p:nvSpPr>
        <p:spPr>
          <a:xfrm>
            <a:off x="8092440" y="1554480"/>
            <a:ext cx="3291840" cy="411480"/>
          </a:xfrm>
          <a:prstGeom prst="rect">
            <a:avLst/>
          </a:prstGeom>
          <a:noFill/>
          <a:ln/>
        </p:spPr>
        <p:txBody>
          <a:bodyPr wrap="square" lIns="0" tIns="0" rIns="0" bIns="0" rtlCol="0" anchor="t"/>
          <a:lstStyle/>
          <a:p>
            <a:pPr indent="0" marL="0">
              <a:buNone/>
            </a:pPr>
            <a:r>
              <a:rPr lang="en-US" sz="1800" b="1" dirty="0">
                <a:solidFill>
                  <a:schemeClr val="tx2"/>
                </a:solidFill>
              </a:rPr>
              <a:t>Resultado dos 5 chamados</a:t>
            </a:r>
            <a:endParaRPr lang="en-US" sz="1800" dirty="0"/>
          </a:p>
        </p:txBody>
      </p:sp>
      <p:sp>
        <p:nvSpPr>
          <p:cNvPr id="24" name="Shape 21"/>
          <p:cNvSpPr/>
          <p:nvPr/>
        </p:nvSpPr>
        <p:spPr>
          <a:xfrm>
            <a:off x="8092440" y="2221992"/>
            <a:ext cx="256032" cy="256032"/>
          </a:xfrm>
          <a:prstGeom prst="ellipse">
            <a:avLst/>
          </a:prstGeom>
          <a:solidFill>
            <a:schemeClr val="accent2"/>
          </a:solidFill>
          <a:ln/>
        </p:spPr>
      </p:sp>
      <p:sp>
        <p:nvSpPr>
          <p:cNvPr id="25" name="Text 22"/>
          <p:cNvSpPr txBox="1"/>
          <p:nvPr/>
        </p:nvSpPr>
        <p:spPr>
          <a:xfrm>
            <a:off x="8503920" y="2148840"/>
            <a:ext cx="2971800" cy="868680"/>
          </a:xfrm>
          <a:prstGeom prst="rect">
            <a:avLst/>
          </a:prstGeom>
          <a:noFill/>
          <a:ln/>
        </p:spPr>
        <p:txBody>
          <a:bodyPr wrap="square" lIns="0" tIns="0" rIns="0" bIns="0" rtlCol="0" anchor="t"/>
          <a:lstStyle/>
          <a:p>
            <a:pPr indent="0" marL="0">
              <a:buNone/>
            </a:pPr>
            <a:r>
              <a:rPr lang="en-US" sz="1600" b="1" dirty="0">
                <a:solidFill>
                  <a:schemeClr val="tx1"/>
                </a:solidFill>
              </a:rPr>
              <a:t>3 resolvidos pelos agentes</a:t>
            </a:r>
            <a:endParaRPr lang="en-US" sz="1600" dirty="0"/>
          </a:p>
          <a:p>
            <a:pPr indent="0" marL="0">
              <a:buNone/>
            </a:pPr>
            <a:r>
              <a:rPr lang="en-US" sz="1400" dirty="0">
                <a:solidFill>
                  <a:schemeClr val="accent6"/>
                </a:solidFill>
              </a:rPr>
              <a:t>rastreio, estorno de R$ 89,90, suporte do app</a:t>
            </a:r>
            <a:endParaRPr lang="en-US" sz="1600" dirty="0"/>
          </a:p>
        </p:txBody>
      </p:sp>
      <p:sp>
        <p:nvSpPr>
          <p:cNvPr id="26" name="Shape 23"/>
          <p:cNvSpPr/>
          <p:nvPr/>
        </p:nvSpPr>
        <p:spPr>
          <a:xfrm>
            <a:off x="8092440" y="3182112"/>
            <a:ext cx="256032" cy="256032"/>
          </a:xfrm>
          <a:prstGeom prst="ellipse">
            <a:avLst/>
          </a:prstGeom>
          <a:solidFill>
            <a:schemeClr val="accent3"/>
          </a:solidFill>
          <a:ln/>
        </p:spPr>
      </p:sp>
      <p:sp>
        <p:nvSpPr>
          <p:cNvPr id="27" name="Text 24"/>
          <p:cNvSpPr txBox="1"/>
          <p:nvPr/>
        </p:nvSpPr>
        <p:spPr>
          <a:xfrm>
            <a:off x="8503920" y="3108960"/>
            <a:ext cx="2971800" cy="868680"/>
          </a:xfrm>
          <a:prstGeom prst="rect">
            <a:avLst/>
          </a:prstGeom>
          <a:noFill/>
          <a:ln/>
        </p:spPr>
        <p:txBody>
          <a:bodyPr wrap="square" lIns="0" tIns="0" rIns="0" bIns="0" rtlCol="0" anchor="t"/>
          <a:lstStyle/>
          <a:p>
            <a:pPr indent="0" marL="0">
              <a:buNone/>
            </a:pPr>
            <a:r>
              <a:rPr lang="en-US" sz="1600" b="1" dirty="0">
                <a:solidFill>
                  <a:schemeClr val="tx1"/>
                </a:solidFill>
              </a:rPr>
              <a:t>Reembolso de R$ 3.499</a:t>
            </a:r>
            <a:endParaRPr lang="en-US" sz="1600" dirty="0"/>
          </a:p>
          <a:p>
            <a:pPr indent="0" marL="0">
              <a:buNone/>
            </a:pPr>
            <a:r>
              <a:rPr lang="en-US" sz="1400" dirty="0">
                <a:solidFill>
                  <a:schemeClr val="accent6"/>
                </a:solidFill>
              </a:rPr>
              <a:t>acima do limite automático → humano</a:t>
            </a:r>
            <a:endParaRPr lang="en-US" sz="1600" dirty="0"/>
          </a:p>
        </p:txBody>
      </p:sp>
      <p:sp>
        <p:nvSpPr>
          <p:cNvPr id="28" name="Shape 25"/>
          <p:cNvSpPr/>
          <p:nvPr/>
        </p:nvSpPr>
        <p:spPr>
          <a:xfrm>
            <a:off x="8092440" y="4142232"/>
            <a:ext cx="256032" cy="256032"/>
          </a:xfrm>
          <a:prstGeom prst="ellipse">
            <a:avLst/>
          </a:prstGeom>
          <a:solidFill>
            <a:schemeClr val="accent1"/>
          </a:solidFill>
          <a:ln/>
        </p:spPr>
      </p:sp>
      <p:sp>
        <p:nvSpPr>
          <p:cNvPr id="29" name="Text 26"/>
          <p:cNvSpPr txBox="1"/>
          <p:nvPr/>
        </p:nvSpPr>
        <p:spPr>
          <a:xfrm>
            <a:off x="8503920" y="4069080"/>
            <a:ext cx="2971800" cy="868680"/>
          </a:xfrm>
          <a:prstGeom prst="rect">
            <a:avLst/>
          </a:prstGeom>
          <a:noFill/>
          <a:ln/>
        </p:spPr>
        <p:txBody>
          <a:bodyPr wrap="square" lIns="0" tIns="0" rIns="0" bIns="0" rtlCol="0" anchor="t"/>
          <a:lstStyle/>
          <a:p>
            <a:pPr indent="0" marL="0">
              <a:buNone/>
            </a:pPr>
            <a:r>
              <a:rPr lang="en-US" sz="1600" b="1" dirty="0">
                <a:solidFill>
                  <a:schemeClr val="tx1"/>
                </a:solidFill>
              </a:rPr>
              <a:t>“Batata quente”</a:t>
            </a:r>
            <a:endParaRPr lang="en-US" sz="1600" dirty="0"/>
          </a:p>
          <a:p>
            <a:pPr indent="0" marL="0">
              <a:buNone/>
            </a:pPr>
            <a:r>
              <a:rPr lang="en-US" sz="1400" dirty="0">
                <a:solidFill>
                  <a:schemeClr val="accent6"/>
                </a:solidFill>
              </a:rPr>
              <a:t>logística ↔ financeiro, 3 vezes → humano</a:t>
            </a:r>
            <a:endParaRPr lang="en-US" sz="1600" dirty="0"/>
          </a:p>
        </p:txBody>
      </p:sp>
      <p:sp>
        <p:nvSpPr>
          <p:cNvPr id="30" name="Shape 27"/>
          <p:cNvSpPr/>
          <p:nvPr/>
        </p:nvSpPr>
        <p:spPr>
          <a:xfrm>
            <a:off x="8092440" y="5102352"/>
            <a:ext cx="256032" cy="256032"/>
          </a:xfrm>
          <a:prstGeom prst="ellipse">
            <a:avLst/>
          </a:prstGeom>
          <a:solidFill>
            <a:schemeClr val="accent4"/>
          </a:solidFill>
          <a:ln/>
        </p:spPr>
      </p:sp>
      <p:sp>
        <p:nvSpPr>
          <p:cNvPr id="31" name="Text 28"/>
          <p:cNvSpPr txBox="1"/>
          <p:nvPr/>
        </p:nvSpPr>
        <p:spPr>
          <a:xfrm>
            <a:off x="8503920" y="5029200"/>
            <a:ext cx="2971800" cy="868680"/>
          </a:xfrm>
          <a:prstGeom prst="rect">
            <a:avLst/>
          </a:prstGeom>
          <a:noFill/>
          <a:ln/>
        </p:spPr>
        <p:txBody>
          <a:bodyPr wrap="square" lIns="0" tIns="0" rIns="0" bIns="0" rtlCol="0" anchor="t"/>
          <a:lstStyle/>
          <a:p>
            <a:pPr indent="0" marL="0">
              <a:buNone/>
            </a:pPr>
            <a:r>
              <a:rPr lang="en-US" sz="1600" b="1" dirty="0">
                <a:solidFill>
                  <a:schemeClr val="tx1"/>
                </a:solidFill>
              </a:rPr>
              <a:t>16 mensagens</a:t>
            </a:r>
            <a:endParaRPr lang="en-US" sz="1600" dirty="0"/>
          </a:p>
          <a:p>
            <a:pPr indent="0" marL="0">
              <a:buNone/>
            </a:pPr>
            <a:r>
              <a:rPr lang="en-US" sz="1400" dirty="0">
                <a:solidFill>
                  <a:schemeClr val="accent6"/>
                </a:solidFill>
              </a:rPr>
              <a:t>entre agentes, todas registradas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Quando (não) usar vários agentes</a:t>
            </a:r>
            <a:endParaRPr lang="en-US" sz="3400" dirty="0"/>
          </a:p>
        </p:txBody>
      </p:sp>
      <p:sp>
        <p:nvSpPr>
          <p:cNvPr id="4" name="Shape 1"/>
          <p:cNvSpPr/>
          <p:nvPr/>
        </p:nvSpPr>
        <p:spPr>
          <a:xfrm>
            <a:off x="548640" y="1417320"/>
            <a:ext cx="4114800" cy="4663440"/>
          </a:xfrm>
          <a:prstGeom prst="roundRect">
            <a:avLst>
              <a:gd name="adj" fmla="val 1778"/>
            </a:avLst>
          </a:prstGeom>
          <a:solidFill>
            <a:schemeClr val="tx2"/>
          </a:solidFill>
          <a:ln/>
        </p:spPr>
      </p:sp>
      <p:sp>
        <p:nvSpPr>
          <p:cNvPr id="5" name="Text 2"/>
          <p:cNvSpPr txBox="1"/>
          <p:nvPr/>
        </p:nvSpPr>
        <p:spPr>
          <a:xfrm>
            <a:off x="777240" y="1645920"/>
            <a:ext cx="3657600" cy="1188720"/>
          </a:xfrm>
          <a:prstGeom prst="rect">
            <a:avLst/>
          </a:prstGeom>
          <a:noFill/>
          <a:ln/>
        </p:spPr>
        <p:txBody>
          <a:bodyPr wrap="square" lIns="0" tIns="0" rIns="0" bIns="0" rtlCol="0" anchor="t"/>
          <a:lstStyle/>
          <a:p>
            <a:pPr indent="0" marL="0">
              <a:buNone/>
            </a:pPr>
            <a:r>
              <a:rPr lang="en-US" sz="6600" b="1" dirty="0">
                <a:solidFill>
                  <a:schemeClr val="accent1"/>
                </a:solidFill>
              </a:rPr>
              <a:t>≈ 15×</a:t>
            </a:r>
            <a:endParaRPr lang="en-US" sz="6600" dirty="0"/>
          </a:p>
        </p:txBody>
      </p:sp>
      <p:sp>
        <p:nvSpPr>
          <p:cNvPr id="6" name="Text 3"/>
          <p:cNvSpPr txBox="1"/>
          <p:nvPr/>
        </p:nvSpPr>
        <p:spPr>
          <a:xfrm>
            <a:off x="777240" y="2880360"/>
            <a:ext cx="3657600" cy="731520"/>
          </a:xfrm>
          <a:prstGeom prst="rect">
            <a:avLst/>
          </a:prstGeom>
          <a:noFill/>
          <a:ln/>
        </p:spPr>
        <p:txBody>
          <a:bodyPr wrap="square" lIns="0" tIns="0" rIns="0" bIns="0" rtlCol="0" anchor="t"/>
          <a:lstStyle/>
          <a:p>
            <a:pPr indent="0" marL="0">
              <a:buNone/>
            </a:pPr>
            <a:r>
              <a:rPr lang="en-US" sz="1800" b="1" dirty="0">
                <a:solidFill>
                  <a:schemeClr val="bg1"/>
                </a:solidFill>
              </a:rPr>
              <a:t>mais tokens que uma conversa comum</a:t>
            </a:r>
            <a:endParaRPr lang="en-US" sz="1800" dirty="0"/>
          </a:p>
        </p:txBody>
      </p:sp>
      <p:sp>
        <p:nvSpPr>
          <p:cNvPr id="7" name="Text 4"/>
          <p:cNvSpPr txBox="1"/>
          <p:nvPr/>
        </p:nvSpPr>
        <p:spPr>
          <a:xfrm>
            <a:off x="777240" y="3703320"/>
            <a:ext cx="3657600" cy="1463040"/>
          </a:xfrm>
          <a:prstGeom prst="rect">
            <a:avLst/>
          </a:prstGeom>
          <a:noFill/>
          <a:ln/>
        </p:spPr>
        <p:txBody>
          <a:bodyPr wrap="square" lIns="0" tIns="0" rIns="0" bIns="0" rtlCol="0" anchor="t"/>
          <a:lstStyle/>
          <a:p>
            <a:pPr indent="0" marL="0">
              <a:buNone/>
            </a:pPr>
            <a:r>
              <a:rPr lang="en-US" sz="1500" dirty="0">
                <a:solidFill>
                  <a:schemeClr val="bg2"/>
                </a:solidFill>
              </a:rPr>
              <a:t>em troca de 90% de melhora sobre um agente único, numa avaliação interna do sistema de pesquisa multiagente da Anthropic (2025)</a:t>
            </a:r>
            <a:endParaRPr lang="en-US" sz="1500" dirty="0"/>
          </a:p>
        </p:txBody>
      </p:sp>
      <p:sp>
        <p:nvSpPr>
          <p:cNvPr id="8" name="Text 5"/>
          <p:cNvSpPr txBox="1"/>
          <p:nvPr/>
        </p:nvSpPr>
        <p:spPr>
          <a:xfrm>
            <a:off x="777240" y="5257800"/>
            <a:ext cx="3657600" cy="640080"/>
          </a:xfrm>
          <a:prstGeom prst="rect">
            <a:avLst/>
          </a:prstGeom>
          <a:noFill/>
          <a:ln/>
        </p:spPr>
        <p:txBody>
          <a:bodyPr wrap="square" lIns="0" tIns="0" rIns="0" bIns="0" rtlCol="0" anchor="t"/>
          <a:lstStyle/>
          <a:p>
            <a:pPr indent="0" marL="0">
              <a:buNone/>
            </a:pPr>
            <a:r>
              <a:rPr lang="en-US" sz="1500" i="1" dirty="0">
                <a:solidFill>
                  <a:schemeClr val="accent3"/>
                </a:solidFill>
              </a:rPr>
              <a:t>Mais agentes = mais capacidade e mais custo</a:t>
            </a:r>
            <a:endParaRPr lang="en-US" sz="1500" dirty="0"/>
          </a:p>
        </p:txBody>
      </p:sp>
      <p:sp>
        <p:nvSpPr>
          <p:cNvPr id="9" name="Shape 6"/>
          <p:cNvSpPr/>
          <p:nvPr/>
        </p:nvSpPr>
        <p:spPr>
          <a:xfrm>
            <a:off x="5029200" y="1508760"/>
            <a:ext cx="685800" cy="685800"/>
          </a:xfrm>
          <a:prstGeom prst="ellipse">
            <a:avLst/>
          </a:prstGeom>
          <a:solidFill>
            <a:schemeClr val="accent2"/>
          </a:solidFill>
          <a:ln/>
        </p:spPr>
      </p:sp>
      <p:pic>
        <p:nvPicPr>
          <p:cNvPr id="10" name="Image 0" descr="preencoded.png">    </p:cNvPr>
          <p:cNvPicPr>
            <a:picLocks noChangeAspect="1"/>
          </p:cNvPicPr>
          <p:nvPr/>
        </p:nvPicPr>
        <p:blipFill>
          <a:blip r:embed="rId1"/>
          <a:stretch>
            <a:fillRect/>
          </a:stretch>
        </p:blipFill>
        <p:spPr>
          <a:xfrm>
            <a:off x="5193792" y="1673352"/>
            <a:ext cx="356616" cy="356616"/>
          </a:xfrm>
          <a:prstGeom prst="rect">
            <a:avLst/>
          </a:prstGeom>
        </p:spPr>
      </p:pic>
      <p:sp>
        <p:nvSpPr>
          <p:cNvPr id="11" name="Text 7"/>
          <p:cNvSpPr txBox="1"/>
          <p:nvPr/>
        </p:nvSpPr>
        <p:spPr>
          <a:xfrm>
            <a:off x="5943600" y="1417320"/>
            <a:ext cx="5669280" cy="960120"/>
          </a:xfrm>
          <a:prstGeom prst="rect">
            <a:avLst/>
          </a:prstGeom>
          <a:noFill/>
          <a:ln/>
        </p:spPr>
        <p:txBody>
          <a:bodyPr wrap="square" lIns="0" tIns="0" rIns="0" bIns="0" rtlCol="0" anchor="t"/>
          <a:lstStyle/>
          <a:p>
            <a:pPr indent="0" marL="0">
              <a:buNone/>
            </a:pPr>
            <a:r>
              <a:rPr lang="en-US" sz="1800" b="1" dirty="0">
                <a:solidFill>
                  <a:schemeClr val="tx2"/>
                </a:solidFill>
              </a:rPr>
              <a:t>Comece com um agente só</a:t>
            </a:r>
            <a:endParaRPr lang="en-US" sz="1600" dirty="0"/>
          </a:p>
          <a:p>
            <a:pPr indent="0" marL="0">
              <a:buNone/>
            </a:pPr>
            <a:r>
              <a:rPr lang="en-US" sz="1500" dirty="0">
                <a:solidFill>
                  <a:schemeClr val="tx1"/>
                </a:solidFill>
              </a:rPr>
              <a:t>Use vários quando a tarefa se divide em partes independentes ou precisa de contextos diferentes.</a:t>
            </a:r>
            <a:endParaRPr lang="en-US" sz="1600" dirty="0"/>
          </a:p>
        </p:txBody>
      </p:sp>
      <p:sp>
        <p:nvSpPr>
          <p:cNvPr id="12" name="Shape 8"/>
          <p:cNvSpPr/>
          <p:nvPr/>
        </p:nvSpPr>
        <p:spPr>
          <a:xfrm>
            <a:off x="5029200" y="2587752"/>
            <a:ext cx="685800" cy="68580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5193792" y="2752344"/>
            <a:ext cx="356616" cy="356616"/>
          </a:xfrm>
          <a:prstGeom prst="rect">
            <a:avLst/>
          </a:prstGeom>
        </p:spPr>
      </p:pic>
      <p:sp>
        <p:nvSpPr>
          <p:cNvPr id="14" name="Text 9"/>
          <p:cNvSpPr txBox="1"/>
          <p:nvPr/>
        </p:nvSpPr>
        <p:spPr>
          <a:xfrm>
            <a:off x="5943600" y="2496312"/>
            <a:ext cx="5669280" cy="960120"/>
          </a:xfrm>
          <a:prstGeom prst="rect">
            <a:avLst/>
          </a:prstGeom>
          <a:noFill/>
          <a:ln/>
        </p:spPr>
        <p:txBody>
          <a:bodyPr wrap="square" lIns="0" tIns="0" rIns="0" bIns="0" rtlCol="0" anchor="t"/>
          <a:lstStyle/>
          <a:p>
            <a:pPr indent="0" marL="0">
              <a:buNone/>
            </a:pPr>
            <a:r>
              <a:rPr lang="en-US" sz="1800" b="1" dirty="0">
                <a:solidFill>
                  <a:schemeClr val="tx2"/>
                </a:solidFill>
              </a:rPr>
              <a:t>Custo</a:t>
            </a:r>
            <a:endParaRPr lang="en-US" sz="1600" dirty="0"/>
          </a:p>
          <a:p>
            <a:pPr indent="0" marL="0">
              <a:buNone/>
            </a:pPr>
            <a:r>
              <a:rPr lang="en-US" sz="1500" dirty="0">
                <a:solidFill>
                  <a:schemeClr val="tx1"/>
                </a:solidFill>
              </a:rPr>
              <a:t>Cada agente a mais multiplica chamadas, tokens, latência e pontos de falha.</a:t>
            </a:r>
            <a:endParaRPr lang="en-US" sz="1600" dirty="0"/>
          </a:p>
        </p:txBody>
      </p:sp>
      <p:sp>
        <p:nvSpPr>
          <p:cNvPr id="15" name="Shape 10"/>
          <p:cNvSpPr/>
          <p:nvPr/>
        </p:nvSpPr>
        <p:spPr>
          <a:xfrm>
            <a:off x="5029200" y="3666744"/>
            <a:ext cx="685800" cy="685800"/>
          </a:xfrm>
          <a:prstGeom prst="ellipse">
            <a:avLst/>
          </a:prstGeom>
          <a:solidFill>
            <a:schemeClr val="accent4"/>
          </a:solidFill>
          <a:ln/>
        </p:spPr>
      </p:sp>
      <p:pic>
        <p:nvPicPr>
          <p:cNvPr id="16" name="Image 2" descr="preencoded.png">    </p:cNvPr>
          <p:cNvPicPr>
            <a:picLocks noChangeAspect="1"/>
          </p:cNvPicPr>
          <p:nvPr/>
        </p:nvPicPr>
        <p:blipFill>
          <a:blip r:embed="rId3"/>
          <a:stretch>
            <a:fillRect/>
          </a:stretch>
        </p:blipFill>
        <p:spPr>
          <a:xfrm>
            <a:off x="5193792" y="3831336"/>
            <a:ext cx="356616" cy="356616"/>
          </a:xfrm>
          <a:prstGeom prst="rect">
            <a:avLst/>
          </a:prstGeom>
        </p:spPr>
      </p:pic>
      <p:sp>
        <p:nvSpPr>
          <p:cNvPr id="17" name="Text 11"/>
          <p:cNvSpPr txBox="1"/>
          <p:nvPr/>
        </p:nvSpPr>
        <p:spPr>
          <a:xfrm>
            <a:off x="5943600" y="3575304"/>
            <a:ext cx="5669280" cy="960120"/>
          </a:xfrm>
          <a:prstGeom prst="rect">
            <a:avLst/>
          </a:prstGeom>
          <a:noFill/>
          <a:ln/>
        </p:spPr>
        <p:txBody>
          <a:bodyPr wrap="square" lIns="0" tIns="0" rIns="0" bIns="0" rtlCol="0" anchor="t"/>
          <a:lstStyle/>
          <a:p>
            <a:pPr indent="0" marL="0">
              <a:buNone/>
            </a:pPr>
            <a:r>
              <a:rPr lang="en-US" sz="1800" b="1" dirty="0">
                <a:solidFill>
                  <a:schemeClr val="tx2"/>
                </a:solidFill>
              </a:rPr>
              <a:t>Segurança</a:t>
            </a:r>
            <a:endParaRPr lang="en-US" sz="1600" dirty="0"/>
          </a:p>
          <a:p>
            <a:pPr indent="0" marL="0">
              <a:buNone/>
            </a:pPr>
            <a:r>
              <a:rPr lang="en-US" sz="1500" dirty="0">
                <a:solidFill>
                  <a:schemeClr val="tx1"/>
                </a:solidFill>
              </a:rPr>
              <a:t>Prompt injection: trate o que vem de fora como dado, não como ordem.</a:t>
            </a:r>
            <a:endParaRPr lang="en-US" sz="1600" dirty="0"/>
          </a:p>
        </p:txBody>
      </p:sp>
      <p:sp>
        <p:nvSpPr>
          <p:cNvPr id="18" name="Shape 12"/>
          <p:cNvSpPr/>
          <p:nvPr/>
        </p:nvSpPr>
        <p:spPr>
          <a:xfrm>
            <a:off x="5029200" y="4745736"/>
            <a:ext cx="685800" cy="685800"/>
          </a:xfrm>
          <a:prstGeom prst="ellipse">
            <a:avLst/>
          </a:prstGeom>
          <a:solidFill>
            <a:schemeClr val="accent5"/>
          </a:solidFill>
          <a:ln/>
        </p:spPr>
      </p:sp>
      <p:pic>
        <p:nvPicPr>
          <p:cNvPr id="19" name="Image 3" descr="preencoded.png">    </p:cNvPr>
          <p:cNvPicPr>
            <a:picLocks noChangeAspect="1"/>
          </p:cNvPicPr>
          <p:nvPr/>
        </p:nvPicPr>
        <p:blipFill>
          <a:blip r:embed="rId4"/>
          <a:stretch>
            <a:fillRect/>
          </a:stretch>
        </p:blipFill>
        <p:spPr>
          <a:xfrm>
            <a:off x="5193792" y="4910328"/>
            <a:ext cx="356616" cy="356616"/>
          </a:xfrm>
          <a:prstGeom prst="rect">
            <a:avLst/>
          </a:prstGeom>
        </p:spPr>
      </p:pic>
      <p:sp>
        <p:nvSpPr>
          <p:cNvPr id="20" name="Text 13"/>
          <p:cNvSpPr txBox="1"/>
          <p:nvPr/>
        </p:nvSpPr>
        <p:spPr>
          <a:xfrm>
            <a:off x="5943600" y="4654296"/>
            <a:ext cx="5669280" cy="960120"/>
          </a:xfrm>
          <a:prstGeom prst="rect">
            <a:avLst/>
          </a:prstGeom>
          <a:noFill/>
          <a:ln/>
        </p:spPr>
        <p:txBody>
          <a:bodyPr wrap="square" lIns="0" tIns="0" rIns="0" bIns="0" rtlCol="0" anchor="t"/>
          <a:lstStyle/>
          <a:p>
            <a:pPr indent="0" marL="0">
              <a:buNone/>
            </a:pPr>
            <a:r>
              <a:rPr lang="en-US" sz="1800" b="1" dirty="0">
                <a:solidFill>
                  <a:schemeClr val="tx2"/>
                </a:solidFill>
              </a:rPr>
              <a:t>Observabilidade</a:t>
            </a:r>
            <a:endParaRPr lang="en-US" sz="1600" dirty="0"/>
          </a:p>
          <a:p>
            <a:pPr indent="0" marL="0">
              <a:buNone/>
            </a:pPr>
            <a:r>
              <a:rPr lang="en-US" sz="1500" dirty="0">
                <a:solidFill>
                  <a:schemeClr val="tx1"/>
                </a:solidFill>
              </a:rPr>
              <a:t>Registre todas as mensagens entre agentes; sem isso, não dá para depurar.</a:t>
            </a:r>
            <a:endParaRPr lang="en-US" sz="1600" dirty="0"/>
          </a:p>
        </p:txBody>
      </p:sp>
      <p:sp>
        <p:nvSpPr>
          <p:cNvPr id="21" name="Text 14"/>
          <p:cNvSpPr txBox="1"/>
          <p:nvPr/>
        </p:nvSpPr>
        <p:spPr>
          <a:xfrm>
            <a:off x="5029200" y="5715000"/>
            <a:ext cx="6583680" cy="411480"/>
          </a:xfrm>
          <a:prstGeom prst="rect">
            <a:avLst/>
          </a:prstGeom>
          <a:noFill/>
          <a:ln/>
        </p:spPr>
        <p:txBody>
          <a:bodyPr wrap="square" lIns="0" tIns="0" rIns="0" bIns="0" rtlCol="0" anchor="t"/>
          <a:lstStyle/>
          <a:p>
            <a:pPr indent="0" marL="0">
              <a:buNone/>
            </a:pPr>
            <a:r>
              <a:rPr lang="en-US" sz="1400" i="1" dirty="0">
                <a:solidFill>
                  <a:schemeClr val="accent4"/>
                </a:solidFill>
              </a:rPr>
              <a:t>As lições do Contract Net e da FIPA continuam valendo: responsável claro, limite de rodadas, prazo e reputação.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Text 0"/>
          <p:cNvSpPr/>
          <p:nvPr>
            <p:ph idx="100" type="body" hasCustomPrompt="1"/>
          </p:nvPr>
        </p:nvSpPr>
        <p:spPr>
          <a:xfrm>
            <a:off x="731520" y="1463040"/>
            <a:ext cx="2743200" cy="1097280"/>
          </a:xfrm>
          <a:prstGeom prst="rect">
            <a:avLst/>
          </a:prstGeom>
          <a:noFill/>
          <a:ln/>
        </p:spPr>
        <p:txBody>
          <a:bodyPr wrap="square" lIns="0" tIns="0" rIns="0" bIns="0" rtlCol="0" anchor="b"/>
          <a:lstStyle/>
          <a:p>
            <a:pPr indent="0" marL="0">
              <a:buNone/>
            </a:pPr>
            <a:r>
              <a:rPr lang="en-US" sz="7200" b="1" dirty="0">
                <a:solidFill>
                  <a:schemeClr val="accent1"/>
                </a:solidFill>
              </a:rPr>
              <a:t>08</a:t>
            </a:r>
            <a:endParaRPr lang="en-US" sz="7200" dirty="0"/>
          </a:p>
        </p:txBody>
      </p:sp>
      <p:sp>
        <p:nvSpPr>
          <p:cNvPr id="4" name="Text 0"/>
          <p:cNvSpPr/>
          <p:nvPr>
            <p:ph idx="101" type="title" hasCustomPrompt="1"/>
          </p:nvPr>
        </p:nvSpPr>
        <p:spPr>
          <a:xfrm>
            <a:off x="731520" y="2697480"/>
            <a:ext cx="6766560" cy="1463040"/>
          </a:xfrm>
          <a:prstGeom prst="rect">
            <a:avLst/>
          </a:prstGeom>
          <a:noFill/>
          <a:ln/>
        </p:spPr>
        <p:txBody>
          <a:bodyPr wrap="square" lIns="0" tIns="0" rIns="0" bIns="0" rtlCol="0" anchor="t"/>
          <a:lstStyle/>
          <a:p>
            <a:pPr algn="l" indent="0" marL="0">
              <a:buNone/>
            </a:pPr>
            <a:r>
              <a:rPr lang="en-US" sz="4000" b="1" dirty="0">
                <a:solidFill>
                  <a:schemeClr val="bg1"/>
                </a:solidFill>
              </a:rPr>
              <a:t>Aplicações e ferramentas</a:t>
            </a:r>
            <a:endParaRPr lang="en-US" sz="4000" dirty="0"/>
          </a:p>
        </p:txBody>
      </p:sp>
      <p:sp>
        <p:nvSpPr>
          <p:cNvPr id="5" name="Text 0"/>
          <p:cNvSpPr/>
          <p:nvPr>
            <p:ph idx="102" type="body" hasCustomPrompt="1"/>
          </p:nvPr>
        </p:nvSpPr>
        <p:spPr>
          <a:xfrm>
            <a:off x="731520" y="4343400"/>
            <a:ext cx="6400800" cy="914400"/>
          </a:xfrm>
          <a:prstGeom prst="rect">
            <a:avLst/>
          </a:prstGeom>
          <a:noFill/>
          <a:ln/>
        </p:spPr>
        <p:txBody>
          <a:bodyPr wrap="square" lIns="0" tIns="0" rIns="0" bIns="0" rtlCol="0" anchor="t"/>
          <a:lstStyle/>
          <a:p>
            <a:pPr indent="0" marL="0">
              <a:buNone/>
            </a:pPr>
            <a:r>
              <a:rPr lang="en-US" sz="1800" dirty="0">
                <a:solidFill>
                  <a:schemeClr val="accent3"/>
                </a:solidFill>
              </a:rPr>
              <a:t>Casos reais e como começar · Notebook, Seções 9 e 10</a:t>
            </a:r>
            <a:endParaRPr lang="en-US" sz="1800" dirty="0"/>
          </a:p>
        </p:txBody>
      </p:sp>
      <p:sp>
        <p:nvSpPr>
          <p:cNvPr id="6" name="Shape 3"/>
          <p:cNvSpPr/>
          <p:nvPr/>
        </p:nvSpPr>
        <p:spPr>
          <a:xfrm flipV="1">
            <a:off x="8240573" y="1616659"/>
            <a:ext cx="855878" cy="1135685"/>
          </a:xfrm>
          <a:prstGeom prst="line">
            <a:avLst/>
          </a:prstGeom>
          <a:noFill/>
          <a:ln w="19050">
            <a:solidFill>
              <a:schemeClr val="accent6"/>
            </a:solidFill>
            <a:prstDash val="solid"/>
          </a:ln>
        </p:spPr>
      </p:sp>
      <p:sp>
        <p:nvSpPr>
          <p:cNvPr id="7" name="Shape 4"/>
          <p:cNvSpPr/>
          <p:nvPr/>
        </p:nvSpPr>
        <p:spPr>
          <a:xfrm>
            <a:off x="9096451" y="1616659"/>
            <a:ext cx="820217" cy="1261872"/>
          </a:xfrm>
          <a:prstGeom prst="line">
            <a:avLst/>
          </a:prstGeom>
          <a:noFill/>
          <a:ln w="19050">
            <a:solidFill>
              <a:schemeClr val="accent6"/>
            </a:solidFill>
            <a:prstDash val="solid"/>
          </a:ln>
        </p:spPr>
      </p:sp>
      <p:sp>
        <p:nvSpPr>
          <p:cNvPr id="8" name="Shape 5"/>
          <p:cNvSpPr/>
          <p:nvPr/>
        </p:nvSpPr>
        <p:spPr>
          <a:xfrm flipV="1">
            <a:off x="9916668" y="1784909"/>
            <a:ext cx="1105510" cy="1093622"/>
          </a:xfrm>
          <a:prstGeom prst="line">
            <a:avLst/>
          </a:prstGeom>
          <a:noFill/>
          <a:ln w="19050">
            <a:solidFill>
              <a:schemeClr val="accent6"/>
            </a:solidFill>
            <a:prstDash val="solid"/>
          </a:ln>
        </p:spPr>
      </p:sp>
      <p:sp>
        <p:nvSpPr>
          <p:cNvPr id="9" name="Shape 6"/>
          <p:cNvSpPr/>
          <p:nvPr/>
        </p:nvSpPr>
        <p:spPr>
          <a:xfrm>
            <a:off x="8240573" y="2752344"/>
            <a:ext cx="713232" cy="1303934"/>
          </a:xfrm>
          <a:prstGeom prst="line">
            <a:avLst/>
          </a:prstGeom>
          <a:noFill/>
          <a:ln w="19050">
            <a:solidFill>
              <a:schemeClr val="accent6"/>
            </a:solidFill>
            <a:prstDash val="solid"/>
          </a:ln>
        </p:spPr>
      </p:sp>
      <p:sp>
        <p:nvSpPr>
          <p:cNvPr id="10" name="Shape 7"/>
          <p:cNvSpPr/>
          <p:nvPr/>
        </p:nvSpPr>
        <p:spPr>
          <a:xfrm flipV="1">
            <a:off x="8953805" y="2878531"/>
            <a:ext cx="962863" cy="1177747"/>
          </a:xfrm>
          <a:prstGeom prst="line">
            <a:avLst/>
          </a:prstGeom>
          <a:noFill/>
          <a:ln w="19050">
            <a:solidFill>
              <a:schemeClr val="accent6"/>
            </a:solidFill>
            <a:prstDash val="solid"/>
          </a:ln>
        </p:spPr>
      </p:sp>
      <p:sp>
        <p:nvSpPr>
          <p:cNvPr id="11" name="Shape 8"/>
          <p:cNvSpPr/>
          <p:nvPr/>
        </p:nvSpPr>
        <p:spPr>
          <a:xfrm>
            <a:off x="9916668" y="2878531"/>
            <a:ext cx="463601" cy="1430122"/>
          </a:xfrm>
          <a:prstGeom prst="line">
            <a:avLst/>
          </a:prstGeom>
          <a:noFill/>
          <a:ln w="19050">
            <a:solidFill>
              <a:schemeClr val="accent6"/>
            </a:solidFill>
            <a:prstDash val="solid"/>
          </a:ln>
        </p:spPr>
      </p:sp>
      <p:sp>
        <p:nvSpPr>
          <p:cNvPr id="12" name="Shape 9"/>
          <p:cNvSpPr/>
          <p:nvPr/>
        </p:nvSpPr>
        <p:spPr>
          <a:xfrm flipV="1">
            <a:off x="10380269" y="3383280"/>
            <a:ext cx="962863" cy="925373"/>
          </a:xfrm>
          <a:prstGeom prst="line">
            <a:avLst/>
          </a:prstGeom>
          <a:noFill/>
          <a:ln w="19050">
            <a:solidFill>
              <a:schemeClr val="accent6"/>
            </a:solidFill>
            <a:prstDash val="solid"/>
          </a:ln>
        </p:spPr>
      </p:sp>
      <p:sp>
        <p:nvSpPr>
          <p:cNvPr id="13" name="Shape 10"/>
          <p:cNvSpPr/>
          <p:nvPr/>
        </p:nvSpPr>
        <p:spPr>
          <a:xfrm>
            <a:off x="11022178" y="1784909"/>
            <a:ext cx="320954" cy="1598371"/>
          </a:xfrm>
          <a:prstGeom prst="line">
            <a:avLst/>
          </a:prstGeom>
          <a:noFill/>
          <a:ln w="19050">
            <a:solidFill>
              <a:schemeClr val="accent6"/>
            </a:solidFill>
            <a:prstDash val="solid"/>
          </a:ln>
        </p:spPr>
      </p:sp>
      <p:sp>
        <p:nvSpPr>
          <p:cNvPr id="14" name="Shape 11"/>
          <p:cNvSpPr/>
          <p:nvPr/>
        </p:nvSpPr>
        <p:spPr>
          <a:xfrm>
            <a:off x="8953805" y="4056278"/>
            <a:ext cx="784555" cy="1303934"/>
          </a:xfrm>
          <a:prstGeom prst="line">
            <a:avLst/>
          </a:prstGeom>
          <a:noFill/>
          <a:ln w="19050">
            <a:solidFill>
              <a:schemeClr val="accent6"/>
            </a:solidFill>
            <a:prstDash val="solid"/>
          </a:ln>
        </p:spPr>
      </p:sp>
      <p:sp>
        <p:nvSpPr>
          <p:cNvPr id="15" name="Shape 12"/>
          <p:cNvSpPr/>
          <p:nvPr/>
        </p:nvSpPr>
        <p:spPr>
          <a:xfrm flipH="1">
            <a:off x="9738360" y="4308653"/>
            <a:ext cx="641909" cy="1051560"/>
          </a:xfrm>
          <a:prstGeom prst="line">
            <a:avLst/>
          </a:prstGeom>
          <a:noFill/>
          <a:ln w="19050">
            <a:solidFill>
              <a:schemeClr val="accent6"/>
            </a:solidFill>
            <a:prstDash val="solid"/>
          </a:ln>
        </p:spPr>
      </p:sp>
      <p:sp>
        <p:nvSpPr>
          <p:cNvPr id="16" name="Shape 13"/>
          <p:cNvSpPr/>
          <p:nvPr/>
        </p:nvSpPr>
        <p:spPr>
          <a:xfrm flipH="1">
            <a:off x="8169250" y="4056278"/>
            <a:ext cx="784555" cy="1093622"/>
          </a:xfrm>
          <a:prstGeom prst="line">
            <a:avLst/>
          </a:prstGeom>
          <a:noFill/>
          <a:ln w="19050">
            <a:solidFill>
              <a:schemeClr val="accent6"/>
            </a:solidFill>
            <a:prstDash val="solid"/>
          </a:ln>
        </p:spPr>
      </p:sp>
      <p:sp>
        <p:nvSpPr>
          <p:cNvPr id="17" name="Shape 14"/>
          <p:cNvSpPr/>
          <p:nvPr/>
        </p:nvSpPr>
        <p:spPr>
          <a:xfrm>
            <a:off x="9096451" y="1616659"/>
            <a:ext cx="1925726" cy="168250"/>
          </a:xfrm>
          <a:prstGeom prst="line">
            <a:avLst/>
          </a:prstGeom>
          <a:noFill/>
          <a:ln w="19050">
            <a:solidFill>
              <a:schemeClr val="accent6"/>
            </a:solidFill>
            <a:prstDash val="solid"/>
          </a:ln>
        </p:spPr>
      </p:sp>
      <p:sp>
        <p:nvSpPr>
          <p:cNvPr id="18" name="Shape 15"/>
          <p:cNvSpPr/>
          <p:nvPr/>
        </p:nvSpPr>
        <p:spPr>
          <a:xfrm>
            <a:off x="8048549" y="2560320"/>
            <a:ext cx="384048" cy="384048"/>
          </a:xfrm>
          <a:prstGeom prst="ellipse">
            <a:avLst/>
          </a:prstGeom>
          <a:solidFill>
            <a:schemeClr val="accent2"/>
          </a:solidFill>
          <a:ln w="38100">
            <a:solidFill>
              <a:schemeClr val="tx2"/>
            </a:solidFill>
            <a:prstDash val="solid"/>
          </a:ln>
        </p:spPr>
      </p:sp>
      <p:sp>
        <p:nvSpPr>
          <p:cNvPr id="19" name="Shape 16"/>
          <p:cNvSpPr/>
          <p:nvPr/>
        </p:nvSpPr>
        <p:spPr>
          <a:xfrm>
            <a:off x="8959291" y="1479499"/>
            <a:ext cx="274320" cy="274320"/>
          </a:xfrm>
          <a:prstGeom prst="ellipse">
            <a:avLst/>
          </a:prstGeom>
          <a:solidFill>
            <a:schemeClr val="accent3"/>
          </a:solidFill>
          <a:ln w="38100">
            <a:solidFill>
              <a:schemeClr val="tx2"/>
            </a:solidFill>
            <a:prstDash val="solid"/>
          </a:ln>
        </p:spPr>
      </p:sp>
      <p:sp>
        <p:nvSpPr>
          <p:cNvPr id="20" name="Shape 17"/>
          <p:cNvSpPr/>
          <p:nvPr/>
        </p:nvSpPr>
        <p:spPr>
          <a:xfrm>
            <a:off x="9633204" y="2595067"/>
            <a:ext cx="566928" cy="566928"/>
          </a:xfrm>
          <a:prstGeom prst="ellipse">
            <a:avLst/>
          </a:prstGeom>
          <a:solidFill>
            <a:schemeClr val="accent1"/>
          </a:solidFill>
          <a:ln w="38100">
            <a:solidFill>
              <a:schemeClr val="tx2"/>
            </a:solidFill>
            <a:prstDash val="solid"/>
          </a:ln>
        </p:spPr>
      </p:sp>
      <p:sp>
        <p:nvSpPr>
          <p:cNvPr id="21" name="Shape 18"/>
          <p:cNvSpPr/>
          <p:nvPr/>
        </p:nvSpPr>
        <p:spPr>
          <a:xfrm>
            <a:off x="10857586" y="1620317"/>
            <a:ext cx="329184" cy="329184"/>
          </a:xfrm>
          <a:prstGeom prst="ellipse">
            <a:avLst/>
          </a:prstGeom>
          <a:solidFill>
            <a:schemeClr val="accent2"/>
          </a:solidFill>
          <a:ln w="38100">
            <a:solidFill>
              <a:schemeClr val="tx2"/>
            </a:solidFill>
            <a:prstDash val="solid"/>
          </a:ln>
        </p:spPr>
      </p:sp>
      <p:sp>
        <p:nvSpPr>
          <p:cNvPr id="22" name="Shape 19"/>
          <p:cNvSpPr/>
          <p:nvPr/>
        </p:nvSpPr>
        <p:spPr>
          <a:xfrm>
            <a:off x="8725205" y="3827678"/>
            <a:ext cx="457200" cy="457200"/>
          </a:xfrm>
          <a:prstGeom prst="ellipse">
            <a:avLst/>
          </a:prstGeom>
          <a:solidFill>
            <a:schemeClr val="bg1"/>
          </a:solidFill>
          <a:ln w="38100">
            <a:solidFill>
              <a:schemeClr val="tx2"/>
            </a:solidFill>
            <a:prstDash val="solid"/>
          </a:ln>
        </p:spPr>
      </p:sp>
      <p:sp>
        <p:nvSpPr>
          <p:cNvPr id="23" name="Shape 20"/>
          <p:cNvSpPr/>
          <p:nvPr/>
        </p:nvSpPr>
        <p:spPr>
          <a:xfrm>
            <a:off x="10197389" y="4125773"/>
            <a:ext cx="365760" cy="365760"/>
          </a:xfrm>
          <a:prstGeom prst="ellipse">
            <a:avLst/>
          </a:prstGeom>
          <a:solidFill>
            <a:schemeClr val="accent3"/>
          </a:solidFill>
          <a:ln w="38100">
            <a:solidFill>
              <a:schemeClr val="tx2"/>
            </a:solidFill>
            <a:prstDash val="solid"/>
          </a:ln>
        </p:spPr>
      </p:sp>
      <p:sp>
        <p:nvSpPr>
          <p:cNvPr id="24" name="Shape 21"/>
          <p:cNvSpPr/>
          <p:nvPr/>
        </p:nvSpPr>
        <p:spPr>
          <a:xfrm>
            <a:off x="11215116" y="3255264"/>
            <a:ext cx="256032" cy="256032"/>
          </a:xfrm>
          <a:prstGeom prst="ellipse">
            <a:avLst/>
          </a:prstGeom>
          <a:solidFill>
            <a:schemeClr val="accent1"/>
          </a:solidFill>
          <a:ln w="38100">
            <a:solidFill>
              <a:schemeClr val="tx2"/>
            </a:solidFill>
            <a:prstDash val="solid"/>
          </a:ln>
        </p:spPr>
      </p:sp>
      <p:sp>
        <p:nvSpPr>
          <p:cNvPr id="25" name="Shape 22"/>
          <p:cNvSpPr/>
          <p:nvPr/>
        </p:nvSpPr>
        <p:spPr>
          <a:xfrm>
            <a:off x="9582912" y="5204765"/>
            <a:ext cx="310896" cy="310896"/>
          </a:xfrm>
          <a:prstGeom prst="ellipse">
            <a:avLst/>
          </a:prstGeom>
          <a:solidFill>
            <a:schemeClr val="accent2"/>
          </a:solidFill>
          <a:ln w="38100">
            <a:solidFill>
              <a:schemeClr val="tx2"/>
            </a:solidFill>
            <a:prstDash val="solid"/>
          </a:ln>
        </p:spPr>
      </p:sp>
      <p:sp>
        <p:nvSpPr>
          <p:cNvPr id="26" name="Shape 23"/>
          <p:cNvSpPr/>
          <p:nvPr/>
        </p:nvSpPr>
        <p:spPr>
          <a:xfrm>
            <a:off x="8050378" y="5031029"/>
            <a:ext cx="237744" cy="237744"/>
          </a:xfrm>
          <a:prstGeom prst="ellipse">
            <a:avLst/>
          </a:prstGeom>
          <a:solidFill>
            <a:schemeClr val="accent3"/>
          </a:solidFill>
          <a:ln w="38100">
            <a:solidFill>
              <a:schemeClr val="tx2"/>
            </a:solidFill>
            <a:prstDash val="solid"/>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Sistemas multiagentes no mundo real</a:t>
            </a:r>
            <a:endParaRPr lang="en-US" sz="3400" dirty="0"/>
          </a:p>
        </p:txBody>
      </p:sp>
      <p:sp>
        <p:nvSpPr>
          <p:cNvPr id="4" name="Shape 1"/>
          <p:cNvSpPr/>
          <p:nvPr/>
        </p:nvSpPr>
        <p:spPr>
          <a:xfrm>
            <a:off x="548640" y="1417320"/>
            <a:ext cx="2651760" cy="2240280"/>
          </a:xfrm>
          <a:prstGeom prst="roundRect">
            <a:avLst>
              <a:gd name="adj" fmla="val 3265"/>
            </a:avLst>
          </a:prstGeom>
          <a:solidFill>
            <a:schemeClr val="bg2"/>
          </a:solidFill>
          <a:ln/>
        </p:spPr>
      </p:sp>
      <p:sp>
        <p:nvSpPr>
          <p:cNvPr id="5" name="Shape 2"/>
          <p:cNvSpPr/>
          <p:nvPr/>
        </p:nvSpPr>
        <p:spPr>
          <a:xfrm>
            <a:off x="777240" y="1645920"/>
            <a:ext cx="685800" cy="6858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41832" y="1810512"/>
            <a:ext cx="356616" cy="356616"/>
          </a:xfrm>
          <a:prstGeom prst="rect">
            <a:avLst/>
          </a:prstGeom>
        </p:spPr>
      </p:pic>
      <p:sp>
        <p:nvSpPr>
          <p:cNvPr id="7" name="Text 3"/>
          <p:cNvSpPr txBox="1"/>
          <p:nvPr/>
        </p:nvSpPr>
        <p:spPr>
          <a:xfrm>
            <a:off x="777240" y="2468880"/>
            <a:ext cx="2194560" cy="411480"/>
          </a:xfrm>
          <a:prstGeom prst="rect">
            <a:avLst/>
          </a:prstGeom>
          <a:noFill/>
          <a:ln/>
        </p:spPr>
        <p:txBody>
          <a:bodyPr wrap="square" lIns="0" tIns="0" rIns="0" bIns="0" rtlCol="0" anchor="t"/>
          <a:lstStyle/>
          <a:p>
            <a:pPr indent="0" marL="0">
              <a:buNone/>
            </a:pPr>
            <a:r>
              <a:rPr lang="en-US" sz="1900" b="1" dirty="0">
                <a:solidFill>
                  <a:schemeClr val="tx2"/>
                </a:solidFill>
              </a:rPr>
              <a:t>Publicidade</a:t>
            </a:r>
            <a:endParaRPr lang="en-US" sz="1900" dirty="0"/>
          </a:p>
        </p:txBody>
      </p:sp>
      <p:sp>
        <p:nvSpPr>
          <p:cNvPr id="8" name="Text 4"/>
          <p:cNvSpPr txBox="1"/>
          <p:nvPr/>
        </p:nvSpPr>
        <p:spPr>
          <a:xfrm>
            <a:off x="777240" y="2880360"/>
            <a:ext cx="2194560" cy="685800"/>
          </a:xfrm>
          <a:prstGeom prst="rect">
            <a:avLst/>
          </a:prstGeom>
          <a:noFill/>
          <a:ln/>
        </p:spPr>
        <p:txBody>
          <a:bodyPr wrap="square" lIns="0" tIns="0" rIns="0" bIns="0" rtlCol="0" anchor="t"/>
          <a:lstStyle/>
          <a:p>
            <a:pPr indent="0" marL="0">
              <a:buNone/>
            </a:pPr>
            <a:r>
              <a:rPr lang="en-US" sz="1400" dirty="0">
                <a:solidFill>
                  <a:schemeClr val="tx1"/>
                </a:solidFill>
              </a:rPr>
              <a:t>Um leilão de anúncios a cada busca no Google</a:t>
            </a:r>
            <a:endParaRPr lang="en-US" sz="1400" dirty="0"/>
          </a:p>
        </p:txBody>
      </p:sp>
      <p:sp>
        <p:nvSpPr>
          <p:cNvPr id="9" name="Shape 5"/>
          <p:cNvSpPr/>
          <p:nvPr/>
        </p:nvSpPr>
        <p:spPr>
          <a:xfrm>
            <a:off x="3353105" y="1417320"/>
            <a:ext cx="2651760" cy="2240280"/>
          </a:xfrm>
          <a:prstGeom prst="roundRect">
            <a:avLst>
              <a:gd name="adj" fmla="val 3265"/>
            </a:avLst>
          </a:prstGeom>
          <a:solidFill>
            <a:schemeClr val="bg2"/>
          </a:solidFill>
          <a:ln/>
        </p:spPr>
      </p:sp>
      <p:sp>
        <p:nvSpPr>
          <p:cNvPr id="10" name="Shape 6"/>
          <p:cNvSpPr/>
          <p:nvPr/>
        </p:nvSpPr>
        <p:spPr>
          <a:xfrm>
            <a:off x="3581705" y="1645920"/>
            <a:ext cx="685800" cy="685800"/>
          </a:xfrm>
          <a:prstGeom prst="ellipse">
            <a:avLst/>
          </a:prstGeom>
          <a:solidFill>
            <a:schemeClr val="accent3"/>
          </a:solidFill>
          <a:ln/>
        </p:spPr>
      </p:sp>
      <p:pic>
        <p:nvPicPr>
          <p:cNvPr id="11" name="Image 1" descr="preencoded.png">    </p:cNvPr>
          <p:cNvPicPr>
            <a:picLocks noChangeAspect="1"/>
          </p:cNvPicPr>
          <p:nvPr/>
        </p:nvPicPr>
        <p:blipFill>
          <a:blip r:embed="rId2"/>
          <a:stretch>
            <a:fillRect/>
          </a:stretch>
        </p:blipFill>
        <p:spPr>
          <a:xfrm>
            <a:off x="3746297" y="1810512"/>
            <a:ext cx="356616" cy="356616"/>
          </a:xfrm>
          <a:prstGeom prst="rect">
            <a:avLst/>
          </a:prstGeom>
        </p:spPr>
      </p:pic>
      <p:sp>
        <p:nvSpPr>
          <p:cNvPr id="12" name="Text 7"/>
          <p:cNvSpPr txBox="1"/>
          <p:nvPr/>
        </p:nvSpPr>
        <p:spPr>
          <a:xfrm>
            <a:off x="3581705" y="2468880"/>
            <a:ext cx="2194560" cy="411480"/>
          </a:xfrm>
          <a:prstGeom prst="rect">
            <a:avLst/>
          </a:prstGeom>
          <a:noFill/>
          <a:ln/>
        </p:spPr>
        <p:txBody>
          <a:bodyPr wrap="square" lIns="0" tIns="0" rIns="0" bIns="0" rtlCol="0" anchor="t"/>
          <a:lstStyle/>
          <a:p>
            <a:pPr indent="0" marL="0">
              <a:buNone/>
            </a:pPr>
            <a:r>
              <a:rPr lang="en-US" sz="1900" b="1" dirty="0">
                <a:solidFill>
                  <a:schemeClr val="tx2"/>
                </a:solidFill>
              </a:rPr>
              <a:t>Energia</a:t>
            </a:r>
            <a:endParaRPr lang="en-US" sz="1900" dirty="0"/>
          </a:p>
        </p:txBody>
      </p:sp>
      <p:sp>
        <p:nvSpPr>
          <p:cNvPr id="13" name="Text 8"/>
          <p:cNvSpPr txBox="1"/>
          <p:nvPr/>
        </p:nvSpPr>
        <p:spPr>
          <a:xfrm>
            <a:off x="3581705" y="2880360"/>
            <a:ext cx="2194560" cy="685800"/>
          </a:xfrm>
          <a:prstGeom prst="rect">
            <a:avLst/>
          </a:prstGeom>
          <a:noFill/>
          <a:ln/>
        </p:spPr>
        <p:txBody>
          <a:bodyPr wrap="square" lIns="0" tIns="0" rIns="0" bIns="0" rtlCol="0" anchor="t"/>
          <a:lstStyle/>
          <a:p>
            <a:pPr indent="0" marL="0">
              <a:buNone/>
            </a:pPr>
            <a:r>
              <a:rPr lang="en-US" sz="1400" dirty="0">
                <a:solidFill>
                  <a:schemeClr val="tx1"/>
                </a:solidFill>
              </a:rPr>
              <a:t>PowerMatcher: aparelhos dão lances por energia</a:t>
            </a:r>
            <a:endParaRPr lang="en-US" sz="1400" dirty="0"/>
          </a:p>
        </p:txBody>
      </p:sp>
      <p:sp>
        <p:nvSpPr>
          <p:cNvPr id="14" name="Shape 9"/>
          <p:cNvSpPr/>
          <p:nvPr/>
        </p:nvSpPr>
        <p:spPr>
          <a:xfrm>
            <a:off x="6157570" y="1417320"/>
            <a:ext cx="2651760" cy="2240280"/>
          </a:xfrm>
          <a:prstGeom prst="roundRect">
            <a:avLst>
              <a:gd name="adj" fmla="val 3265"/>
            </a:avLst>
          </a:prstGeom>
          <a:solidFill>
            <a:schemeClr val="bg2"/>
          </a:solidFill>
          <a:ln/>
        </p:spPr>
      </p:sp>
      <p:sp>
        <p:nvSpPr>
          <p:cNvPr id="15" name="Shape 10"/>
          <p:cNvSpPr/>
          <p:nvPr/>
        </p:nvSpPr>
        <p:spPr>
          <a:xfrm>
            <a:off x="6386170" y="1645920"/>
            <a:ext cx="685800" cy="68580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6550762" y="1810512"/>
            <a:ext cx="356616" cy="356616"/>
          </a:xfrm>
          <a:prstGeom prst="rect">
            <a:avLst/>
          </a:prstGeom>
        </p:spPr>
      </p:pic>
      <p:sp>
        <p:nvSpPr>
          <p:cNvPr id="17" name="Text 11"/>
          <p:cNvSpPr txBox="1"/>
          <p:nvPr/>
        </p:nvSpPr>
        <p:spPr>
          <a:xfrm>
            <a:off x="6386170" y="2468880"/>
            <a:ext cx="2194560" cy="411480"/>
          </a:xfrm>
          <a:prstGeom prst="rect">
            <a:avLst/>
          </a:prstGeom>
          <a:noFill/>
          <a:ln/>
        </p:spPr>
        <p:txBody>
          <a:bodyPr wrap="square" lIns="0" tIns="0" rIns="0" bIns="0" rtlCol="0" anchor="t"/>
          <a:lstStyle/>
          <a:p>
            <a:pPr indent="0" marL="0">
              <a:buNone/>
            </a:pPr>
            <a:r>
              <a:rPr lang="en-US" sz="1900" b="1" dirty="0">
                <a:solidFill>
                  <a:schemeClr val="tx2"/>
                </a:solidFill>
              </a:rPr>
              <a:t>Trânsito</a:t>
            </a:r>
            <a:endParaRPr lang="en-US" sz="1900" dirty="0"/>
          </a:p>
        </p:txBody>
      </p:sp>
      <p:sp>
        <p:nvSpPr>
          <p:cNvPr id="18" name="Text 12"/>
          <p:cNvSpPr txBox="1"/>
          <p:nvPr/>
        </p:nvSpPr>
        <p:spPr>
          <a:xfrm>
            <a:off x="6386170" y="2880360"/>
            <a:ext cx="2194560" cy="685800"/>
          </a:xfrm>
          <a:prstGeom prst="rect">
            <a:avLst/>
          </a:prstGeom>
          <a:noFill/>
          <a:ln/>
        </p:spPr>
        <p:txBody>
          <a:bodyPr wrap="square" lIns="0" tIns="0" rIns="0" bIns="0" rtlCol="0" anchor="t"/>
          <a:lstStyle/>
          <a:p>
            <a:pPr indent="0" marL="0">
              <a:buNone/>
            </a:pPr>
            <a:r>
              <a:rPr lang="en-US" sz="1400" dirty="0">
                <a:solidFill>
                  <a:schemeClr val="tx1"/>
                </a:solidFill>
              </a:rPr>
              <a:t>Cruzamentos sem semáforo; MATSim</a:t>
            </a:r>
            <a:endParaRPr lang="en-US" sz="1400" dirty="0"/>
          </a:p>
        </p:txBody>
      </p:sp>
      <p:sp>
        <p:nvSpPr>
          <p:cNvPr id="19" name="Shape 13"/>
          <p:cNvSpPr/>
          <p:nvPr/>
        </p:nvSpPr>
        <p:spPr>
          <a:xfrm>
            <a:off x="8962034" y="1417320"/>
            <a:ext cx="2651760" cy="2240280"/>
          </a:xfrm>
          <a:prstGeom prst="roundRect">
            <a:avLst>
              <a:gd name="adj" fmla="val 3265"/>
            </a:avLst>
          </a:prstGeom>
          <a:solidFill>
            <a:schemeClr val="bg2"/>
          </a:solidFill>
          <a:ln/>
        </p:spPr>
      </p:sp>
      <p:sp>
        <p:nvSpPr>
          <p:cNvPr id="20" name="Shape 14"/>
          <p:cNvSpPr/>
          <p:nvPr/>
        </p:nvSpPr>
        <p:spPr>
          <a:xfrm>
            <a:off x="9190634" y="1645920"/>
            <a:ext cx="685800" cy="685800"/>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9355226" y="1810512"/>
            <a:ext cx="356616" cy="356616"/>
          </a:xfrm>
          <a:prstGeom prst="rect">
            <a:avLst/>
          </a:prstGeom>
        </p:spPr>
      </p:pic>
      <p:sp>
        <p:nvSpPr>
          <p:cNvPr id="22" name="Text 15"/>
          <p:cNvSpPr txBox="1"/>
          <p:nvPr/>
        </p:nvSpPr>
        <p:spPr>
          <a:xfrm>
            <a:off x="9190634" y="2468880"/>
            <a:ext cx="2194560" cy="411480"/>
          </a:xfrm>
          <a:prstGeom prst="rect">
            <a:avLst/>
          </a:prstGeom>
          <a:noFill/>
          <a:ln/>
        </p:spPr>
        <p:txBody>
          <a:bodyPr wrap="square" lIns="0" tIns="0" rIns="0" bIns="0" rtlCol="0" anchor="t"/>
          <a:lstStyle/>
          <a:p>
            <a:pPr indent="0" marL="0">
              <a:buNone/>
            </a:pPr>
            <a:r>
              <a:rPr lang="en-US" sz="1900" b="1" dirty="0">
                <a:solidFill>
                  <a:schemeClr val="tx2"/>
                </a:solidFill>
              </a:rPr>
              <a:t>Armazéns</a:t>
            </a:r>
            <a:endParaRPr lang="en-US" sz="1900" dirty="0"/>
          </a:p>
        </p:txBody>
      </p:sp>
      <p:sp>
        <p:nvSpPr>
          <p:cNvPr id="23" name="Text 16"/>
          <p:cNvSpPr txBox="1"/>
          <p:nvPr/>
        </p:nvSpPr>
        <p:spPr>
          <a:xfrm>
            <a:off x="9190634" y="2880360"/>
            <a:ext cx="2194560" cy="685800"/>
          </a:xfrm>
          <a:prstGeom prst="rect">
            <a:avLst/>
          </a:prstGeom>
          <a:noFill/>
          <a:ln/>
        </p:spPr>
        <p:txBody>
          <a:bodyPr wrap="square" lIns="0" tIns="0" rIns="0" bIns="0" rtlCol="0" anchor="t"/>
          <a:lstStyle/>
          <a:p>
            <a:pPr indent="0" marL="0">
              <a:buNone/>
            </a:pPr>
            <a:r>
              <a:rPr lang="en-US" sz="1400" dirty="0">
                <a:solidFill>
                  <a:schemeClr val="tx1"/>
                </a:solidFill>
              </a:rPr>
              <a:t>Robôs Kiva nos armazéns da Amazon</a:t>
            </a:r>
            <a:endParaRPr lang="en-US" sz="1400" dirty="0"/>
          </a:p>
        </p:txBody>
      </p:sp>
      <p:sp>
        <p:nvSpPr>
          <p:cNvPr id="24" name="Shape 17"/>
          <p:cNvSpPr/>
          <p:nvPr/>
        </p:nvSpPr>
        <p:spPr>
          <a:xfrm>
            <a:off x="548640" y="3794760"/>
            <a:ext cx="2651760" cy="2240280"/>
          </a:xfrm>
          <a:prstGeom prst="roundRect">
            <a:avLst>
              <a:gd name="adj" fmla="val 3265"/>
            </a:avLst>
          </a:prstGeom>
          <a:solidFill>
            <a:schemeClr val="bg2"/>
          </a:solidFill>
          <a:ln/>
        </p:spPr>
      </p:sp>
      <p:sp>
        <p:nvSpPr>
          <p:cNvPr id="25" name="Shape 18"/>
          <p:cNvSpPr/>
          <p:nvPr/>
        </p:nvSpPr>
        <p:spPr>
          <a:xfrm>
            <a:off x="777240" y="4023360"/>
            <a:ext cx="685800" cy="68580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941832" y="4187952"/>
            <a:ext cx="356616" cy="356616"/>
          </a:xfrm>
          <a:prstGeom prst="rect">
            <a:avLst/>
          </a:prstGeom>
        </p:spPr>
      </p:pic>
      <p:sp>
        <p:nvSpPr>
          <p:cNvPr id="27" name="Text 19"/>
          <p:cNvSpPr txBox="1"/>
          <p:nvPr/>
        </p:nvSpPr>
        <p:spPr>
          <a:xfrm>
            <a:off x="777240" y="4846320"/>
            <a:ext cx="2194560" cy="411480"/>
          </a:xfrm>
          <a:prstGeom prst="rect">
            <a:avLst/>
          </a:prstGeom>
          <a:noFill/>
          <a:ln/>
        </p:spPr>
        <p:txBody>
          <a:bodyPr wrap="square" lIns="0" tIns="0" rIns="0" bIns="0" rtlCol="0" anchor="t"/>
          <a:lstStyle/>
          <a:p>
            <a:pPr indent="0" marL="0">
              <a:buNone/>
            </a:pPr>
            <a:r>
              <a:rPr lang="en-US" sz="1900" b="1" dirty="0">
                <a:solidFill>
                  <a:schemeClr val="tx2"/>
                </a:solidFill>
              </a:rPr>
              <a:t>Epidemias</a:t>
            </a:r>
            <a:endParaRPr lang="en-US" sz="1900" dirty="0"/>
          </a:p>
        </p:txBody>
      </p:sp>
      <p:sp>
        <p:nvSpPr>
          <p:cNvPr id="28" name="Text 20"/>
          <p:cNvSpPr txBox="1"/>
          <p:nvPr/>
        </p:nvSpPr>
        <p:spPr>
          <a:xfrm>
            <a:off x="777240" y="5257800"/>
            <a:ext cx="2194560" cy="685800"/>
          </a:xfrm>
          <a:prstGeom prst="rect">
            <a:avLst/>
          </a:prstGeom>
          <a:noFill/>
          <a:ln/>
        </p:spPr>
        <p:txBody>
          <a:bodyPr wrap="square" lIns="0" tIns="0" rIns="0" bIns="0" rtlCol="0" anchor="t"/>
          <a:lstStyle/>
          <a:p>
            <a:pPr indent="0" marL="0">
              <a:buNone/>
            </a:pPr>
            <a:r>
              <a:rPr lang="en-US" sz="1400" dirty="0">
                <a:solidFill>
                  <a:schemeClr val="tx1"/>
                </a:solidFill>
              </a:rPr>
              <a:t>Modelo do Imperial College na COVID-19</a:t>
            </a:r>
            <a:endParaRPr lang="en-US" sz="1400" dirty="0"/>
          </a:p>
        </p:txBody>
      </p:sp>
      <p:sp>
        <p:nvSpPr>
          <p:cNvPr id="29" name="Shape 21"/>
          <p:cNvSpPr/>
          <p:nvPr/>
        </p:nvSpPr>
        <p:spPr>
          <a:xfrm>
            <a:off x="3353105" y="3794760"/>
            <a:ext cx="2651760" cy="2240280"/>
          </a:xfrm>
          <a:prstGeom prst="roundRect">
            <a:avLst>
              <a:gd name="adj" fmla="val 3265"/>
            </a:avLst>
          </a:prstGeom>
          <a:solidFill>
            <a:schemeClr val="bg2"/>
          </a:solidFill>
          <a:ln/>
        </p:spPr>
      </p:sp>
      <p:sp>
        <p:nvSpPr>
          <p:cNvPr id="30" name="Shape 22"/>
          <p:cNvSpPr/>
          <p:nvPr/>
        </p:nvSpPr>
        <p:spPr>
          <a:xfrm>
            <a:off x="3581705" y="4023360"/>
            <a:ext cx="685800" cy="685800"/>
          </a:xfrm>
          <a:prstGeom prst="ellipse">
            <a:avLst/>
          </a:prstGeom>
          <a:solidFill>
            <a:schemeClr val="accent3"/>
          </a:solidFill>
          <a:ln/>
        </p:spPr>
      </p:sp>
      <p:pic>
        <p:nvPicPr>
          <p:cNvPr id="31" name="Image 5" descr="preencoded.png">    </p:cNvPr>
          <p:cNvPicPr>
            <a:picLocks noChangeAspect="1"/>
          </p:cNvPicPr>
          <p:nvPr/>
        </p:nvPicPr>
        <p:blipFill>
          <a:blip r:embed="rId6"/>
          <a:stretch>
            <a:fillRect/>
          </a:stretch>
        </p:blipFill>
        <p:spPr>
          <a:xfrm>
            <a:off x="3746297" y="4187952"/>
            <a:ext cx="356616" cy="356616"/>
          </a:xfrm>
          <a:prstGeom prst="rect">
            <a:avLst/>
          </a:prstGeom>
        </p:spPr>
      </p:pic>
      <p:sp>
        <p:nvSpPr>
          <p:cNvPr id="32" name="Text 23"/>
          <p:cNvSpPr txBox="1"/>
          <p:nvPr/>
        </p:nvSpPr>
        <p:spPr>
          <a:xfrm>
            <a:off x="3581705" y="4846320"/>
            <a:ext cx="2194560" cy="411480"/>
          </a:xfrm>
          <a:prstGeom prst="rect">
            <a:avLst/>
          </a:prstGeom>
          <a:noFill/>
          <a:ln/>
        </p:spPr>
        <p:txBody>
          <a:bodyPr wrap="square" lIns="0" tIns="0" rIns="0" bIns="0" rtlCol="0" anchor="t"/>
          <a:lstStyle/>
          <a:p>
            <a:pPr indent="0" marL="0">
              <a:buNone/>
            </a:pPr>
            <a:r>
              <a:rPr lang="en-US" sz="1900" b="1" dirty="0">
                <a:solidFill>
                  <a:schemeClr val="tx2"/>
                </a:solidFill>
              </a:rPr>
              <a:t>Finanças</a:t>
            </a:r>
            <a:endParaRPr lang="en-US" sz="1900" dirty="0"/>
          </a:p>
        </p:txBody>
      </p:sp>
      <p:sp>
        <p:nvSpPr>
          <p:cNvPr id="33" name="Text 24"/>
          <p:cNvSpPr txBox="1"/>
          <p:nvPr/>
        </p:nvSpPr>
        <p:spPr>
          <a:xfrm>
            <a:off x="3581705" y="5257800"/>
            <a:ext cx="2194560" cy="685800"/>
          </a:xfrm>
          <a:prstGeom prst="rect">
            <a:avLst/>
          </a:prstGeom>
          <a:noFill/>
          <a:ln/>
        </p:spPr>
        <p:txBody>
          <a:bodyPr wrap="square" lIns="0" tIns="0" rIns="0" bIns="0" rtlCol="0" anchor="t"/>
          <a:lstStyle/>
          <a:p>
            <a:pPr indent="0" marL="0">
              <a:buNone/>
            </a:pPr>
            <a:r>
              <a:rPr lang="en-US" sz="1400" dirty="0">
                <a:solidFill>
                  <a:schemeClr val="tx1"/>
                </a:solidFill>
              </a:rPr>
              <a:t>Flash Crash de 2010; conluio algorítmico</a:t>
            </a:r>
            <a:endParaRPr lang="en-US" sz="1400" dirty="0"/>
          </a:p>
        </p:txBody>
      </p:sp>
      <p:sp>
        <p:nvSpPr>
          <p:cNvPr id="34" name="Shape 25"/>
          <p:cNvSpPr/>
          <p:nvPr/>
        </p:nvSpPr>
        <p:spPr>
          <a:xfrm>
            <a:off x="6157570" y="3794760"/>
            <a:ext cx="2651760" cy="2240280"/>
          </a:xfrm>
          <a:prstGeom prst="roundRect">
            <a:avLst>
              <a:gd name="adj" fmla="val 3265"/>
            </a:avLst>
          </a:prstGeom>
          <a:solidFill>
            <a:schemeClr val="bg2"/>
          </a:solidFill>
          <a:ln/>
        </p:spPr>
      </p:sp>
      <p:sp>
        <p:nvSpPr>
          <p:cNvPr id="35" name="Shape 26"/>
          <p:cNvSpPr/>
          <p:nvPr/>
        </p:nvSpPr>
        <p:spPr>
          <a:xfrm>
            <a:off x="6386170" y="4023360"/>
            <a:ext cx="685800" cy="685800"/>
          </a:xfrm>
          <a:prstGeom prst="ellipse">
            <a:avLst/>
          </a:prstGeom>
          <a:solidFill>
            <a:schemeClr val="accent2"/>
          </a:solidFill>
          <a:ln/>
        </p:spPr>
      </p:sp>
      <p:pic>
        <p:nvPicPr>
          <p:cNvPr id="36" name="Image 6" descr="preencoded.png">    </p:cNvPr>
          <p:cNvPicPr>
            <a:picLocks noChangeAspect="1"/>
          </p:cNvPicPr>
          <p:nvPr/>
        </p:nvPicPr>
        <p:blipFill>
          <a:blip r:embed="rId7"/>
          <a:stretch>
            <a:fillRect/>
          </a:stretch>
        </p:blipFill>
        <p:spPr>
          <a:xfrm>
            <a:off x="6550762" y="4187952"/>
            <a:ext cx="356616" cy="356616"/>
          </a:xfrm>
          <a:prstGeom prst="rect">
            <a:avLst/>
          </a:prstGeom>
        </p:spPr>
      </p:pic>
      <p:sp>
        <p:nvSpPr>
          <p:cNvPr id="37" name="Text 27"/>
          <p:cNvSpPr txBox="1"/>
          <p:nvPr/>
        </p:nvSpPr>
        <p:spPr>
          <a:xfrm>
            <a:off x="6386170" y="4846320"/>
            <a:ext cx="2194560" cy="411480"/>
          </a:xfrm>
          <a:prstGeom prst="rect">
            <a:avLst/>
          </a:prstGeom>
          <a:noFill/>
          <a:ln/>
        </p:spPr>
        <p:txBody>
          <a:bodyPr wrap="square" lIns="0" tIns="0" rIns="0" bIns="0" rtlCol="0" anchor="t"/>
          <a:lstStyle/>
          <a:p>
            <a:pPr indent="0" marL="0">
              <a:buNone/>
            </a:pPr>
            <a:r>
              <a:rPr lang="en-US" sz="1900" b="1" dirty="0">
                <a:solidFill>
                  <a:schemeClr val="tx2"/>
                </a:solidFill>
              </a:rPr>
              <a:t>Jogos</a:t>
            </a:r>
            <a:endParaRPr lang="en-US" sz="1900" dirty="0"/>
          </a:p>
        </p:txBody>
      </p:sp>
      <p:sp>
        <p:nvSpPr>
          <p:cNvPr id="38" name="Text 28"/>
          <p:cNvSpPr txBox="1"/>
          <p:nvPr/>
        </p:nvSpPr>
        <p:spPr>
          <a:xfrm>
            <a:off x="6386170" y="5257800"/>
            <a:ext cx="2194560" cy="685800"/>
          </a:xfrm>
          <a:prstGeom prst="rect">
            <a:avLst/>
          </a:prstGeom>
          <a:noFill/>
          <a:ln/>
        </p:spPr>
        <p:txBody>
          <a:bodyPr wrap="square" lIns="0" tIns="0" rIns="0" bIns="0" rtlCol="0" anchor="t"/>
          <a:lstStyle/>
          <a:p>
            <a:pPr indent="0" marL="0">
              <a:buNone/>
            </a:pPr>
            <a:r>
              <a:rPr lang="en-US" sz="1400" dirty="0">
                <a:solidFill>
                  <a:schemeClr val="tx1"/>
                </a:solidFill>
              </a:rPr>
              <a:t>Esquadrões do F.E.A.R.; AlphaStar; OpenAI Five</a:t>
            </a:r>
            <a:endParaRPr lang="en-US" sz="1400" dirty="0"/>
          </a:p>
        </p:txBody>
      </p:sp>
      <p:sp>
        <p:nvSpPr>
          <p:cNvPr id="39" name="Shape 29"/>
          <p:cNvSpPr/>
          <p:nvPr/>
        </p:nvSpPr>
        <p:spPr>
          <a:xfrm>
            <a:off x="8962034" y="3794760"/>
            <a:ext cx="2651760" cy="2240280"/>
          </a:xfrm>
          <a:prstGeom prst="roundRect">
            <a:avLst>
              <a:gd name="adj" fmla="val 3265"/>
            </a:avLst>
          </a:prstGeom>
          <a:solidFill>
            <a:schemeClr val="bg2"/>
          </a:solidFill>
          <a:ln/>
        </p:spPr>
      </p:sp>
      <p:sp>
        <p:nvSpPr>
          <p:cNvPr id="40" name="Shape 30"/>
          <p:cNvSpPr/>
          <p:nvPr/>
        </p:nvSpPr>
        <p:spPr>
          <a:xfrm>
            <a:off x="9190634" y="4023360"/>
            <a:ext cx="685800" cy="685800"/>
          </a:xfrm>
          <a:prstGeom prst="ellipse">
            <a:avLst/>
          </a:prstGeom>
          <a:solidFill>
            <a:schemeClr val="accent4"/>
          </a:solidFill>
          <a:ln/>
        </p:spPr>
      </p:sp>
      <p:pic>
        <p:nvPicPr>
          <p:cNvPr id="41" name="Image 7" descr="preencoded.png">    </p:cNvPr>
          <p:cNvPicPr>
            <a:picLocks noChangeAspect="1"/>
          </p:cNvPicPr>
          <p:nvPr/>
        </p:nvPicPr>
        <p:blipFill>
          <a:blip r:embed="rId8"/>
          <a:stretch>
            <a:fillRect/>
          </a:stretch>
        </p:blipFill>
        <p:spPr>
          <a:xfrm>
            <a:off x="9355226" y="4187952"/>
            <a:ext cx="356616" cy="356616"/>
          </a:xfrm>
          <a:prstGeom prst="rect">
            <a:avLst/>
          </a:prstGeom>
        </p:spPr>
      </p:pic>
      <p:sp>
        <p:nvSpPr>
          <p:cNvPr id="42" name="Text 31"/>
          <p:cNvSpPr txBox="1"/>
          <p:nvPr/>
        </p:nvSpPr>
        <p:spPr>
          <a:xfrm>
            <a:off x="9190634" y="4846320"/>
            <a:ext cx="2194560" cy="411480"/>
          </a:xfrm>
          <a:prstGeom prst="rect">
            <a:avLst/>
          </a:prstGeom>
          <a:noFill/>
          <a:ln/>
        </p:spPr>
        <p:txBody>
          <a:bodyPr wrap="square" lIns="0" tIns="0" rIns="0" bIns="0" rtlCol="0" anchor="t"/>
          <a:lstStyle/>
          <a:p>
            <a:pPr indent="0" marL="0">
              <a:buNone/>
            </a:pPr>
            <a:r>
              <a:rPr lang="en-US" sz="1900" b="1" dirty="0">
                <a:solidFill>
                  <a:schemeClr val="tx2"/>
                </a:solidFill>
              </a:rPr>
              <a:t>Manufatura</a:t>
            </a:r>
            <a:endParaRPr lang="en-US" sz="1900" dirty="0"/>
          </a:p>
        </p:txBody>
      </p:sp>
      <p:sp>
        <p:nvSpPr>
          <p:cNvPr id="43" name="Text 32"/>
          <p:cNvSpPr txBox="1"/>
          <p:nvPr/>
        </p:nvSpPr>
        <p:spPr>
          <a:xfrm>
            <a:off x="9190634" y="5257800"/>
            <a:ext cx="2194560" cy="685800"/>
          </a:xfrm>
          <a:prstGeom prst="rect">
            <a:avLst/>
          </a:prstGeom>
          <a:noFill/>
          <a:ln/>
        </p:spPr>
        <p:txBody>
          <a:bodyPr wrap="square" lIns="0" tIns="0" rIns="0" bIns="0" rtlCol="0" anchor="t"/>
          <a:lstStyle/>
          <a:p>
            <a:pPr indent="0" marL="0">
              <a:buNone/>
            </a:pPr>
            <a:r>
              <a:rPr lang="en-US" sz="1400" dirty="0">
                <a:solidFill>
                  <a:schemeClr val="tx1"/>
                </a:solidFill>
              </a:rPr>
              <a:t>Holons PROSA; Production 2000+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Ferramentas para construir e simular</a:t>
            </a:r>
            <a:endParaRPr lang="en-US" sz="34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315200" cy="914400"/>
        </p:xfrm>
        <a:graphic>
          <a:graphicData uri="http://schemas.openxmlformats.org/drawingml/2006/table">
            <a:tbl>
              <a:tblPr/>
              <a:tblGrid>
                <a:gridCol w="2514600"/>
                <a:gridCol w="1965960"/>
                <a:gridCol w="2834640"/>
              </a:tblGrid>
              <a:tr h="566928">
                <a:tc>
                  <a:txBody>
                    <a:bodyPr/>
                    <a:lstStyle/>
                    <a:p>
                      <a:pPr indent="0" marL="0">
                        <a:buNone/>
                      </a:pPr>
                      <a:r>
                        <a:rPr lang="en-US" sz="1400" b="1" dirty="0">
                          <a:solidFill>
                            <a:schemeClr val="bg1"/>
                          </a:solidFill>
                        </a:rPr>
                        <a:t>Ferramenta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Linguagem</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Para quê</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Mesa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Python</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Modelagem baseada em agentes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NetLogo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Própria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Simulações educacionais prontas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JADE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Java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Agentes que seguem a FIPA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SPADE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Python</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Agentes FIPA via XMPP</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Jason / JaCaMo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AgentSpeak + Java</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BDI, ambientes e organizações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PettingZoo</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Python</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Aprendizado por reforço multiagente</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LangGraph, AutoGen, CrewAI, SDKs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Python / TypeScript</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Agentes com LLMs</a:t>
                      </a:r>
                      <a:endParaRPr lang="en-US" sz="1400" dirty="0"/>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r>
            </a:tbl>
          </a:graphicData>
        </a:graphic>
      </p:graphicFrame>
      <p:sp>
        <p:nvSpPr>
          <p:cNvPr id="5" name="Shape 1"/>
          <p:cNvSpPr/>
          <p:nvPr/>
        </p:nvSpPr>
        <p:spPr>
          <a:xfrm>
            <a:off x="8183880" y="1417320"/>
            <a:ext cx="3429000" cy="4663440"/>
          </a:xfrm>
          <a:prstGeom prst="roundRect">
            <a:avLst>
              <a:gd name="adj" fmla="val 2133"/>
            </a:avLst>
          </a:prstGeom>
          <a:solidFill>
            <a:schemeClr val="tx2"/>
          </a:solidFill>
          <a:ln/>
        </p:spPr>
      </p:sp>
      <p:sp>
        <p:nvSpPr>
          <p:cNvPr id="6" name="Text 2"/>
          <p:cNvSpPr txBox="1"/>
          <p:nvPr/>
        </p:nvSpPr>
        <p:spPr>
          <a:xfrm>
            <a:off x="8412480" y="1600200"/>
            <a:ext cx="3017520" cy="457200"/>
          </a:xfrm>
          <a:prstGeom prst="rect">
            <a:avLst/>
          </a:prstGeom>
          <a:noFill/>
          <a:ln/>
        </p:spPr>
        <p:txBody>
          <a:bodyPr wrap="square" lIns="0" tIns="0" rIns="0" bIns="0" rtlCol="0" anchor="t"/>
          <a:lstStyle/>
          <a:p>
            <a:pPr indent="0" marL="0">
              <a:buNone/>
            </a:pPr>
            <a:r>
              <a:rPr lang="en-US" sz="2000" b="1" dirty="0">
                <a:solidFill>
                  <a:schemeClr val="accent3"/>
                </a:solidFill>
              </a:rPr>
              <a:t>Pesquisa brasileira</a:t>
            </a:r>
            <a:endParaRPr lang="en-US" sz="2000" dirty="0"/>
          </a:p>
        </p:txBody>
      </p:sp>
      <p:sp>
        <p:nvSpPr>
          <p:cNvPr id="7" name="Text 3"/>
          <p:cNvSpPr txBox="1"/>
          <p:nvPr/>
        </p:nvSpPr>
        <p:spPr>
          <a:xfrm>
            <a:off x="8412480" y="2148840"/>
            <a:ext cx="3017520" cy="3749040"/>
          </a:xfrm>
          <a:prstGeom prst="rect">
            <a:avLst/>
          </a:prstGeom>
          <a:noFill/>
          <a:ln/>
        </p:spPr>
        <p:txBody>
          <a:bodyPr wrap="square" lIns="0" tIns="0" rIns="0" bIns="0" rtlCol="0" anchor="t"/>
          <a:lstStyle/>
          <a:p>
            <a:pPr indent="0" marL="0">
              <a:buNone/>
            </a:pPr>
            <a:r>
              <a:rPr lang="en-US" sz="1500" b="1" dirty="0">
                <a:solidFill>
                  <a:schemeClr val="bg1"/>
                </a:solidFill>
              </a:rPr>
              <a:t>Jomi F. Hübner (UFSC) e Rafael H. Bordini (PUCRS): </a:t>
            </a:r>
            <a:pPr indent="0" marL="0">
              <a:buNone/>
            </a:pPr>
            <a:r>
              <a:rPr lang="en-US" sz="1500" dirty="0">
                <a:solidFill>
                  <a:schemeClr val="bg1"/>
                </a:solidFill>
              </a:rPr>
              <a:t>criadores do Jason e do JaCaMo.</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bg1"/>
                </a:solidFill>
              </a:rPr>
              <a:t>Jaime S. Sichman (USP): </a:t>
            </a:r>
            <a:pPr indent="0" marL="0">
              <a:buNone/>
            </a:pPr>
            <a:r>
              <a:rPr lang="en-US" sz="1500" dirty="0">
                <a:solidFill>
                  <a:schemeClr val="bg1"/>
                </a:solidFill>
              </a:rPr>
              <a:t>coautor do modelo organizacional Moise.</a:t>
            </a:r>
            <a:endParaRPr lang="en-US" sz="1500" dirty="0"/>
          </a:p>
          <a:p>
            <a:pPr indent="0" marL="0">
              <a:buNone/>
            </a:pPr>
            <a:r>
              <a:rPr lang="en-US" sz="800" dirty="0">
                <a:solidFill>
                  <a:schemeClr val="bg1"/>
                </a:solidFill>
              </a:rPr>
              <a:t> </a:t>
            </a:r>
            <a:endParaRPr lang="en-US" sz="1500" dirty="0"/>
          </a:p>
          <a:p>
            <a:pPr indent="0" marL="0">
              <a:buNone/>
            </a:pPr>
            <a:r>
              <a:rPr lang="en-US" sz="1500" i="1" dirty="0">
                <a:solidFill>
                  <a:schemeClr val="bg1"/>
                </a:solidFill>
              </a:rPr>
              <a:t>A comunidade se reúne no WESAAC.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O que levar desta aula</a:t>
            </a:r>
            <a:endParaRPr lang="en-US" sz="3400" dirty="0"/>
          </a:p>
        </p:txBody>
      </p:sp>
      <p:sp>
        <p:nvSpPr>
          <p:cNvPr id="4" name="Shape 1"/>
          <p:cNvSpPr/>
          <p:nvPr/>
        </p:nvSpPr>
        <p:spPr>
          <a:xfrm>
            <a:off x="548640" y="1417320"/>
            <a:ext cx="3566160" cy="2148840"/>
          </a:xfrm>
          <a:prstGeom prst="roundRect">
            <a:avLst>
              <a:gd name="adj" fmla="val 3404"/>
            </a:avLst>
          </a:prstGeom>
          <a:solidFill>
            <a:schemeClr val="bg2"/>
          </a:solidFill>
          <a:ln/>
        </p:spPr>
      </p:sp>
      <p:sp>
        <p:nvSpPr>
          <p:cNvPr id="5" name="Text 2"/>
          <p:cNvSpPr/>
          <p:nvPr/>
        </p:nvSpPr>
        <p:spPr>
          <a:xfrm>
            <a:off x="777240" y="164592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777240" y="2286000"/>
            <a:ext cx="3108960" cy="685800"/>
          </a:xfrm>
          <a:prstGeom prst="rect">
            <a:avLst/>
          </a:prstGeom>
          <a:noFill/>
          <a:ln/>
        </p:spPr>
        <p:txBody>
          <a:bodyPr wrap="square" lIns="0" tIns="0" rIns="0" bIns="0" rtlCol="0" anchor="t"/>
          <a:lstStyle/>
          <a:p>
            <a:pPr indent="0" marL="0">
              <a:buNone/>
            </a:pPr>
            <a:r>
              <a:rPr lang="en-US" sz="1800" b="1" dirty="0">
                <a:solidFill>
                  <a:schemeClr val="tx2"/>
                </a:solidFill>
              </a:rPr>
              <a:t>Agente decide; objeto obedece.</a:t>
            </a:r>
            <a:endParaRPr lang="en-US" sz="1800" dirty="0"/>
          </a:p>
        </p:txBody>
      </p:sp>
      <p:sp>
        <p:nvSpPr>
          <p:cNvPr id="7" name="Text 4"/>
          <p:cNvSpPr txBox="1"/>
          <p:nvPr/>
        </p:nvSpPr>
        <p:spPr>
          <a:xfrm>
            <a:off x="777240" y="292608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Autonomia, reatividade, proatividade e sociabilidade</a:t>
            </a:r>
            <a:endParaRPr lang="en-US" sz="1400" dirty="0"/>
          </a:p>
        </p:txBody>
      </p:sp>
      <p:sp>
        <p:nvSpPr>
          <p:cNvPr id="8" name="Shape 5"/>
          <p:cNvSpPr/>
          <p:nvPr/>
        </p:nvSpPr>
        <p:spPr>
          <a:xfrm>
            <a:off x="4297680" y="1417320"/>
            <a:ext cx="3566160" cy="2148840"/>
          </a:xfrm>
          <a:prstGeom prst="roundRect">
            <a:avLst>
              <a:gd name="adj" fmla="val 3404"/>
            </a:avLst>
          </a:prstGeom>
          <a:solidFill>
            <a:schemeClr val="bg2"/>
          </a:solidFill>
          <a:ln/>
        </p:spPr>
      </p:sp>
      <p:sp>
        <p:nvSpPr>
          <p:cNvPr id="9" name="Text 6"/>
          <p:cNvSpPr/>
          <p:nvPr/>
        </p:nvSpPr>
        <p:spPr>
          <a:xfrm>
            <a:off x="4526280" y="16459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4526280" y="2286000"/>
            <a:ext cx="3108960" cy="685800"/>
          </a:xfrm>
          <a:prstGeom prst="rect">
            <a:avLst/>
          </a:prstGeom>
          <a:noFill/>
          <a:ln/>
        </p:spPr>
        <p:txBody>
          <a:bodyPr wrap="square" lIns="0" tIns="0" rIns="0" bIns="0" rtlCol="0" anchor="t"/>
          <a:lstStyle/>
          <a:p>
            <a:pPr indent="0" marL="0">
              <a:buNone/>
            </a:pPr>
            <a:r>
              <a:rPr lang="en-US" sz="1800" b="1" dirty="0">
                <a:solidFill>
                  <a:schemeClr val="tx2"/>
                </a:solidFill>
              </a:rPr>
              <a:t>Memória e compromisso têm custo.</a:t>
            </a:r>
            <a:endParaRPr lang="en-US" sz="1800" dirty="0"/>
          </a:p>
        </p:txBody>
      </p:sp>
      <p:sp>
        <p:nvSpPr>
          <p:cNvPr id="11" name="Text 8"/>
          <p:cNvSpPr txBox="1"/>
          <p:nvPr/>
        </p:nvSpPr>
        <p:spPr>
          <a:xfrm>
            <a:off x="4526280" y="292608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Reconsiderar por evento venceu sempre que pensar custava</a:t>
            </a:r>
            <a:endParaRPr lang="en-US" sz="1400" dirty="0"/>
          </a:p>
        </p:txBody>
      </p:sp>
      <p:sp>
        <p:nvSpPr>
          <p:cNvPr id="12" name="Shape 9"/>
          <p:cNvSpPr/>
          <p:nvPr/>
        </p:nvSpPr>
        <p:spPr>
          <a:xfrm>
            <a:off x="8046720" y="1417320"/>
            <a:ext cx="3566160" cy="2148840"/>
          </a:xfrm>
          <a:prstGeom prst="roundRect">
            <a:avLst>
              <a:gd name="adj" fmla="val 3404"/>
            </a:avLst>
          </a:prstGeom>
          <a:solidFill>
            <a:schemeClr val="bg2"/>
          </a:solidFill>
          <a:ln/>
        </p:spPr>
      </p:sp>
      <p:sp>
        <p:nvSpPr>
          <p:cNvPr id="13" name="Text 10"/>
          <p:cNvSpPr/>
          <p:nvPr/>
        </p:nvSpPr>
        <p:spPr>
          <a:xfrm>
            <a:off x="8275320" y="1645920"/>
            <a:ext cx="548640" cy="54864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8275320" y="2286000"/>
            <a:ext cx="3108960" cy="685800"/>
          </a:xfrm>
          <a:prstGeom prst="rect">
            <a:avLst/>
          </a:prstGeom>
          <a:noFill/>
          <a:ln/>
        </p:spPr>
        <p:txBody>
          <a:bodyPr wrap="square" lIns="0" tIns="0" rIns="0" bIns="0" rtlCol="0" anchor="t"/>
          <a:lstStyle/>
          <a:p>
            <a:pPr indent="0" marL="0">
              <a:buNone/>
            </a:pPr>
            <a:r>
              <a:rPr lang="en-US" sz="1800" b="1" dirty="0">
                <a:solidFill>
                  <a:schemeClr val="tx2"/>
                </a:solidFill>
              </a:rPr>
              <a:t>O mecanismo molda o comportamento.</a:t>
            </a:r>
            <a:endParaRPr lang="en-US" sz="1800" dirty="0"/>
          </a:p>
        </p:txBody>
      </p:sp>
      <p:sp>
        <p:nvSpPr>
          <p:cNvPr id="15" name="Text 12"/>
          <p:cNvSpPr txBox="1"/>
          <p:nvPr/>
        </p:nvSpPr>
        <p:spPr>
          <a:xfrm>
            <a:off x="8275320" y="292608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Lance marginal: 27% menos km; Vickrey: diga a verdade</a:t>
            </a:r>
            <a:endParaRPr lang="en-US" sz="1400" dirty="0"/>
          </a:p>
        </p:txBody>
      </p:sp>
      <p:sp>
        <p:nvSpPr>
          <p:cNvPr id="16" name="Shape 13"/>
          <p:cNvSpPr/>
          <p:nvPr/>
        </p:nvSpPr>
        <p:spPr>
          <a:xfrm>
            <a:off x="548640" y="3749040"/>
            <a:ext cx="3566160" cy="2148840"/>
          </a:xfrm>
          <a:prstGeom prst="roundRect">
            <a:avLst>
              <a:gd name="adj" fmla="val 3404"/>
            </a:avLst>
          </a:prstGeom>
          <a:solidFill>
            <a:schemeClr val="bg2"/>
          </a:solidFill>
          <a:ln/>
        </p:spPr>
      </p:sp>
      <p:sp>
        <p:nvSpPr>
          <p:cNvPr id="17" name="Text 14"/>
          <p:cNvSpPr/>
          <p:nvPr/>
        </p:nvSpPr>
        <p:spPr>
          <a:xfrm>
            <a:off x="777240" y="39776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777240" y="4617720"/>
            <a:ext cx="3108960" cy="685800"/>
          </a:xfrm>
          <a:prstGeom prst="rect">
            <a:avLst/>
          </a:prstGeom>
          <a:noFill/>
          <a:ln/>
        </p:spPr>
        <p:txBody>
          <a:bodyPr wrap="square" lIns="0" tIns="0" rIns="0" bIns="0" rtlCol="0" anchor="t"/>
          <a:lstStyle/>
          <a:p>
            <a:pPr indent="0" marL="0">
              <a:buNone/>
            </a:pPr>
            <a:r>
              <a:rPr lang="en-US" sz="1800" b="1" dirty="0">
                <a:solidFill>
                  <a:schemeClr val="tx2"/>
                </a:solidFill>
              </a:rPr>
              <a:t>No jogo repetido, cooperar com retaliação vence.</a:t>
            </a:r>
            <a:endParaRPr lang="en-US" sz="1800" dirty="0"/>
          </a:p>
        </p:txBody>
      </p:sp>
      <p:sp>
        <p:nvSpPr>
          <p:cNvPr id="19" name="Text 16"/>
          <p:cNvSpPr txBox="1"/>
          <p:nvPr/>
        </p:nvSpPr>
        <p:spPr>
          <a:xfrm>
            <a:off x="777240" y="525780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Gentil, retaliador, perdoador e claro</a:t>
            </a:r>
            <a:endParaRPr lang="en-US" sz="1400" dirty="0"/>
          </a:p>
        </p:txBody>
      </p:sp>
      <p:sp>
        <p:nvSpPr>
          <p:cNvPr id="20" name="Shape 17"/>
          <p:cNvSpPr/>
          <p:nvPr/>
        </p:nvSpPr>
        <p:spPr>
          <a:xfrm>
            <a:off x="4297680" y="3749040"/>
            <a:ext cx="3566160" cy="2148840"/>
          </a:xfrm>
          <a:prstGeom prst="roundRect">
            <a:avLst>
              <a:gd name="adj" fmla="val 3404"/>
            </a:avLst>
          </a:prstGeom>
          <a:solidFill>
            <a:schemeClr val="bg2"/>
          </a:solidFill>
          <a:ln/>
        </p:spPr>
      </p:sp>
      <p:sp>
        <p:nvSpPr>
          <p:cNvPr id="21" name="Text 18"/>
          <p:cNvSpPr/>
          <p:nvPr/>
        </p:nvSpPr>
        <p:spPr>
          <a:xfrm>
            <a:off x="4526280" y="397764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19"/>
          <p:cNvSpPr txBox="1"/>
          <p:nvPr/>
        </p:nvSpPr>
        <p:spPr>
          <a:xfrm>
            <a:off x="4526280" y="4617720"/>
            <a:ext cx="3108960" cy="685800"/>
          </a:xfrm>
          <a:prstGeom prst="rect">
            <a:avLst/>
          </a:prstGeom>
          <a:noFill/>
          <a:ln/>
        </p:spPr>
        <p:txBody>
          <a:bodyPr wrap="square" lIns="0" tIns="0" rIns="0" bIns="0" rtlCol="0" anchor="t"/>
          <a:lstStyle/>
          <a:p>
            <a:pPr indent="0" marL="0">
              <a:buNone/>
            </a:pPr>
            <a:r>
              <a:rPr lang="en-US" sz="1800" b="1" dirty="0">
                <a:solidFill>
                  <a:schemeClr val="tx2"/>
                </a:solidFill>
              </a:rPr>
              <a:t>O grupo não é a soma das intenções.</a:t>
            </a:r>
            <a:endParaRPr lang="en-US" sz="1800" dirty="0"/>
          </a:p>
        </p:txBody>
      </p:sp>
      <p:sp>
        <p:nvSpPr>
          <p:cNvPr id="23" name="Text 20"/>
          <p:cNvSpPr txBox="1"/>
          <p:nvPr/>
        </p:nvSpPr>
        <p:spPr>
          <a:xfrm>
            <a:off x="4526280" y="525780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Livro de US$ 23 milhões, Boids, Schelling</a:t>
            </a:r>
            <a:endParaRPr lang="en-US" sz="1400" dirty="0"/>
          </a:p>
        </p:txBody>
      </p:sp>
      <p:sp>
        <p:nvSpPr>
          <p:cNvPr id="24" name="Shape 21"/>
          <p:cNvSpPr/>
          <p:nvPr/>
        </p:nvSpPr>
        <p:spPr>
          <a:xfrm>
            <a:off x="8046720" y="3749040"/>
            <a:ext cx="3566160" cy="2148840"/>
          </a:xfrm>
          <a:prstGeom prst="roundRect">
            <a:avLst>
              <a:gd name="adj" fmla="val 3404"/>
            </a:avLst>
          </a:prstGeom>
          <a:solidFill>
            <a:schemeClr val="bg2"/>
          </a:solidFill>
          <a:ln/>
        </p:spPr>
      </p:sp>
      <p:sp>
        <p:nvSpPr>
          <p:cNvPr id="25" name="Text 22"/>
          <p:cNvSpPr/>
          <p:nvPr/>
        </p:nvSpPr>
        <p:spPr>
          <a:xfrm>
            <a:off x="8275320" y="3977640"/>
            <a:ext cx="548640" cy="54864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3"/>
          <p:cNvSpPr txBox="1"/>
          <p:nvPr/>
        </p:nvSpPr>
        <p:spPr>
          <a:xfrm>
            <a:off x="8275320" y="4617720"/>
            <a:ext cx="3108960" cy="685800"/>
          </a:xfrm>
          <a:prstGeom prst="rect">
            <a:avLst/>
          </a:prstGeom>
          <a:noFill/>
          <a:ln/>
        </p:spPr>
        <p:txBody>
          <a:bodyPr wrap="square" lIns="0" tIns="0" rIns="0" bIns="0" rtlCol="0" anchor="t"/>
          <a:lstStyle/>
          <a:p>
            <a:pPr indent="0" marL="0">
              <a:buNone/>
            </a:pPr>
            <a:r>
              <a:rPr lang="en-US" sz="1800" b="1" dirty="0">
                <a:solidFill>
                  <a:schemeClr val="tx2"/>
                </a:solidFill>
              </a:rPr>
              <a:t>Com LLMs, os conceitos clássicos voltam.</a:t>
            </a:r>
            <a:endParaRPr lang="en-US" sz="1800" dirty="0"/>
          </a:p>
        </p:txBody>
      </p:sp>
      <p:sp>
        <p:nvSpPr>
          <p:cNvPr id="27" name="Text 24"/>
          <p:cNvSpPr txBox="1"/>
          <p:nvPr/>
        </p:nvSpPr>
        <p:spPr>
          <a:xfrm>
            <a:off x="8275320" y="5257800"/>
            <a:ext cx="3108960" cy="548640"/>
          </a:xfrm>
          <a:prstGeom prst="rect">
            <a:avLst/>
          </a:prstGeom>
          <a:noFill/>
          <a:ln/>
        </p:spPr>
        <p:txBody>
          <a:bodyPr wrap="square" lIns="0" tIns="0" rIns="0" bIns="0" rtlCol="0" anchor="t"/>
          <a:lstStyle/>
          <a:p>
            <a:pPr indent="0" marL="0">
              <a:buNone/>
            </a:pPr>
            <a:r>
              <a:rPr lang="en-US" sz="1400" dirty="0">
                <a:solidFill>
                  <a:schemeClr val="accent6"/>
                </a:solidFill>
              </a:rPr>
              <a:t>Protocolos, limites e guardrails continuam indispensáveis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bg1"/>
                </a:solidFill>
              </a:rPr>
              <a:t>Para discutir</a:t>
            </a:r>
            <a:endParaRPr lang="en-US" sz="3400" dirty="0"/>
          </a:p>
        </p:txBody>
      </p:sp>
      <p:sp>
        <p:nvSpPr>
          <p:cNvPr id="4" name="Text 1"/>
          <p:cNvSpPr/>
          <p:nvPr/>
        </p:nvSpPr>
        <p:spPr>
          <a:xfrm>
            <a:off x="548640" y="146304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2"/>
          <p:cNvSpPr txBox="1"/>
          <p:nvPr/>
        </p:nvSpPr>
        <p:spPr>
          <a:xfrm>
            <a:off x="1325880" y="1417320"/>
            <a:ext cx="4572000" cy="1371600"/>
          </a:xfrm>
          <a:prstGeom prst="rect">
            <a:avLst/>
          </a:prstGeom>
          <a:noFill/>
          <a:ln/>
        </p:spPr>
        <p:txBody>
          <a:bodyPr wrap="square" lIns="0" tIns="0" rIns="0" bIns="0" rtlCol="0" anchor="t"/>
          <a:lstStyle/>
          <a:p>
            <a:pPr indent="0" marL="0">
              <a:buNone/>
            </a:pPr>
            <a:r>
              <a:rPr lang="en-US" sz="1600" dirty="0">
                <a:solidFill>
                  <a:schemeClr val="bg1"/>
                </a:solidFill>
              </a:rPr>
              <a:t>Um app de transporte é um sistema com muitos usuários ou um SMA? O que muda se motoristas e passageiros forem agentes com interesses próprios?</a:t>
            </a:r>
            <a:endParaRPr lang="en-US" sz="1600" dirty="0"/>
          </a:p>
        </p:txBody>
      </p:sp>
      <p:sp>
        <p:nvSpPr>
          <p:cNvPr id="6" name="Text 3"/>
          <p:cNvSpPr/>
          <p:nvPr/>
        </p:nvSpPr>
        <p:spPr>
          <a:xfrm>
            <a:off x="548640" y="301752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4"/>
          <p:cNvSpPr txBox="1"/>
          <p:nvPr/>
        </p:nvSpPr>
        <p:spPr>
          <a:xfrm>
            <a:off x="1325880" y="2971800"/>
            <a:ext cx="4572000" cy="1371600"/>
          </a:xfrm>
          <a:prstGeom prst="rect">
            <a:avLst/>
          </a:prstGeom>
          <a:noFill/>
          <a:ln/>
        </p:spPr>
        <p:txBody>
          <a:bodyPr wrap="square" lIns="0" tIns="0" rIns="0" bIns="0" rtlCol="0" anchor="t"/>
          <a:lstStyle/>
          <a:p>
            <a:pPr indent="0" marL="0">
              <a:buNone/>
            </a:pPr>
            <a:r>
              <a:rPr lang="en-US" sz="1600" dirty="0">
                <a:solidFill>
                  <a:schemeClr val="bg1"/>
                </a:solidFill>
              </a:rPr>
              <a:t>Que eventos deveriam fazer um entregador real reconsiderar o plano? E quais não deveriam?</a:t>
            </a:r>
            <a:endParaRPr lang="en-US" sz="1600" dirty="0"/>
          </a:p>
        </p:txBody>
      </p:sp>
      <p:sp>
        <p:nvSpPr>
          <p:cNvPr id="8" name="Text 5"/>
          <p:cNvSpPr/>
          <p:nvPr/>
        </p:nvSpPr>
        <p:spPr>
          <a:xfrm>
            <a:off x="548640" y="457200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6"/>
          <p:cNvSpPr txBox="1"/>
          <p:nvPr/>
        </p:nvSpPr>
        <p:spPr>
          <a:xfrm>
            <a:off x="1325880" y="4526280"/>
            <a:ext cx="4572000" cy="1371600"/>
          </a:xfrm>
          <a:prstGeom prst="rect">
            <a:avLst/>
          </a:prstGeom>
          <a:noFill/>
          <a:ln/>
        </p:spPr>
        <p:txBody>
          <a:bodyPr wrap="square" lIns="0" tIns="0" rIns="0" bIns="0" rtlCol="0" anchor="t"/>
          <a:lstStyle/>
          <a:p>
            <a:pPr indent="0" marL="0">
              <a:buNone/>
            </a:pPr>
            <a:r>
              <a:rPr lang="en-US" sz="1600" dirty="0">
                <a:solidFill>
                  <a:schemeClr val="bg1"/>
                </a:solidFill>
              </a:rPr>
              <a:t>Por que plataformas de anúncios preferem mecanismos em que dizer a verdade é a melhor estratégia?</a:t>
            </a:r>
            <a:endParaRPr lang="en-US" sz="1600" dirty="0"/>
          </a:p>
        </p:txBody>
      </p:sp>
      <p:sp>
        <p:nvSpPr>
          <p:cNvPr id="10" name="Text 7"/>
          <p:cNvSpPr/>
          <p:nvPr/>
        </p:nvSpPr>
        <p:spPr>
          <a:xfrm>
            <a:off x="6217920" y="1463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1" name="Text 8"/>
          <p:cNvSpPr txBox="1"/>
          <p:nvPr/>
        </p:nvSpPr>
        <p:spPr>
          <a:xfrm>
            <a:off x="6995160" y="1417320"/>
            <a:ext cx="4572000" cy="1371600"/>
          </a:xfrm>
          <a:prstGeom prst="rect">
            <a:avLst/>
          </a:prstGeom>
          <a:noFill/>
          <a:ln/>
        </p:spPr>
        <p:txBody>
          <a:bodyPr wrap="square" lIns="0" tIns="0" rIns="0" bIns="0" rtlCol="0" anchor="t"/>
          <a:lstStyle/>
          <a:p>
            <a:pPr indent="0" marL="0">
              <a:buNone/>
            </a:pPr>
            <a:r>
              <a:rPr lang="en-US" sz="1600" dirty="0">
                <a:solidFill>
                  <a:schemeClr val="bg1"/>
                </a:solidFill>
              </a:rPr>
              <a:t>Se dois robôs de preço aprendem sozinhos a manter preços altos, houve conluio? Quem responde?</a:t>
            </a:r>
            <a:endParaRPr lang="en-US" sz="1600" dirty="0"/>
          </a:p>
        </p:txBody>
      </p:sp>
      <p:sp>
        <p:nvSpPr>
          <p:cNvPr id="12" name="Text 9"/>
          <p:cNvSpPr/>
          <p:nvPr/>
        </p:nvSpPr>
        <p:spPr>
          <a:xfrm>
            <a:off x="6217920" y="30175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Text 10"/>
          <p:cNvSpPr txBox="1"/>
          <p:nvPr/>
        </p:nvSpPr>
        <p:spPr>
          <a:xfrm>
            <a:off x="6995160" y="2971800"/>
            <a:ext cx="4572000" cy="1371600"/>
          </a:xfrm>
          <a:prstGeom prst="rect">
            <a:avLst/>
          </a:prstGeom>
          <a:noFill/>
          <a:ln/>
        </p:spPr>
        <p:txBody>
          <a:bodyPr wrap="square" lIns="0" tIns="0" rIns="0" bIns="0" rtlCol="0" anchor="t"/>
          <a:lstStyle/>
          <a:p>
            <a:pPr indent="0" marL="0">
              <a:buNone/>
            </a:pPr>
            <a:r>
              <a:rPr lang="en-US" sz="1600" dirty="0">
                <a:solidFill>
                  <a:schemeClr val="bg1"/>
                </a:solidFill>
              </a:rPr>
              <a:t>Dê um exemplo de tragédia dos comuns na sua cidade ou universidade. Que ideia de Ostrom ajudaria?</a:t>
            </a:r>
            <a:endParaRPr lang="en-US" sz="1600" dirty="0"/>
          </a:p>
        </p:txBody>
      </p:sp>
      <p:sp>
        <p:nvSpPr>
          <p:cNvPr id="14" name="Text 11"/>
          <p:cNvSpPr/>
          <p:nvPr/>
        </p:nvSpPr>
        <p:spPr>
          <a:xfrm>
            <a:off x="6217920" y="457200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15" name="Text 12"/>
          <p:cNvSpPr txBox="1"/>
          <p:nvPr/>
        </p:nvSpPr>
        <p:spPr>
          <a:xfrm>
            <a:off x="6995160" y="4526280"/>
            <a:ext cx="4572000" cy="1371600"/>
          </a:xfrm>
          <a:prstGeom prst="rect">
            <a:avLst/>
          </a:prstGeom>
          <a:noFill/>
          <a:ln/>
        </p:spPr>
        <p:txBody>
          <a:bodyPr wrap="square" lIns="0" tIns="0" rIns="0" bIns="0" rtlCol="0" anchor="t"/>
          <a:lstStyle/>
          <a:p>
            <a:pPr indent="0" marL="0">
              <a:buNone/>
            </a:pPr>
            <a:r>
              <a:rPr lang="en-US" sz="1600" dirty="0">
                <a:solidFill>
                  <a:schemeClr val="bg1"/>
                </a:solidFill>
              </a:rPr>
              <a:t>Você deixaria agentes com LLM aprovarem reembolsos sem supervisão? Que guardrails exigiria?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Para praticar</a:t>
            </a:r>
            <a:endParaRPr lang="en-US" sz="3400" dirty="0"/>
          </a:p>
        </p:txBody>
      </p:sp>
      <p:sp>
        <p:nvSpPr>
          <p:cNvPr id="4" name="Shape 1"/>
          <p:cNvSpPr/>
          <p:nvPr/>
        </p:nvSpPr>
        <p:spPr>
          <a:xfrm>
            <a:off x="548640" y="1417320"/>
            <a:ext cx="4206240" cy="4663440"/>
          </a:xfrm>
          <a:prstGeom prst="roundRect">
            <a:avLst>
              <a:gd name="adj" fmla="val 1739"/>
            </a:avLst>
          </a:prstGeom>
          <a:solidFill>
            <a:schemeClr val="tx2"/>
          </a:solidFill>
          <a:ln/>
        </p:spPr>
      </p:sp>
      <p:sp>
        <p:nvSpPr>
          <p:cNvPr id="5" name="Shape 2"/>
          <p:cNvSpPr/>
          <p:nvPr/>
        </p:nvSpPr>
        <p:spPr>
          <a:xfrm>
            <a:off x="822960" y="1691640"/>
            <a:ext cx="777240" cy="7772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09498" y="1878178"/>
            <a:ext cx="404165" cy="404165"/>
          </a:xfrm>
          <a:prstGeom prst="rect">
            <a:avLst/>
          </a:prstGeom>
        </p:spPr>
      </p:pic>
      <p:sp>
        <p:nvSpPr>
          <p:cNvPr id="7" name="Text 3"/>
          <p:cNvSpPr txBox="1"/>
          <p:nvPr/>
        </p:nvSpPr>
        <p:spPr>
          <a:xfrm>
            <a:off x="822960" y="2651760"/>
            <a:ext cx="3657600" cy="457200"/>
          </a:xfrm>
          <a:prstGeom prst="rect">
            <a:avLst/>
          </a:prstGeom>
          <a:noFill/>
          <a:ln/>
        </p:spPr>
        <p:txBody>
          <a:bodyPr wrap="square" lIns="0" tIns="0" rIns="0" bIns="0" rtlCol="0" anchor="t"/>
          <a:lstStyle/>
          <a:p>
            <a:pPr indent="0" marL="0">
              <a:buNone/>
            </a:pPr>
            <a:r>
              <a:rPr lang="en-US" sz="2000" b="1" dirty="0">
                <a:solidFill>
                  <a:schemeClr val="accent3"/>
                </a:solidFill>
              </a:rPr>
              <a:t>Notebook da aula</a:t>
            </a:r>
            <a:endParaRPr lang="en-US" sz="2000" dirty="0"/>
          </a:p>
        </p:txBody>
      </p:sp>
      <p:sp>
        <p:nvSpPr>
          <p:cNvPr id="8" name="Text 4"/>
          <p:cNvSpPr txBox="1"/>
          <p:nvPr/>
        </p:nvSpPr>
        <p:spPr>
          <a:xfrm>
            <a:off x="822960" y="3154680"/>
            <a:ext cx="3657600" cy="274320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10_Sistemas_Multiagentes.ipynb</a:t>
            </a:r>
            <a:endParaRPr lang="en-US" sz="1500" dirty="0"/>
          </a:p>
          <a:p>
            <a:pPr indent="0" marL="0">
              <a:buNone/>
            </a:pPr>
            <a:r>
              <a:rPr lang="en-US" sz="1500" dirty="0">
                <a:solidFill>
                  <a:schemeClr val="bg1"/>
                </a:solidFill>
              </a:rPr>
              <a:t>Abra no Colab e rode as células em ordem. Há animações, controles interativos e uma seção “Como interpretar” depois de cada resultado.</a:t>
            </a:r>
            <a:endParaRPr lang="en-US" sz="1500" dirty="0"/>
          </a:p>
          <a:p>
            <a:pPr indent="0" marL="0">
              <a:buNone/>
            </a:pPr>
            <a:r>
              <a:rPr lang="en-US" sz="800" dirty="0">
                <a:solidFill>
                  <a:schemeClr val="bg1"/>
                </a:solidFill>
              </a:rPr>
              <a:t> </a:t>
            </a:r>
            <a:endParaRPr lang="en-US" sz="1500" dirty="0"/>
          </a:p>
          <a:p>
            <a:pPr indent="0" marL="0">
              <a:buNone/>
            </a:pPr>
            <a:r>
              <a:rPr lang="en-US" sz="1500" b="1" dirty="0">
                <a:solidFill>
                  <a:schemeClr val="bg1"/>
                </a:solidFill>
              </a:rPr>
              <a:t>Lista separada: </a:t>
            </a:r>
            <a:pPr indent="0" marL="0">
              <a:buNone/>
            </a:pPr>
            <a:r>
              <a:rPr lang="en-US" sz="1500" dirty="0">
                <a:solidFill>
                  <a:schemeClr val="bg1"/>
                </a:solidFill>
              </a:rPr>
              <a:t>Exercicios_Sistemas_Multiagentes.ipynb</a:t>
            </a:r>
            <a:endParaRPr lang="en-US" sz="1500" dirty="0"/>
          </a:p>
        </p:txBody>
      </p:sp>
      <p:sp>
        <p:nvSpPr>
          <p:cNvPr id="9" name="Text 5"/>
          <p:cNvSpPr txBox="1"/>
          <p:nvPr/>
        </p:nvSpPr>
        <p:spPr>
          <a:xfrm>
            <a:off x="5120640" y="1417320"/>
            <a:ext cx="6492240" cy="411480"/>
          </a:xfrm>
          <a:prstGeom prst="rect">
            <a:avLst/>
          </a:prstGeom>
          <a:noFill/>
          <a:ln/>
        </p:spPr>
        <p:txBody>
          <a:bodyPr wrap="square" lIns="0" tIns="0" rIns="0" bIns="0" rtlCol="0" anchor="t"/>
          <a:lstStyle/>
          <a:p>
            <a:pPr indent="0" marL="0">
              <a:buNone/>
            </a:pPr>
            <a:r>
              <a:rPr lang="en-US" sz="1800" b="1" dirty="0">
                <a:solidFill>
                  <a:schemeClr val="tx2"/>
                </a:solidFill>
              </a:rPr>
              <a:t>Exercícios do notebook (Seção 14)</a:t>
            </a:r>
            <a:endParaRPr lang="en-US" sz="1800" dirty="0"/>
          </a:p>
        </p:txBody>
      </p:sp>
      <p:sp>
        <p:nvSpPr>
          <p:cNvPr id="10" name="Text 6"/>
          <p:cNvSpPr/>
          <p:nvPr/>
        </p:nvSpPr>
        <p:spPr>
          <a:xfrm>
            <a:off x="5120640" y="2011680"/>
            <a:ext cx="502920" cy="50292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Text 7"/>
          <p:cNvSpPr txBox="1"/>
          <p:nvPr/>
        </p:nvSpPr>
        <p:spPr>
          <a:xfrm>
            <a:off x="5760720" y="2011680"/>
            <a:ext cx="2514600" cy="502920"/>
          </a:xfrm>
          <a:prstGeom prst="rect">
            <a:avLst/>
          </a:prstGeom>
          <a:noFill/>
          <a:ln/>
        </p:spPr>
        <p:txBody>
          <a:bodyPr wrap="square" lIns="0" tIns="0" rIns="0" bIns="0" rtlCol="0" anchor="ctr"/>
          <a:lstStyle/>
          <a:p>
            <a:pPr indent="0" marL="0">
              <a:buNone/>
            </a:pPr>
            <a:r>
              <a:rPr lang="en-US" sz="1500" dirty="0">
                <a:solidFill>
                  <a:schemeClr val="tx1"/>
                </a:solidFill>
              </a:rPr>
              <a:t>Agente reativo com estados</a:t>
            </a:r>
            <a:endParaRPr lang="en-US" sz="1500" dirty="0"/>
          </a:p>
        </p:txBody>
      </p:sp>
      <p:sp>
        <p:nvSpPr>
          <p:cNvPr id="12" name="Text 8"/>
          <p:cNvSpPr/>
          <p:nvPr/>
        </p:nvSpPr>
        <p:spPr>
          <a:xfrm>
            <a:off x="5120640" y="2816352"/>
            <a:ext cx="502920" cy="50292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9"/>
          <p:cNvSpPr txBox="1"/>
          <p:nvPr/>
        </p:nvSpPr>
        <p:spPr>
          <a:xfrm>
            <a:off x="5760720" y="2816352"/>
            <a:ext cx="2514600" cy="502920"/>
          </a:xfrm>
          <a:prstGeom prst="rect">
            <a:avLst/>
          </a:prstGeom>
          <a:noFill/>
          <a:ln/>
        </p:spPr>
        <p:txBody>
          <a:bodyPr wrap="square" lIns="0" tIns="0" rIns="0" bIns="0" rtlCol="0" anchor="ctr"/>
          <a:lstStyle/>
          <a:p>
            <a:pPr indent="0" marL="0">
              <a:buNone/>
            </a:pPr>
            <a:r>
              <a:rPr lang="en-US" sz="1500" dirty="0">
                <a:solidFill>
                  <a:schemeClr val="tx1"/>
                </a:solidFill>
              </a:rPr>
              <a:t>Leilão inglês</a:t>
            </a:r>
            <a:endParaRPr lang="en-US" sz="1500" dirty="0"/>
          </a:p>
        </p:txBody>
      </p:sp>
      <p:sp>
        <p:nvSpPr>
          <p:cNvPr id="14" name="Text 10"/>
          <p:cNvSpPr/>
          <p:nvPr/>
        </p:nvSpPr>
        <p:spPr>
          <a:xfrm>
            <a:off x="5120640" y="3621024"/>
            <a:ext cx="502920" cy="50292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1"/>
          <p:cNvSpPr txBox="1"/>
          <p:nvPr/>
        </p:nvSpPr>
        <p:spPr>
          <a:xfrm>
            <a:off x="5760720" y="3621024"/>
            <a:ext cx="2514600" cy="502920"/>
          </a:xfrm>
          <a:prstGeom prst="rect">
            <a:avLst/>
          </a:prstGeom>
          <a:noFill/>
          <a:ln/>
        </p:spPr>
        <p:txBody>
          <a:bodyPr wrap="square" lIns="0" tIns="0" rIns="0" bIns="0" rtlCol="0" anchor="ctr"/>
          <a:lstStyle/>
          <a:p>
            <a:pPr indent="0" marL="0">
              <a:buNone/>
            </a:pPr>
            <a:r>
              <a:rPr lang="en-US" sz="1500" dirty="0">
                <a:solidFill>
                  <a:schemeClr val="tx1"/>
                </a:solidFill>
              </a:rPr>
              <a:t>Sistema de votação</a:t>
            </a:r>
            <a:endParaRPr lang="en-US" sz="1500" dirty="0"/>
          </a:p>
        </p:txBody>
      </p:sp>
      <p:sp>
        <p:nvSpPr>
          <p:cNvPr id="16" name="Text 12"/>
          <p:cNvSpPr/>
          <p:nvPr/>
        </p:nvSpPr>
        <p:spPr>
          <a:xfrm>
            <a:off x="5120640" y="4425696"/>
            <a:ext cx="502920" cy="50292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3"/>
          <p:cNvSpPr txBox="1"/>
          <p:nvPr/>
        </p:nvSpPr>
        <p:spPr>
          <a:xfrm>
            <a:off x="5760720" y="4425696"/>
            <a:ext cx="2514600" cy="502920"/>
          </a:xfrm>
          <a:prstGeom prst="rect">
            <a:avLst/>
          </a:prstGeom>
          <a:noFill/>
          <a:ln/>
        </p:spPr>
        <p:txBody>
          <a:bodyPr wrap="square" lIns="0" tIns="0" rIns="0" bIns="0" rtlCol="0" anchor="ctr"/>
          <a:lstStyle/>
          <a:p>
            <a:pPr indent="0" marL="0">
              <a:buNone/>
            </a:pPr>
            <a:r>
              <a:rPr lang="en-US" sz="1500" dirty="0">
                <a:solidFill>
                  <a:schemeClr val="tx1"/>
                </a:solidFill>
              </a:rPr>
              <a:t>Robôs cooperativos</a:t>
            </a:r>
            <a:endParaRPr lang="en-US" sz="1500" dirty="0"/>
          </a:p>
        </p:txBody>
      </p:sp>
      <p:sp>
        <p:nvSpPr>
          <p:cNvPr id="18" name="Text 14"/>
          <p:cNvSpPr/>
          <p:nvPr/>
        </p:nvSpPr>
        <p:spPr>
          <a:xfrm>
            <a:off x="5120640" y="5230368"/>
            <a:ext cx="502920" cy="50292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9" name="Text 15"/>
          <p:cNvSpPr txBox="1"/>
          <p:nvPr/>
        </p:nvSpPr>
        <p:spPr>
          <a:xfrm>
            <a:off x="5760720" y="5230368"/>
            <a:ext cx="2514600" cy="502920"/>
          </a:xfrm>
          <a:prstGeom prst="rect">
            <a:avLst/>
          </a:prstGeom>
          <a:noFill/>
          <a:ln/>
        </p:spPr>
        <p:txBody>
          <a:bodyPr wrap="square" lIns="0" tIns="0" rIns="0" bIns="0" rtlCol="0" anchor="ctr"/>
          <a:lstStyle/>
          <a:p>
            <a:pPr indent="0" marL="0">
              <a:buNone/>
            </a:pPr>
            <a:r>
              <a:rPr lang="en-US" sz="1500" dirty="0">
                <a:solidFill>
                  <a:schemeClr val="tx1"/>
                </a:solidFill>
              </a:rPr>
              <a:t>Mercado de energia</a:t>
            </a:r>
            <a:endParaRPr lang="en-US" sz="1500" dirty="0"/>
          </a:p>
        </p:txBody>
      </p:sp>
      <p:sp>
        <p:nvSpPr>
          <p:cNvPr id="20" name="Text 16"/>
          <p:cNvSpPr/>
          <p:nvPr/>
        </p:nvSpPr>
        <p:spPr>
          <a:xfrm>
            <a:off x="8458200" y="2011680"/>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1" name="Text 17"/>
          <p:cNvSpPr txBox="1"/>
          <p:nvPr/>
        </p:nvSpPr>
        <p:spPr>
          <a:xfrm>
            <a:off x="9098280" y="2011680"/>
            <a:ext cx="2514600" cy="502920"/>
          </a:xfrm>
          <a:prstGeom prst="rect">
            <a:avLst/>
          </a:prstGeom>
          <a:noFill/>
          <a:ln/>
        </p:spPr>
        <p:txBody>
          <a:bodyPr wrap="square" lIns="0" tIns="0" rIns="0" bIns="0" rtlCol="0" anchor="ctr"/>
          <a:lstStyle/>
          <a:p>
            <a:pPr indent="0" marL="0">
              <a:buNone/>
            </a:pPr>
            <a:r>
              <a:rPr lang="en-US" sz="1500" dirty="0">
                <a:solidFill>
                  <a:schemeClr val="tx1"/>
                </a:solidFill>
              </a:rPr>
              <a:t>Entregador BDI com bateria</a:t>
            </a:r>
            <a:endParaRPr lang="en-US" sz="1500" dirty="0"/>
          </a:p>
        </p:txBody>
      </p:sp>
      <p:sp>
        <p:nvSpPr>
          <p:cNvPr id="22" name="Text 18"/>
          <p:cNvSpPr/>
          <p:nvPr/>
        </p:nvSpPr>
        <p:spPr>
          <a:xfrm>
            <a:off x="8458200" y="2816352"/>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3" name="Text 19"/>
          <p:cNvSpPr txBox="1"/>
          <p:nvPr/>
        </p:nvSpPr>
        <p:spPr>
          <a:xfrm>
            <a:off x="9098280" y="2816352"/>
            <a:ext cx="2514600" cy="502920"/>
          </a:xfrm>
          <a:prstGeom prst="rect">
            <a:avLst/>
          </a:prstGeom>
          <a:noFill/>
          <a:ln/>
        </p:spPr>
        <p:txBody>
          <a:bodyPr wrap="square" lIns="0" tIns="0" rIns="0" bIns="0" rtlCol="0" anchor="ctr"/>
          <a:lstStyle/>
          <a:p>
            <a:pPr indent="0" marL="0">
              <a:buNone/>
            </a:pPr>
            <a:r>
              <a:rPr lang="en-US" sz="1500" dirty="0">
                <a:solidFill>
                  <a:schemeClr val="tx1"/>
                </a:solidFill>
              </a:rPr>
              <a:t>Leilão de anúncios (GSP × VCG)</a:t>
            </a:r>
            <a:endParaRPr lang="en-US" sz="1500" dirty="0"/>
          </a:p>
        </p:txBody>
      </p:sp>
      <p:sp>
        <p:nvSpPr>
          <p:cNvPr id="24" name="Text 20"/>
          <p:cNvSpPr/>
          <p:nvPr/>
        </p:nvSpPr>
        <p:spPr>
          <a:xfrm>
            <a:off x="8458200" y="3621024"/>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5" name="Text 21"/>
          <p:cNvSpPr txBox="1"/>
          <p:nvPr/>
        </p:nvSpPr>
        <p:spPr>
          <a:xfrm>
            <a:off x="9098280" y="3621024"/>
            <a:ext cx="2514600" cy="502920"/>
          </a:xfrm>
          <a:prstGeom prst="rect">
            <a:avLst/>
          </a:prstGeom>
          <a:noFill/>
          <a:ln/>
        </p:spPr>
        <p:txBody>
          <a:bodyPr wrap="square" lIns="0" tIns="0" rIns="0" bIns="0" rtlCol="0" anchor="ctr"/>
          <a:lstStyle/>
          <a:p>
            <a:pPr indent="0" marL="0">
              <a:buNone/>
            </a:pPr>
            <a:r>
              <a:rPr lang="en-US" sz="1500" dirty="0">
                <a:solidFill>
                  <a:schemeClr val="tx1"/>
                </a:solidFill>
              </a:rPr>
              <a:t>Robô de preços responsável</a:t>
            </a:r>
            <a:endParaRPr lang="en-US" sz="1500" dirty="0"/>
          </a:p>
        </p:txBody>
      </p:sp>
      <p:sp>
        <p:nvSpPr>
          <p:cNvPr id="26" name="Text 22"/>
          <p:cNvSpPr/>
          <p:nvPr/>
        </p:nvSpPr>
        <p:spPr>
          <a:xfrm>
            <a:off x="8458200" y="4425696"/>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27" name="Text 23"/>
          <p:cNvSpPr txBox="1"/>
          <p:nvPr/>
        </p:nvSpPr>
        <p:spPr>
          <a:xfrm>
            <a:off x="9098280" y="4425696"/>
            <a:ext cx="2514600" cy="502920"/>
          </a:xfrm>
          <a:prstGeom prst="rect">
            <a:avLst/>
          </a:prstGeom>
          <a:noFill/>
          <a:ln/>
        </p:spPr>
        <p:txBody>
          <a:bodyPr wrap="square" lIns="0" tIns="0" rIns="0" bIns="0" rtlCol="0" anchor="ctr"/>
          <a:lstStyle/>
          <a:p>
            <a:pPr indent="0" marL="0">
              <a:buNone/>
            </a:pPr>
            <a:r>
              <a:rPr lang="en-US" sz="1500" dirty="0">
                <a:solidFill>
                  <a:schemeClr val="tx1"/>
                </a:solidFill>
              </a:rPr>
              <a:t>Atendimento com um LLM real</a:t>
            </a:r>
            <a:endParaRPr lang="en-US" sz="1500" dirty="0"/>
          </a:p>
        </p:txBody>
      </p:sp>
      <p:sp>
        <p:nvSpPr>
          <p:cNvPr id="28" name="Text 24"/>
          <p:cNvSpPr/>
          <p:nvPr/>
        </p:nvSpPr>
        <p:spPr>
          <a:xfrm>
            <a:off x="8458200" y="5230368"/>
            <a:ext cx="502920" cy="5029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29" name="Text 25"/>
          <p:cNvSpPr txBox="1"/>
          <p:nvPr/>
        </p:nvSpPr>
        <p:spPr>
          <a:xfrm>
            <a:off x="9098280" y="5230368"/>
            <a:ext cx="2514600" cy="502920"/>
          </a:xfrm>
          <a:prstGeom prst="rect">
            <a:avLst/>
          </a:prstGeom>
          <a:noFill/>
          <a:ln/>
        </p:spPr>
        <p:txBody>
          <a:bodyPr wrap="square" lIns="0" tIns="0" rIns="0" bIns="0" rtlCol="0" anchor="ctr"/>
          <a:lstStyle/>
          <a:p>
            <a:pPr indent="0" marL="0">
              <a:buNone/>
            </a:pPr>
            <a:r>
              <a:rPr lang="en-US" sz="1500" dirty="0">
                <a:solidFill>
                  <a:schemeClr val="tx1"/>
                </a:solidFill>
              </a:rPr>
              <a:t>Modelagem com Mesa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rPr>
              <a:t>Referências principais</a:t>
            </a:r>
            <a:endParaRPr lang="en-US" sz="3400" dirty="0"/>
          </a:p>
        </p:txBody>
      </p:sp>
      <p:sp>
        <p:nvSpPr>
          <p:cNvPr id="4" name="Text 1"/>
          <p:cNvSpPr txBox="1"/>
          <p:nvPr/>
        </p:nvSpPr>
        <p:spPr>
          <a:xfrm>
            <a:off x="548640" y="1417320"/>
            <a:ext cx="5394960" cy="4434840"/>
          </a:xfrm>
          <a:prstGeom prst="rect">
            <a:avLst/>
          </a:prstGeom>
          <a:noFill/>
          <a:ln/>
        </p:spPr>
        <p:txBody>
          <a:bodyPr wrap="square" lIns="0" tIns="0" rIns="0" bIns="0" rtlCol="0" anchor="t"/>
          <a:lstStyle/>
          <a:p>
            <a:pPr indent="0" marL="0">
              <a:spcAft>
                <a:spcPts val="700"/>
              </a:spcAft>
              <a:buNone/>
            </a:pPr>
            <a:r>
              <a:rPr lang="en-US" sz="1200" dirty="0">
                <a:solidFill>
                  <a:schemeClr val="tx1"/>
                </a:solidFill>
              </a:rPr>
              <a:t>WOOLDRIDGE, M. An Introduction to MultiAgent Systems. 2. ed. Wiley, 2009.</a:t>
            </a:r>
            <a:endParaRPr lang="en-US" sz="1200" dirty="0"/>
          </a:p>
          <a:p>
            <a:pPr indent="0" marL="0">
              <a:spcAft>
                <a:spcPts val="700"/>
              </a:spcAft>
              <a:buNone/>
            </a:pPr>
            <a:r>
              <a:rPr lang="en-US" sz="1200" dirty="0">
                <a:solidFill>
                  <a:schemeClr val="tx1"/>
                </a:solidFill>
              </a:rPr>
              <a:t>RUSSELL, S.; NORVIG, P. Artificial Intelligence: A Modern Approach. 4. ed. Pearson, 2020.</a:t>
            </a:r>
            <a:endParaRPr lang="en-US" sz="1200" dirty="0"/>
          </a:p>
          <a:p>
            <a:pPr indent="0" marL="0">
              <a:spcAft>
                <a:spcPts val="700"/>
              </a:spcAft>
              <a:buNone/>
            </a:pPr>
            <a:r>
              <a:rPr lang="en-US" sz="1200" dirty="0">
                <a:solidFill>
                  <a:schemeClr val="tx1"/>
                </a:solidFill>
              </a:rPr>
              <a:t>SHOHAM, Y.; LEYTON-BROWN, K. Multiagent Systems. Cambridge University Press, 2009.</a:t>
            </a:r>
            <a:endParaRPr lang="en-US" sz="1200" dirty="0"/>
          </a:p>
          <a:p>
            <a:pPr indent="0" marL="0">
              <a:spcAft>
                <a:spcPts val="700"/>
              </a:spcAft>
              <a:buNone/>
            </a:pPr>
            <a:r>
              <a:rPr lang="en-US" sz="1200" dirty="0">
                <a:solidFill>
                  <a:schemeClr val="tx1"/>
                </a:solidFill>
              </a:rPr>
              <a:t>WOOLDRIDGE, M.; JENNINGS, N. R. Intelligent agents: theory and practice. Knowledge Engineering Review, 1995.</a:t>
            </a:r>
            <a:endParaRPr lang="en-US" sz="1200" dirty="0"/>
          </a:p>
          <a:p>
            <a:pPr indent="0" marL="0">
              <a:spcAft>
                <a:spcPts val="700"/>
              </a:spcAft>
              <a:buNone/>
            </a:pPr>
            <a:r>
              <a:rPr lang="en-US" sz="1200" dirty="0">
                <a:solidFill>
                  <a:schemeClr val="tx1"/>
                </a:solidFill>
              </a:rPr>
              <a:t>BROOKS, R. A. A robust layered control system for a mobile robot. IEEE J. Robotics and Automation, 1986.</a:t>
            </a:r>
            <a:endParaRPr lang="en-US" sz="1200" dirty="0"/>
          </a:p>
          <a:p>
            <a:pPr indent="0" marL="0">
              <a:spcAft>
                <a:spcPts val="700"/>
              </a:spcAft>
              <a:buNone/>
            </a:pPr>
            <a:r>
              <a:rPr lang="en-US" sz="1200" dirty="0">
                <a:solidFill>
                  <a:schemeClr val="tx1"/>
                </a:solidFill>
              </a:rPr>
              <a:t>RAO, A. S.; GEORGEFF, M. P. BDI agents: from theory to practice. ICMAS, 1995.</a:t>
            </a:r>
            <a:endParaRPr lang="en-US" sz="1200" dirty="0"/>
          </a:p>
          <a:p>
            <a:pPr indent="0" marL="0">
              <a:spcAft>
                <a:spcPts val="700"/>
              </a:spcAft>
              <a:buNone/>
            </a:pPr>
            <a:r>
              <a:rPr lang="en-US" sz="1200" dirty="0">
                <a:solidFill>
                  <a:schemeClr val="tx1"/>
                </a:solidFill>
              </a:rPr>
              <a:t>KINNY, D.; GEORGEFF, M. P. Commitment and effectiveness of situated agents. IJCAI, 1991.</a:t>
            </a:r>
            <a:endParaRPr lang="en-US" sz="1200" dirty="0"/>
          </a:p>
          <a:p>
            <a:pPr indent="0" marL="0">
              <a:spcAft>
                <a:spcPts val="700"/>
              </a:spcAft>
              <a:buNone/>
            </a:pPr>
            <a:r>
              <a:rPr lang="en-US" sz="1200" dirty="0">
                <a:solidFill>
                  <a:schemeClr val="tx1"/>
                </a:solidFill>
              </a:rPr>
              <a:t>SMITH, R. G. The contract net protocol. IEEE Transactions on Computers, 1980.</a:t>
            </a:r>
            <a:endParaRPr lang="en-US" sz="1200" dirty="0"/>
          </a:p>
          <a:p>
            <a:pPr indent="0" marL="0">
              <a:spcAft>
                <a:spcPts val="700"/>
              </a:spcAft>
              <a:buNone/>
            </a:pPr>
            <a:r>
              <a:rPr lang="en-US" sz="1200" dirty="0">
                <a:solidFill>
                  <a:schemeClr val="tx1"/>
                </a:solidFill>
              </a:rPr>
              <a:t>SANDHOLM, T. Contract net based on marginal cost calculations. AAAI, 1993.</a:t>
            </a:r>
            <a:endParaRPr lang="en-US" sz="1200" dirty="0"/>
          </a:p>
        </p:txBody>
      </p:sp>
      <p:sp>
        <p:nvSpPr>
          <p:cNvPr id="5" name="Text 2"/>
          <p:cNvSpPr txBox="1"/>
          <p:nvPr/>
        </p:nvSpPr>
        <p:spPr>
          <a:xfrm>
            <a:off x="6217920" y="1417320"/>
            <a:ext cx="5394960" cy="4434840"/>
          </a:xfrm>
          <a:prstGeom prst="rect">
            <a:avLst/>
          </a:prstGeom>
          <a:noFill/>
          <a:ln/>
        </p:spPr>
        <p:txBody>
          <a:bodyPr wrap="square" lIns="0" tIns="0" rIns="0" bIns="0" rtlCol="0" anchor="t"/>
          <a:lstStyle/>
          <a:p>
            <a:pPr indent="0" marL="0">
              <a:spcAft>
                <a:spcPts val="700"/>
              </a:spcAft>
              <a:buNone/>
            </a:pPr>
            <a:r>
              <a:rPr lang="en-US" sz="1200" dirty="0">
                <a:solidFill>
                  <a:schemeClr val="tx1"/>
                </a:solidFill>
              </a:rPr>
              <a:t>VICKREY, W. Counterspeculation, auctions, and competitive sealed tenders. Journal of Finance, 1961.</a:t>
            </a:r>
            <a:endParaRPr lang="en-US" sz="1200" dirty="0"/>
          </a:p>
          <a:p>
            <a:pPr indent="0" marL="0">
              <a:spcAft>
                <a:spcPts val="700"/>
              </a:spcAft>
              <a:buNone/>
            </a:pPr>
            <a:r>
              <a:rPr lang="en-US" sz="1200" dirty="0">
                <a:solidFill>
                  <a:schemeClr val="tx1"/>
                </a:solidFill>
              </a:rPr>
              <a:t>AXELROD, R. The Evolution of Cooperation. Basic Books, 1984.</a:t>
            </a:r>
            <a:endParaRPr lang="en-US" sz="1200" dirty="0"/>
          </a:p>
          <a:p>
            <a:pPr indent="0" marL="0">
              <a:spcAft>
                <a:spcPts val="700"/>
              </a:spcAft>
              <a:buNone/>
            </a:pPr>
            <a:r>
              <a:rPr lang="en-US" sz="1200" dirty="0">
                <a:solidFill>
                  <a:schemeClr val="tx1"/>
                </a:solidFill>
              </a:rPr>
              <a:t>OSTROM, E. Governing the Commons. Cambridge University Press, 1990.</a:t>
            </a:r>
            <a:endParaRPr lang="en-US" sz="1200" dirty="0"/>
          </a:p>
          <a:p>
            <a:pPr indent="0" marL="0">
              <a:spcAft>
                <a:spcPts val="700"/>
              </a:spcAft>
              <a:buNone/>
            </a:pPr>
            <a:r>
              <a:rPr lang="en-US" sz="1200" dirty="0">
                <a:solidFill>
                  <a:schemeClr val="tx1"/>
                </a:solidFill>
              </a:rPr>
              <a:t>REYNOLDS, C. W. Flocks, herds and schools: a distributed behavioral model. SIGGRAPH, 1987.</a:t>
            </a:r>
            <a:endParaRPr lang="en-US" sz="1200" dirty="0"/>
          </a:p>
          <a:p>
            <a:pPr indent="0" marL="0">
              <a:spcAft>
                <a:spcPts val="700"/>
              </a:spcAft>
              <a:buNone/>
            </a:pPr>
            <a:r>
              <a:rPr lang="en-US" sz="1200" dirty="0">
                <a:solidFill>
                  <a:schemeClr val="tx1"/>
                </a:solidFill>
              </a:rPr>
              <a:t>SCHELLING, T. C. Dynamic models of segregation. Journal of Mathematical Sociology, 1971.</a:t>
            </a:r>
            <a:endParaRPr lang="en-US" sz="1200" dirty="0"/>
          </a:p>
          <a:p>
            <a:pPr indent="0" marL="0">
              <a:spcAft>
                <a:spcPts val="700"/>
              </a:spcAft>
              <a:buNone/>
            </a:pPr>
            <a:r>
              <a:rPr lang="en-US" sz="1200" dirty="0">
                <a:solidFill>
                  <a:schemeClr val="tx1"/>
                </a:solidFill>
              </a:rPr>
              <a:t>CALVANO, E. et al. AI, algorithmic pricing, and collusion. American Economic Review, 2020.</a:t>
            </a:r>
            <a:endParaRPr lang="en-US" sz="1200" dirty="0"/>
          </a:p>
          <a:p>
            <a:pPr indent="0" marL="0">
              <a:spcAft>
                <a:spcPts val="700"/>
              </a:spcAft>
              <a:buNone/>
            </a:pPr>
            <a:r>
              <a:rPr lang="en-US" sz="1200" dirty="0">
                <a:solidFill>
                  <a:schemeClr val="tx1"/>
                </a:solidFill>
              </a:rPr>
              <a:t>PARK, J. S. et al. Generative agents: interactive simulacra of human behavior. UIST, 2023.</a:t>
            </a:r>
            <a:endParaRPr lang="en-US" sz="1200" dirty="0"/>
          </a:p>
          <a:p>
            <a:pPr indent="0" marL="0">
              <a:spcAft>
                <a:spcPts val="700"/>
              </a:spcAft>
              <a:buNone/>
            </a:pPr>
            <a:r>
              <a:rPr lang="en-US" sz="1200" dirty="0">
                <a:solidFill>
                  <a:schemeClr val="tx1"/>
                </a:solidFill>
              </a:rPr>
              <a:t>YAO, S. et al. ReAct: synergizing reasoning and acting in language models. ICLR, 2023.</a:t>
            </a:r>
            <a:endParaRPr lang="en-US" sz="1200" dirty="0"/>
          </a:p>
          <a:p>
            <a:pPr indent="0" marL="0">
              <a:spcAft>
                <a:spcPts val="700"/>
              </a:spcAft>
              <a:buNone/>
            </a:pPr>
            <a:r>
              <a:rPr lang="en-US" sz="1200" dirty="0">
                <a:solidFill>
                  <a:schemeClr val="tx1"/>
                </a:solidFill>
              </a:rPr>
              <a:t>CEMRI, M. et al. Why do multi-agent LLM systems fail? arXiv:2503.13657, 2025.</a:t>
            </a:r>
            <a:endParaRPr lang="en-US" sz="1200" dirty="0"/>
          </a:p>
        </p:txBody>
      </p:sp>
      <p:sp>
        <p:nvSpPr>
          <p:cNvPr id="6" name="Text 3"/>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Lista completa (mais de 100 referências, por tema): notebook, Seção 15.</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sld>
</file>

<file path=ppt/theme/theme1.xml><?xml version="1.0" encoding="utf-8"?>
<a:theme xmlns:a="http://schemas.openxmlformats.org/drawingml/2006/main" name="Aula 10 SMA">
  <a:themeElements>
    <a:clrScheme name="Aula 10 SMA">
      <a:dk1>
        <a:srgbClr val="1F2933"/>
      </a:dk1>
      <a:lt1>
        <a:srgbClr val="FFFFFF"/>
      </a:lt1>
      <a:dk2>
        <a:srgbClr val="14213D"/>
      </a:dk2>
      <a:lt2>
        <a:srgbClr val="EEF2F6"/>
      </a:lt2>
      <a:accent1>
        <a:srgbClr val="E76F51"/>
      </a:accent1>
      <a:accent2>
        <a:srgbClr val="2A9D8F"/>
      </a:accent2>
      <a:accent3>
        <a:srgbClr val="E9C46A"/>
      </a:accent3>
      <a:accent4>
        <a:srgbClr val="264653"/>
      </a:accent4>
      <a:accent5>
        <a:srgbClr val="8E7DBE"/>
      </a:accent5>
      <a:accent6>
        <a:srgbClr val="6B7785"/>
      </a:accent6>
      <a:hlink>
        <a:srgbClr val="2A9D8F"/>
      </a:hlink>
      <a:folHlink>
        <a:srgbClr val="264653"/>
      </a:folHlink>
    </a:clrScheme>
    <a:fontScheme name="Aula 10 S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10 - Sistemas Multiagentes</dc:title>
  <dc:subject>Inteligência Artificial - Ciência da Computação</dc:subject>
  <dc:creator>Luis Caparroz</dc:creator>
  <cp:lastModifiedBy>Luis Caparroz</cp:lastModifiedBy>
  <cp:revision>1</cp:revision>
  <dcterms:created xsi:type="dcterms:W3CDTF">2026-10-28T22:36:47Z</dcterms:created>
  <dcterms:modified xsi:type="dcterms:W3CDTF">2026-10-28T22:36:47Z</dcterms:modified>
</cp:coreProperties>
</file>